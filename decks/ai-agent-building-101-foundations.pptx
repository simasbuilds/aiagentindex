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D42"/>
        </a:solidFill>
      </p:bgPr>
    </p:bg>
    <p:spTree>
      <p:nvGrpSpPr>
        <p:cNvPr id="1" name=""/>
        <p:cNvGrpSpPr/>
        <p:nvPr/>
      </p:nvGrpSpPr>
      <p:grpSpPr>
        <a:xfrm>
          <a:off x="0" y="0"/>
          <a:ext cx="0" cy="0"/>
          <a:chOff x="0" y="0"/>
          <a:chExt cx="0" cy="0"/>
        </a:xfrm>
      </p:grpSpPr>
      <p:sp>
        <p:nvSpPr>
          <p:cNvPr id="2" name="Shape 0"/>
          <p:cNvSpPr/>
          <p:nvPr/>
        </p:nvSpPr>
        <p:spPr>
          <a:xfrm>
            <a:off x="6675120" y="-1463040"/>
            <a:ext cx="3840480" cy="3840480"/>
          </a:xfrm>
          <a:prstGeom prst="ellipse">
            <a:avLst/>
          </a:prstGeom>
          <a:solidFill>
            <a:srgbClr val="D90429">
              <a:alpha val="15000"/>
            </a:srgbClr>
          </a:solidFill>
          <a:ln/>
        </p:spPr>
      </p:sp>
      <p:sp>
        <p:nvSpPr>
          <p:cNvPr id="3" name="Shape 1"/>
          <p:cNvSpPr/>
          <p:nvPr/>
        </p:nvSpPr>
        <p:spPr>
          <a:xfrm>
            <a:off x="-1280160" y="3474720"/>
            <a:ext cx="2926080" cy="2926080"/>
          </a:xfrm>
          <a:prstGeom prst="ellipse">
            <a:avLst/>
          </a:prstGeom>
          <a:solidFill>
            <a:srgbClr val="EF233C">
              <a:alpha val="15000"/>
            </a:srgbClr>
          </a:solidFill>
          <a:ln/>
        </p:spPr>
      </p:sp>
      <p:sp>
        <p:nvSpPr>
          <p:cNvPr id="4" name="Shape 2"/>
          <p:cNvSpPr/>
          <p:nvPr/>
        </p:nvSpPr>
        <p:spPr>
          <a:xfrm>
            <a:off x="0" y="4937760"/>
            <a:ext cx="9144000" cy="205740"/>
          </a:xfrm>
          <a:prstGeom prst="rect">
            <a:avLst/>
          </a:prstGeom>
          <a:solidFill>
            <a:srgbClr val="8D99AE">
              <a:alpha val="25000"/>
            </a:srgbClr>
          </a:solidFill>
          <a:ln/>
        </p:spPr>
      </p:sp>
      <p:sp>
        <p:nvSpPr>
          <p:cNvPr id="5" name="Text 3"/>
          <p:cNvSpPr/>
          <p:nvPr/>
        </p:nvSpPr>
        <p:spPr>
          <a:xfrm>
            <a:off x="457200" y="1783080"/>
            <a:ext cx="8229600" cy="1188720"/>
          </a:xfrm>
          <a:prstGeom prst="rect">
            <a:avLst/>
          </a:prstGeom>
          <a:noFill/>
          <a:ln/>
        </p:spPr>
        <p:txBody>
          <a:bodyPr wrap="square" rtlCol="0" anchor="ctr">
            <a:normAutofit/>
          </a:bodyPr>
          <a:lstStyle/>
          <a:p>
            <a:pPr algn="ctr" indent="0" marL="0">
              <a:buNone/>
            </a:pPr>
            <a:r>
              <a:rPr lang="en-US" sz="6000" b="1" dirty="0">
                <a:solidFill>
                  <a:srgbClr val="FFFFFF"/>
                </a:solidFill>
                <a:latin typeface="Cambria" pitchFamily="34" charset="0"/>
                <a:ea typeface="Cambria" pitchFamily="34" charset="-122"/>
                <a:cs typeface="Cambria" pitchFamily="34" charset="-120"/>
              </a:rPr>
              <a:t>AI Agent Building 101</a:t>
            </a:r>
            <a:endParaRPr lang="en-US" sz="6000" dirty="0"/>
          </a:p>
        </p:txBody>
      </p:sp>
      <p:sp>
        <p:nvSpPr>
          <p:cNvPr id="6" name="Text 4"/>
          <p:cNvSpPr/>
          <p:nvPr/>
        </p:nvSpPr>
        <p:spPr>
          <a:xfrm>
            <a:off x="457200" y="3017520"/>
            <a:ext cx="8229600" cy="548640"/>
          </a:xfrm>
          <a:prstGeom prst="rect">
            <a:avLst/>
          </a:prstGeom>
          <a:noFill/>
          <a:ln/>
        </p:spPr>
        <p:txBody>
          <a:bodyPr wrap="square" rtlCol="0" anchor="ctr"/>
          <a:lstStyle/>
          <a:p>
            <a:pPr algn="ctr" indent="0" marL="0">
              <a:buNone/>
            </a:pPr>
            <a:r>
              <a:rPr lang="en-US" sz="2200" dirty="0">
                <a:solidFill>
                  <a:srgbClr val="EF233C"/>
                </a:solidFill>
                <a:latin typeface="Calibri" pitchFamily="34" charset="0"/>
                <a:ea typeface="Calibri" pitchFamily="34" charset="-122"/>
                <a:cs typeface="Calibri" pitchFamily="34" charset="-120"/>
              </a:rPr>
              <a:t>From Concept to Working Prototype</a:t>
            </a:r>
            <a:endParaRPr lang="en-US" sz="2200" dirty="0"/>
          </a:p>
        </p:txBody>
      </p:sp>
      <p:sp>
        <p:nvSpPr>
          <p:cNvPr id="7" name="Text 5"/>
          <p:cNvSpPr/>
          <p:nvPr/>
        </p:nvSpPr>
        <p:spPr>
          <a:xfrm>
            <a:off x="457200" y="4434840"/>
            <a:ext cx="8229600" cy="365760"/>
          </a:xfrm>
          <a:prstGeom prst="rect">
            <a:avLst/>
          </a:prstGeom>
          <a:noFill/>
          <a:ln/>
        </p:spPr>
        <p:txBody>
          <a:bodyPr wrap="square" rtlCol="0" anchor="ctr"/>
          <a:lstStyle/>
          <a:p>
            <a:pPr algn="ctr" indent="0" marL="0">
              <a:buNone/>
            </a:pPr>
            <a:r>
              <a:rPr lang="en-US" sz="1300" dirty="0">
                <a:solidFill>
                  <a:srgbClr val="8D99AE"/>
                </a:solidFill>
                <a:latin typeface="Calibri" pitchFamily="34" charset="0"/>
                <a:ea typeface="Calibri" pitchFamily="34" charset="-122"/>
                <a:cs typeface="Calibri" pitchFamily="34" charset="-120"/>
              </a:rPr>
              <a:t>Simas Bandzevicius, CSPO®, CSM  |  Suncoast PMI Chapter  |  July 14,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65760"/>
            <a:ext cx="8412480" cy="685800"/>
          </a:xfrm>
          <a:prstGeom prst="rect">
            <a:avLst/>
          </a:prstGeom>
          <a:noFill/>
          <a:ln/>
        </p:spPr>
        <p:txBody>
          <a:bodyPr wrap="square" rtlCol="0" anchor="ctr"/>
          <a:lstStyle/>
          <a:p>
            <a:pPr algn="l" indent="0" marL="0">
              <a:buNone/>
            </a:pPr>
            <a:r>
              <a:rPr lang="en-US" sz="3800" b="1" dirty="0">
                <a:solidFill>
                  <a:srgbClr val="2B2D42"/>
                </a:solidFill>
                <a:latin typeface="Cambria" pitchFamily="34" charset="0"/>
                <a:ea typeface="Cambria" pitchFamily="34" charset="-122"/>
                <a:cs typeface="Cambria" pitchFamily="34" charset="-120"/>
              </a:rPr>
              <a:t>What We'll Cover</a:t>
            </a:r>
            <a:endParaRPr lang="en-US" sz="3800" dirty="0"/>
          </a:p>
        </p:txBody>
      </p:sp>
      <p:sp>
        <p:nvSpPr>
          <p:cNvPr id="3" name="Shape 1"/>
          <p:cNvSpPr/>
          <p:nvPr/>
        </p:nvSpPr>
        <p:spPr>
          <a:xfrm>
            <a:off x="365760" y="1188720"/>
            <a:ext cx="8412480" cy="3611880"/>
          </a:xfrm>
          <a:prstGeom prst="roundRect">
            <a:avLst>
              <a:gd name="adj" fmla="val 3038"/>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685800" y="1417320"/>
            <a:ext cx="457200" cy="457200"/>
          </a:xfrm>
          <a:prstGeom prst="ellipse">
            <a:avLst/>
          </a:prstGeom>
          <a:solidFill>
            <a:srgbClr val="D90429"/>
          </a:solidFill>
          <a:ln/>
        </p:spPr>
      </p:sp>
      <p:sp>
        <p:nvSpPr>
          <p:cNvPr id="5" name="Text 3"/>
          <p:cNvSpPr/>
          <p:nvPr/>
        </p:nvSpPr>
        <p:spPr>
          <a:xfrm>
            <a:off x="685800" y="141732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325880" y="1417320"/>
            <a:ext cx="7223760" cy="457200"/>
          </a:xfrm>
          <a:prstGeom prst="rect">
            <a:avLst/>
          </a:prstGeom>
          <a:noFill/>
          <a:ln/>
        </p:spPr>
        <p:txBody>
          <a:bodyPr wrap="square" rtlCol="0" anchor="ctr"/>
          <a:lstStyle/>
          <a:p>
            <a:pPr algn="l" indent="0" marL="0">
              <a:buNone/>
            </a:pPr>
            <a:r>
              <a:rPr lang="en-US" sz="1900" b="1" dirty="0">
                <a:solidFill>
                  <a:srgbClr val="2B2D42"/>
                </a:solidFill>
                <a:latin typeface="Cambria" pitchFamily="34" charset="0"/>
                <a:ea typeface="Cambria" pitchFamily="34" charset="-122"/>
                <a:cs typeface="Cambria" pitchFamily="34" charset="-120"/>
              </a:rPr>
              <a:t>Why AI Agents Matter</a:t>
            </a:r>
            <a:endParaRPr lang="en-US" sz="1900" dirty="0"/>
          </a:p>
        </p:txBody>
      </p:sp>
      <p:sp>
        <p:nvSpPr>
          <p:cNvPr id="7" name="Shape 5"/>
          <p:cNvSpPr/>
          <p:nvPr/>
        </p:nvSpPr>
        <p:spPr>
          <a:xfrm>
            <a:off x="685800" y="2002536"/>
            <a:ext cx="457200" cy="457200"/>
          </a:xfrm>
          <a:prstGeom prst="ellipse">
            <a:avLst/>
          </a:prstGeom>
          <a:solidFill>
            <a:srgbClr val="D90429"/>
          </a:solidFill>
          <a:ln/>
        </p:spPr>
      </p:sp>
      <p:sp>
        <p:nvSpPr>
          <p:cNvPr id="8" name="Text 6"/>
          <p:cNvSpPr/>
          <p:nvPr/>
        </p:nvSpPr>
        <p:spPr>
          <a:xfrm>
            <a:off x="685800" y="2002536"/>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325880" y="2002536"/>
            <a:ext cx="7223760" cy="457200"/>
          </a:xfrm>
          <a:prstGeom prst="rect">
            <a:avLst/>
          </a:prstGeom>
          <a:noFill/>
          <a:ln/>
        </p:spPr>
        <p:txBody>
          <a:bodyPr wrap="square" rtlCol="0" anchor="ctr"/>
          <a:lstStyle/>
          <a:p>
            <a:pPr algn="l" indent="0" marL="0">
              <a:buNone/>
            </a:pPr>
            <a:r>
              <a:rPr lang="en-US" sz="1900" b="1" dirty="0">
                <a:solidFill>
                  <a:srgbClr val="2B2D42"/>
                </a:solidFill>
                <a:latin typeface="Cambria" pitchFamily="34" charset="0"/>
                <a:ea typeface="Cambria" pitchFamily="34" charset="-122"/>
                <a:cs typeface="Cambria" pitchFamily="34" charset="-120"/>
              </a:rPr>
              <a:t>How AI Actually Works (LLMs)</a:t>
            </a:r>
            <a:endParaRPr lang="en-US" sz="1900" dirty="0"/>
          </a:p>
        </p:txBody>
      </p:sp>
      <p:sp>
        <p:nvSpPr>
          <p:cNvPr id="10" name="Shape 8"/>
          <p:cNvSpPr/>
          <p:nvPr/>
        </p:nvSpPr>
        <p:spPr>
          <a:xfrm>
            <a:off x="685800" y="2587752"/>
            <a:ext cx="457200" cy="457200"/>
          </a:xfrm>
          <a:prstGeom prst="ellipse">
            <a:avLst/>
          </a:prstGeom>
          <a:solidFill>
            <a:srgbClr val="D90429"/>
          </a:solidFill>
          <a:ln/>
        </p:spPr>
      </p:sp>
      <p:sp>
        <p:nvSpPr>
          <p:cNvPr id="11" name="Text 9"/>
          <p:cNvSpPr/>
          <p:nvPr/>
        </p:nvSpPr>
        <p:spPr>
          <a:xfrm>
            <a:off x="685800" y="2587752"/>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325880" y="2587752"/>
            <a:ext cx="7223760" cy="457200"/>
          </a:xfrm>
          <a:prstGeom prst="rect">
            <a:avLst/>
          </a:prstGeom>
          <a:noFill/>
          <a:ln/>
        </p:spPr>
        <p:txBody>
          <a:bodyPr wrap="square" rtlCol="0" anchor="ctr"/>
          <a:lstStyle/>
          <a:p>
            <a:pPr algn="l" indent="0" marL="0">
              <a:buNone/>
            </a:pPr>
            <a:r>
              <a:rPr lang="en-US" sz="1900" b="1" dirty="0">
                <a:solidFill>
                  <a:srgbClr val="2B2D42"/>
                </a:solidFill>
                <a:latin typeface="Cambria" pitchFamily="34" charset="0"/>
                <a:ea typeface="Cambria" pitchFamily="34" charset="-122"/>
                <a:cs typeface="Cambria" pitchFamily="34" charset="-120"/>
              </a:rPr>
              <a:t>APIs, MCP &amp; Connectors</a:t>
            </a:r>
            <a:endParaRPr lang="en-US" sz="1900" dirty="0"/>
          </a:p>
        </p:txBody>
      </p:sp>
      <p:sp>
        <p:nvSpPr>
          <p:cNvPr id="13" name="Shape 11"/>
          <p:cNvSpPr/>
          <p:nvPr/>
        </p:nvSpPr>
        <p:spPr>
          <a:xfrm>
            <a:off x="685800" y="3172968"/>
            <a:ext cx="457200" cy="457200"/>
          </a:xfrm>
          <a:prstGeom prst="ellipse">
            <a:avLst/>
          </a:prstGeom>
          <a:solidFill>
            <a:srgbClr val="D90429"/>
          </a:solidFill>
          <a:ln/>
        </p:spPr>
      </p:sp>
      <p:sp>
        <p:nvSpPr>
          <p:cNvPr id="14" name="Text 12"/>
          <p:cNvSpPr/>
          <p:nvPr/>
        </p:nvSpPr>
        <p:spPr>
          <a:xfrm>
            <a:off x="685800" y="3172968"/>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1325880" y="3172968"/>
            <a:ext cx="7223760" cy="457200"/>
          </a:xfrm>
          <a:prstGeom prst="rect">
            <a:avLst/>
          </a:prstGeom>
          <a:noFill/>
          <a:ln/>
        </p:spPr>
        <p:txBody>
          <a:bodyPr wrap="square" rtlCol="0" anchor="ctr"/>
          <a:lstStyle/>
          <a:p>
            <a:pPr algn="l" indent="0" marL="0">
              <a:buNone/>
            </a:pPr>
            <a:r>
              <a:rPr lang="en-US" sz="1900" b="1" dirty="0">
                <a:solidFill>
                  <a:srgbClr val="2B2D42"/>
                </a:solidFill>
                <a:latin typeface="Cambria" pitchFamily="34" charset="0"/>
                <a:ea typeface="Cambria" pitchFamily="34" charset="-122"/>
                <a:cs typeface="Cambria" pitchFamily="34" charset="-120"/>
              </a:rPr>
              <a:t>What Are AI Agents?</a:t>
            </a:r>
            <a:endParaRPr lang="en-US" sz="1900" dirty="0"/>
          </a:p>
        </p:txBody>
      </p:sp>
      <p:sp>
        <p:nvSpPr>
          <p:cNvPr id="16" name="Shape 14"/>
          <p:cNvSpPr/>
          <p:nvPr/>
        </p:nvSpPr>
        <p:spPr>
          <a:xfrm>
            <a:off x="685800" y="3758184"/>
            <a:ext cx="457200" cy="457200"/>
          </a:xfrm>
          <a:prstGeom prst="ellipse">
            <a:avLst/>
          </a:prstGeom>
          <a:solidFill>
            <a:srgbClr val="D90429"/>
          </a:solidFill>
          <a:ln/>
        </p:spPr>
      </p:sp>
      <p:sp>
        <p:nvSpPr>
          <p:cNvPr id="17" name="Text 15"/>
          <p:cNvSpPr/>
          <p:nvPr/>
        </p:nvSpPr>
        <p:spPr>
          <a:xfrm>
            <a:off x="685800" y="3758184"/>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18" name="Text 16"/>
          <p:cNvSpPr/>
          <p:nvPr/>
        </p:nvSpPr>
        <p:spPr>
          <a:xfrm>
            <a:off x="1325880" y="3758184"/>
            <a:ext cx="7223760" cy="457200"/>
          </a:xfrm>
          <a:prstGeom prst="rect">
            <a:avLst/>
          </a:prstGeom>
          <a:noFill/>
          <a:ln/>
        </p:spPr>
        <p:txBody>
          <a:bodyPr wrap="square" rtlCol="0" anchor="ctr"/>
          <a:lstStyle/>
          <a:p>
            <a:pPr algn="l" indent="0" marL="0">
              <a:buNone/>
            </a:pPr>
            <a:r>
              <a:rPr lang="en-US" sz="1900" b="1" dirty="0">
                <a:solidFill>
                  <a:srgbClr val="2B2D42"/>
                </a:solidFill>
                <a:latin typeface="Cambria" pitchFamily="34" charset="0"/>
                <a:ea typeface="Cambria" pitchFamily="34" charset="-122"/>
                <a:cs typeface="Cambria" pitchFamily="34" charset="-120"/>
              </a:rPr>
              <a:t>Context, Tokens &amp; Claude Code</a:t>
            </a:r>
            <a:endParaRPr lang="en-US" sz="1900" dirty="0"/>
          </a:p>
        </p:txBody>
      </p:sp>
      <p:sp>
        <p:nvSpPr>
          <p:cNvPr id="19" name="Shape 17"/>
          <p:cNvSpPr/>
          <p:nvPr/>
        </p:nvSpPr>
        <p:spPr>
          <a:xfrm>
            <a:off x="8503920" y="4663440"/>
            <a:ext cx="365760" cy="365760"/>
          </a:xfrm>
          <a:prstGeom prst="ellipse">
            <a:avLst/>
          </a:prstGeom>
          <a:solidFill>
            <a:srgbClr val="D90429"/>
          </a:solidFill>
          <a:ln/>
        </p:spPr>
      </p:sp>
      <p:sp>
        <p:nvSpPr>
          <p:cNvPr id="20" name="Text 18"/>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F2F4"/>
        </a:solidFill>
      </p:bgPr>
    </p:bg>
    <p:spTree>
      <p:nvGrpSpPr>
        <p:cNvPr id="1" name=""/>
        <p:cNvGrpSpPr/>
        <p:nvPr/>
      </p:nvGrpSpPr>
      <p:grpSpPr>
        <a:xfrm>
          <a:off x="0" y="0"/>
          <a:ext cx="0" cy="0"/>
          <a:chOff x="0" y="0"/>
          <a:chExt cx="0" cy="0"/>
        </a:xfrm>
      </p:grpSpPr>
      <p:sp>
        <p:nvSpPr>
          <p:cNvPr id="2" name="Shape 0"/>
          <p:cNvSpPr/>
          <p:nvPr/>
        </p:nvSpPr>
        <p:spPr>
          <a:xfrm>
            <a:off x="7406640" y="-1005840"/>
            <a:ext cx="2377440" cy="2377440"/>
          </a:xfrm>
          <a:prstGeom prst="ellipse">
            <a:avLst/>
          </a:prstGeom>
          <a:solidFill>
            <a:srgbClr val="8D99AE">
              <a:alpha val="12000"/>
            </a:srgbClr>
          </a:solidFill>
          <a:ln/>
        </p:spPr>
      </p:sp>
      <p:sp>
        <p:nvSpPr>
          <p:cNvPr id="3" name="Text 1"/>
          <p:cNvSpPr/>
          <p:nvPr/>
        </p:nvSpPr>
        <p:spPr>
          <a:xfrm>
            <a:off x="365760" y="365760"/>
            <a:ext cx="8412480" cy="685800"/>
          </a:xfrm>
          <a:prstGeom prst="rect">
            <a:avLst/>
          </a:prstGeom>
          <a:noFill/>
          <a:ln/>
        </p:spPr>
        <p:txBody>
          <a:bodyPr wrap="square" rtlCol="0" anchor="ctr"/>
          <a:lstStyle/>
          <a:p>
            <a:pPr algn="l" indent="0" marL="0">
              <a:buNone/>
            </a:pPr>
            <a:r>
              <a:rPr lang="en-US" sz="3800" b="1" dirty="0">
                <a:solidFill>
                  <a:srgbClr val="2B2D42"/>
                </a:solidFill>
                <a:latin typeface="Cambria" pitchFamily="34" charset="0"/>
                <a:ea typeface="Cambria" pitchFamily="34" charset="-122"/>
                <a:cs typeface="Cambria" pitchFamily="34" charset="-120"/>
              </a:rPr>
              <a:t>About Me</a:t>
            </a:r>
            <a:endParaRPr lang="en-US" sz="3800" dirty="0"/>
          </a:p>
        </p:txBody>
      </p:sp>
      <p:sp>
        <p:nvSpPr>
          <p:cNvPr id="4" name="Shape 2"/>
          <p:cNvSpPr/>
          <p:nvPr/>
        </p:nvSpPr>
        <p:spPr>
          <a:xfrm>
            <a:off x="548640" y="1234440"/>
            <a:ext cx="502920" cy="502920"/>
          </a:xfrm>
          <a:prstGeom prst="ellipse">
            <a:avLst/>
          </a:prstGeom>
          <a:solidFill>
            <a:srgbClr val="D90429"/>
          </a:solidFill>
          <a:ln/>
        </p:spPr>
      </p:sp>
      <p:sp>
        <p:nvSpPr>
          <p:cNvPr id="5" name="Text 3"/>
          <p:cNvSpPr/>
          <p:nvPr/>
        </p:nvSpPr>
        <p:spPr>
          <a:xfrm>
            <a:off x="548640" y="123444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6" name="Text 4"/>
          <p:cNvSpPr/>
          <p:nvPr/>
        </p:nvSpPr>
        <p:spPr>
          <a:xfrm>
            <a:off x="1234440" y="1234440"/>
            <a:ext cx="7223760" cy="502920"/>
          </a:xfrm>
          <a:prstGeom prst="rect">
            <a:avLst/>
          </a:prstGeom>
          <a:noFill/>
          <a:ln/>
        </p:spPr>
        <p:txBody>
          <a:bodyPr wrap="square" rtlCol="0" anchor="ctr"/>
          <a:lstStyle/>
          <a:p>
            <a:pPr algn="l" indent="0" marL="0">
              <a:buNone/>
            </a:pPr>
            <a:r>
              <a:rPr lang="en-US" sz="1700" b="1" dirty="0">
                <a:solidFill>
                  <a:srgbClr val="2B2D42"/>
                </a:solidFill>
                <a:latin typeface="Cambria" pitchFamily="34" charset="0"/>
                <a:ea typeface="Cambria" pitchFamily="34" charset="-122"/>
                <a:cs typeface="Cambria" pitchFamily="34" charset="-120"/>
              </a:rPr>
              <a:t>AI Business Analyst</a:t>
            </a:r>
            <a:pPr algn="l" indent="0" marL="0">
              <a:buNone/>
            </a:pPr>
            <a:r>
              <a:rPr lang="en-US" sz="1600" dirty="0">
                <a:solidFill>
                  <a:srgbClr val="8D99AE"/>
                </a:solidFill>
                <a:latin typeface="Calibri" pitchFamily="34" charset="0"/>
                <a:ea typeface="Calibri" pitchFamily="34" charset="-122"/>
                <a:cs typeface="Calibri" pitchFamily="34" charset="-120"/>
              </a:rPr>
              <a:t>  —  Dynasty Financial Partners</a:t>
            </a:r>
            <a:endParaRPr lang="en-US" sz="1700" dirty="0"/>
          </a:p>
        </p:txBody>
      </p:sp>
      <p:sp>
        <p:nvSpPr>
          <p:cNvPr id="7" name="Shape 5"/>
          <p:cNvSpPr/>
          <p:nvPr/>
        </p:nvSpPr>
        <p:spPr>
          <a:xfrm>
            <a:off x="548640" y="2011680"/>
            <a:ext cx="502920" cy="502920"/>
          </a:xfrm>
          <a:prstGeom prst="ellipse">
            <a:avLst/>
          </a:prstGeom>
          <a:solidFill>
            <a:srgbClr val="8D99AE"/>
          </a:solidFill>
          <a:ln/>
        </p:spPr>
      </p:sp>
      <p:sp>
        <p:nvSpPr>
          <p:cNvPr id="8" name="Text 6"/>
          <p:cNvSpPr/>
          <p:nvPr/>
        </p:nvSpPr>
        <p:spPr>
          <a:xfrm>
            <a:off x="548640" y="201168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a:t>
            </a:r>
            <a:endParaRPr lang="en-US" sz="1800" dirty="0"/>
          </a:p>
        </p:txBody>
      </p:sp>
      <p:sp>
        <p:nvSpPr>
          <p:cNvPr id="9" name="Text 7"/>
          <p:cNvSpPr/>
          <p:nvPr/>
        </p:nvSpPr>
        <p:spPr>
          <a:xfrm>
            <a:off x="1234440" y="2011680"/>
            <a:ext cx="7223760" cy="502920"/>
          </a:xfrm>
          <a:prstGeom prst="rect">
            <a:avLst/>
          </a:prstGeom>
          <a:noFill/>
          <a:ln/>
        </p:spPr>
        <p:txBody>
          <a:bodyPr wrap="square" rtlCol="0" anchor="ctr"/>
          <a:lstStyle/>
          <a:p>
            <a:pPr algn="l" indent="0" marL="0">
              <a:buNone/>
            </a:pPr>
            <a:r>
              <a:rPr lang="en-US" sz="1700" b="1" dirty="0">
                <a:solidFill>
                  <a:srgbClr val="2B2D42"/>
                </a:solidFill>
                <a:latin typeface="Cambria" pitchFamily="34" charset="0"/>
                <a:ea typeface="Cambria" pitchFamily="34" charset="-122"/>
                <a:cs typeface="Cambria" pitchFamily="34" charset="-120"/>
              </a:rPr>
              <a:t>Founder</a:t>
            </a:r>
            <a:pPr algn="l" indent="0" marL="0">
              <a:buNone/>
            </a:pPr>
            <a:r>
              <a:rPr lang="en-US" sz="1600" dirty="0">
                <a:solidFill>
                  <a:srgbClr val="8D99AE"/>
                </a:solidFill>
                <a:latin typeface="Calibri" pitchFamily="34" charset="0"/>
                <a:ea typeface="Calibri" pitchFamily="34" charset="-122"/>
                <a:cs typeface="Calibri" pitchFamily="34" charset="-120"/>
              </a:rPr>
              <a:t>  —  Scaling This</a:t>
            </a:r>
            <a:endParaRPr lang="en-US" sz="1700" dirty="0"/>
          </a:p>
        </p:txBody>
      </p:sp>
      <p:sp>
        <p:nvSpPr>
          <p:cNvPr id="10" name="Shape 8"/>
          <p:cNvSpPr/>
          <p:nvPr/>
        </p:nvSpPr>
        <p:spPr>
          <a:xfrm>
            <a:off x="548640" y="2788920"/>
            <a:ext cx="502920" cy="502920"/>
          </a:xfrm>
          <a:prstGeom prst="ellipse">
            <a:avLst/>
          </a:prstGeom>
          <a:solidFill>
            <a:srgbClr val="D90429"/>
          </a:solidFill>
          <a:ln/>
        </p:spPr>
      </p:sp>
      <p:sp>
        <p:nvSpPr>
          <p:cNvPr id="11" name="Text 9"/>
          <p:cNvSpPr/>
          <p:nvPr/>
        </p:nvSpPr>
        <p:spPr>
          <a:xfrm>
            <a:off x="548640" y="278892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a:t>
            </a:r>
            <a:endParaRPr lang="en-US" sz="1800" dirty="0"/>
          </a:p>
        </p:txBody>
      </p:sp>
      <p:sp>
        <p:nvSpPr>
          <p:cNvPr id="12" name="Text 10"/>
          <p:cNvSpPr/>
          <p:nvPr/>
        </p:nvSpPr>
        <p:spPr>
          <a:xfrm>
            <a:off x="1234440" y="2788920"/>
            <a:ext cx="7223760" cy="502920"/>
          </a:xfrm>
          <a:prstGeom prst="rect">
            <a:avLst/>
          </a:prstGeom>
          <a:noFill/>
          <a:ln/>
        </p:spPr>
        <p:txBody>
          <a:bodyPr wrap="square" rtlCol="0" anchor="ctr"/>
          <a:lstStyle/>
          <a:p>
            <a:pPr algn="l" indent="0" marL="0">
              <a:buNone/>
            </a:pPr>
            <a:r>
              <a:rPr lang="en-US" sz="1700" b="1" dirty="0">
                <a:solidFill>
                  <a:srgbClr val="2B2D42"/>
                </a:solidFill>
                <a:latin typeface="Cambria" pitchFamily="34" charset="0"/>
                <a:ea typeface="Cambria" pitchFamily="34" charset="-122"/>
                <a:cs typeface="Cambria" pitchFamily="34" charset="-120"/>
              </a:rPr>
              <a:t>Founder</a:t>
            </a:r>
            <a:pPr algn="l" indent="0" marL="0">
              <a:buNone/>
            </a:pPr>
            <a:r>
              <a:rPr lang="en-US" sz="1600" dirty="0">
                <a:solidFill>
                  <a:srgbClr val="8D99AE"/>
                </a:solidFill>
                <a:latin typeface="Calibri" pitchFamily="34" charset="0"/>
                <a:ea typeface="Calibri" pitchFamily="34" charset="-122"/>
                <a:cs typeface="Calibri" pitchFamily="34" charset="-120"/>
              </a:rPr>
              <a:t>  —  LearnWithSQL.com</a:t>
            </a:r>
            <a:endParaRPr lang="en-US" sz="1700" dirty="0"/>
          </a:p>
        </p:txBody>
      </p:sp>
      <p:sp>
        <p:nvSpPr>
          <p:cNvPr id="13" name="Shape 11"/>
          <p:cNvSpPr/>
          <p:nvPr/>
        </p:nvSpPr>
        <p:spPr>
          <a:xfrm>
            <a:off x="548640" y="3566160"/>
            <a:ext cx="502920" cy="502920"/>
          </a:xfrm>
          <a:prstGeom prst="ellipse">
            <a:avLst/>
          </a:prstGeom>
          <a:solidFill>
            <a:srgbClr val="8D99AE"/>
          </a:solidFill>
          <a:ln/>
        </p:spPr>
      </p:sp>
      <p:sp>
        <p:nvSpPr>
          <p:cNvPr id="14" name="Text 12"/>
          <p:cNvSpPr/>
          <p:nvPr/>
        </p:nvSpPr>
        <p:spPr>
          <a:xfrm>
            <a:off x="548640" y="356616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I</a:t>
            </a:r>
            <a:endParaRPr lang="en-US" sz="1800" dirty="0"/>
          </a:p>
        </p:txBody>
      </p:sp>
      <p:sp>
        <p:nvSpPr>
          <p:cNvPr id="15" name="Text 13"/>
          <p:cNvSpPr/>
          <p:nvPr/>
        </p:nvSpPr>
        <p:spPr>
          <a:xfrm>
            <a:off x="1234440" y="3566160"/>
            <a:ext cx="7223760" cy="502920"/>
          </a:xfrm>
          <a:prstGeom prst="rect">
            <a:avLst/>
          </a:prstGeom>
          <a:noFill/>
          <a:ln/>
        </p:spPr>
        <p:txBody>
          <a:bodyPr wrap="square" rtlCol="0" anchor="ctr"/>
          <a:lstStyle/>
          <a:p>
            <a:pPr algn="l" indent="0" marL="0">
              <a:buNone/>
            </a:pPr>
            <a:r>
              <a:rPr lang="en-US" sz="1700" b="1" dirty="0">
                <a:solidFill>
                  <a:srgbClr val="2B2D42"/>
                </a:solidFill>
                <a:latin typeface="Cambria" pitchFamily="34" charset="0"/>
                <a:ea typeface="Cambria" pitchFamily="34" charset="-122"/>
                <a:cs typeface="Cambria" pitchFamily="34" charset="-120"/>
              </a:rPr>
              <a:t>Owner</a:t>
            </a:r>
            <a:pPr algn="l" indent="0" marL="0">
              <a:buNone/>
            </a:pPr>
            <a:r>
              <a:rPr lang="en-US" sz="1600" dirty="0">
                <a:solidFill>
                  <a:srgbClr val="8D99AE"/>
                </a:solidFill>
                <a:latin typeface="Calibri" pitchFamily="34" charset="0"/>
                <a:ea typeface="Calibri" pitchFamily="34" charset="-122"/>
                <a:cs typeface="Calibri" pitchFamily="34" charset="-120"/>
              </a:rPr>
              <a:t>  —  Interior Exotics (ecommerce)</a:t>
            </a:r>
            <a:endParaRPr lang="en-US" sz="1700" dirty="0"/>
          </a:p>
        </p:txBody>
      </p:sp>
      <p:sp>
        <p:nvSpPr>
          <p:cNvPr id="16" name="Text 14"/>
          <p:cNvSpPr/>
          <p:nvPr/>
        </p:nvSpPr>
        <p:spPr>
          <a:xfrm>
            <a:off x="365760" y="4434840"/>
            <a:ext cx="7955280" cy="365760"/>
          </a:xfrm>
          <a:prstGeom prst="rect">
            <a:avLst/>
          </a:prstGeom>
          <a:noFill/>
          <a:ln/>
        </p:spPr>
        <p:txBody>
          <a:bodyPr wrap="square" rtlCol="0" anchor="ctr"/>
          <a:lstStyle/>
          <a:p>
            <a:pPr algn="l" indent="0" marL="0">
              <a:buNone/>
            </a:pPr>
            <a:r>
              <a:rPr lang="en-US" sz="1100" dirty="0">
                <a:solidFill>
                  <a:srgbClr val="8D99AE"/>
                </a:solidFill>
                <a:latin typeface="Calibri" pitchFamily="34" charset="0"/>
                <a:ea typeface="Calibri" pitchFamily="34" charset="-122"/>
                <a:cs typeface="Calibri" pitchFamily="34" charset="-120"/>
              </a:rPr>
              <a:t>CSPO® · CSM · VP of Membership, IIBA Tampa Bay · Founder, AI Automation Hub (800+ members)</a:t>
            </a:r>
            <a:endParaRPr lang="en-US" sz="1100" dirty="0"/>
          </a:p>
        </p:txBody>
      </p:sp>
      <p:sp>
        <p:nvSpPr>
          <p:cNvPr id="17" name="Shape 15"/>
          <p:cNvSpPr/>
          <p:nvPr/>
        </p:nvSpPr>
        <p:spPr>
          <a:xfrm>
            <a:off x="8503920" y="4663440"/>
            <a:ext cx="365760" cy="365760"/>
          </a:xfrm>
          <a:prstGeom prst="ellipse">
            <a:avLst/>
          </a:prstGeom>
          <a:solidFill>
            <a:srgbClr val="D90429"/>
          </a:solidFill>
          <a:ln/>
        </p:spPr>
      </p:sp>
      <p:sp>
        <p:nvSpPr>
          <p:cNvPr id="18" name="Text 16"/>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F2F4"/>
        </a:solidFill>
      </p:bgPr>
    </p:bg>
    <p:spTree>
      <p:nvGrpSpPr>
        <p:cNvPr id="1" name=""/>
        <p:cNvGrpSpPr/>
        <p:nvPr/>
      </p:nvGrpSpPr>
      <p:grpSpPr>
        <a:xfrm>
          <a:off x="0" y="0"/>
          <a:ext cx="0" cy="0"/>
          <a:chOff x="0" y="0"/>
          <a:chExt cx="0" cy="0"/>
        </a:xfrm>
      </p:grpSpPr>
      <p:sp>
        <p:nvSpPr>
          <p:cNvPr id="2" name="Shape 0"/>
          <p:cNvSpPr/>
          <p:nvPr/>
        </p:nvSpPr>
        <p:spPr>
          <a:xfrm>
            <a:off x="7498080" y="-365760"/>
            <a:ext cx="1920240" cy="1920240"/>
          </a:xfrm>
          <a:prstGeom prst="ellipse">
            <a:avLst/>
          </a:prstGeom>
          <a:solidFill>
            <a:srgbClr val="EF233C">
              <a:alpha val="12000"/>
            </a:srgbClr>
          </a:solidFill>
          <a:ln/>
        </p:spPr>
      </p:sp>
      <p:sp>
        <p:nvSpPr>
          <p:cNvPr id="3" name="Shape 1"/>
          <p:cNvSpPr/>
          <p:nvPr/>
        </p:nvSpPr>
        <p:spPr>
          <a:xfrm>
            <a:off x="457200" y="1737360"/>
            <a:ext cx="73152" cy="1783080"/>
          </a:xfrm>
          <a:prstGeom prst="rect">
            <a:avLst/>
          </a:prstGeom>
          <a:solidFill>
            <a:srgbClr val="D90429"/>
          </a:solidFill>
          <a:ln/>
        </p:spPr>
      </p:sp>
      <p:sp>
        <p:nvSpPr>
          <p:cNvPr id="4" name="Text 2"/>
          <p:cNvSpPr/>
          <p:nvPr/>
        </p:nvSpPr>
        <p:spPr>
          <a:xfrm>
            <a:off x="822960" y="1691640"/>
            <a:ext cx="7498080" cy="1188720"/>
          </a:xfrm>
          <a:prstGeom prst="rect">
            <a:avLst/>
          </a:prstGeom>
          <a:noFill/>
          <a:ln/>
        </p:spPr>
        <p:txBody>
          <a:bodyPr wrap="square" rtlCol="0" anchor="ctr">
            <a:normAutofit/>
          </a:bodyPr>
          <a:lstStyle/>
          <a:p>
            <a:pPr algn="l" indent="0" marL="0">
              <a:buNone/>
            </a:pPr>
            <a:r>
              <a:rPr lang="en-US" sz="5000" b="1" dirty="0">
                <a:solidFill>
                  <a:srgbClr val="2B2D42"/>
                </a:solidFill>
                <a:latin typeface="Cambria" pitchFamily="34" charset="0"/>
                <a:ea typeface="Cambria" pitchFamily="34" charset="-122"/>
                <a:cs typeface="Cambria" pitchFamily="34" charset="-120"/>
              </a:rPr>
              <a:t>Time Will Save the World</a:t>
            </a:r>
            <a:endParaRPr lang="en-US" sz="5000" dirty="0"/>
          </a:p>
        </p:txBody>
      </p:sp>
      <p:sp>
        <p:nvSpPr>
          <p:cNvPr id="5" name="Text 3"/>
          <p:cNvSpPr/>
          <p:nvPr/>
        </p:nvSpPr>
        <p:spPr>
          <a:xfrm>
            <a:off x="822960" y="2926080"/>
            <a:ext cx="7406640" cy="822960"/>
          </a:xfrm>
          <a:prstGeom prst="rect">
            <a:avLst/>
          </a:prstGeom>
          <a:noFill/>
          <a:ln/>
        </p:spPr>
        <p:txBody>
          <a:bodyPr wrap="square" rtlCol="0" anchor="t"/>
          <a:lstStyle/>
          <a:p>
            <a:pPr algn="l" indent="0" marL="0">
              <a:buNone/>
            </a:pPr>
            <a:r>
              <a:rPr lang="en-US" sz="1800" dirty="0">
                <a:solidFill>
                  <a:srgbClr val="8D99AE"/>
                </a:solidFill>
                <a:latin typeface="Calibri" pitchFamily="34" charset="0"/>
                <a:ea typeface="Calibri" pitchFamily="34" charset="-122"/>
                <a:cs typeface="Calibri" pitchFamily="34" charset="-120"/>
              </a:rPr>
              <a:t>When we save time, we create room for the work that actually moves a company forward.</a:t>
            </a:r>
            <a:endParaRPr lang="en-US" sz="1800" dirty="0"/>
          </a:p>
        </p:txBody>
      </p:sp>
      <p:sp>
        <p:nvSpPr>
          <p:cNvPr id="6" name="Shape 4"/>
          <p:cNvSpPr/>
          <p:nvPr/>
        </p:nvSpPr>
        <p:spPr>
          <a:xfrm>
            <a:off x="8503920" y="4663440"/>
            <a:ext cx="365760" cy="365760"/>
          </a:xfrm>
          <a:prstGeom prst="ellipse">
            <a:avLst/>
          </a:prstGeom>
          <a:solidFill>
            <a:srgbClr val="D90429"/>
          </a:solidFill>
          <a:ln/>
        </p:spPr>
      </p:sp>
      <p:sp>
        <p:nvSpPr>
          <p:cNvPr id="7" name="Text 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502920"/>
            <a:ext cx="8412480" cy="822960"/>
          </a:xfrm>
          <a:prstGeom prst="rect">
            <a:avLst/>
          </a:prstGeom>
          <a:noFill/>
          <a:ln/>
        </p:spPr>
        <p:txBody>
          <a:bodyPr wrap="square" rtlCol="0" anchor="ctr">
            <a:normAutofit/>
          </a:bodyPr>
          <a:lstStyle/>
          <a:p>
            <a:pPr algn="l" indent="0" marL="0">
              <a:buNone/>
            </a:pPr>
            <a:r>
              <a:rPr lang="en-US" sz="3600" b="1" dirty="0">
                <a:solidFill>
                  <a:srgbClr val="2B2D42"/>
                </a:solidFill>
                <a:latin typeface="Cambria" pitchFamily="34" charset="0"/>
                <a:ea typeface="Cambria" pitchFamily="34" charset="-122"/>
                <a:cs typeface="Cambria" pitchFamily="34" charset="-120"/>
              </a:rPr>
              <a:t>Be an Enabler for Your Company</a:t>
            </a:r>
            <a:endParaRPr lang="en-US" sz="3600" dirty="0"/>
          </a:p>
        </p:txBody>
      </p:sp>
      <p:sp>
        <p:nvSpPr>
          <p:cNvPr id="3" name="Text 1"/>
          <p:cNvSpPr/>
          <p:nvPr/>
        </p:nvSpPr>
        <p:spPr>
          <a:xfrm>
            <a:off x="365760" y="1737360"/>
            <a:ext cx="5029200" cy="1463040"/>
          </a:xfrm>
          <a:prstGeom prst="rect">
            <a:avLst/>
          </a:prstGeom>
          <a:noFill/>
          <a:ln/>
        </p:spPr>
        <p:txBody>
          <a:bodyPr wrap="square" rtlCol="0" anchor="t"/>
          <a:lstStyle/>
          <a:p>
            <a:pPr algn="l" indent="0" marL="0">
              <a:buNone/>
            </a:pPr>
            <a:r>
              <a:rPr lang="en-US" sz="2000" dirty="0">
                <a:solidFill>
                  <a:srgbClr val="8D99AE"/>
                </a:solidFill>
                <a:latin typeface="Calibri" pitchFamily="34" charset="0"/>
                <a:ea typeface="Calibri" pitchFamily="34" charset="-122"/>
                <a:cs typeface="Calibri" pitchFamily="34" charset="-120"/>
              </a:rPr>
              <a:t>Every hour saved is an hour reinvested — into bigger, higher-value work.</a:t>
            </a:r>
            <a:endParaRPr lang="en-US" sz="2000" dirty="0"/>
          </a:p>
        </p:txBody>
      </p:sp>
      <p:sp>
        <p:nvSpPr>
          <p:cNvPr id="4" name="Shape 2"/>
          <p:cNvSpPr/>
          <p:nvPr/>
        </p:nvSpPr>
        <p:spPr>
          <a:xfrm>
            <a:off x="5852160" y="1600200"/>
            <a:ext cx="2011680" cy="2011680"/>
          </a:xfrm>
          <a:prstGeom prst="ellipse">
            <a:avLst/>
          </a:prstGeom>
          <a:solidFill>
            <a:srgbClr val="FFFFFF"/>
          </a:solidFill>
          <a:ln w="38100">
            <a:solidFill>
              <a:srgbClr val="D90429"/>
            </a:solidFill>
            <a:prstDash val="solid"/>
          </a:ln>
        </p:spPr>
      </p:sp>
      <p:sp>
        <p:nvSpPr>
          <p:cNvPr id="5" name="Shape 3"/>
          <p:cNvSpPr/>
          <p:nvPr/>
        </p:nvSpPr>
        <p:spPr>
          <a:xfrm>
            <a:off x="6858000" y="2011680"/>
            <a:ext cx="0" cy="594360"/>
          </a:xfrm>
          <a:prstGeom prst="line">
            <a:avLst/>
          </a:prstGeom>
          <a:noFill/>
          <a:ln w="38100">
            <a:solidFill>
              <a:srgbClr val="2B2D42"/>
            </a:solidFill>
            <a:prstDash val="solid"/>
          </a:ln>
        </p:spPr>
      </p:sp>
      <p:sp>
        <p:nvSpPr>
          <p:cNvPr id="6" name="Shape 4"/>
          <p:cNvSpPr/>
          <p:nvPr/>
        </p:nvSpPr>
        <p:spPr>
          <a:xfrm>
            <a:off x="6858000" y="2286000"/>
            <a:ext cx="731520" cy="320040"/>
          </a:xfrm>
          <a:prstGeom prst="line">
            <a:avLst/>
          </a:prstGeom>
          <a:noFill/>
          <a:ln w="25400">
            <a:solidFill>
              <a:srgbClr val="2B2D42"/>
            </a:solidFill>
            <a:prstDash val="solid"/>
          </a:ln>
        </p:spPr>
      </p:sp>
      <p:sp>
        <p:nvSpPr>
          <p:cNvPr id="7" name="Shape 5"/>
          <p:cNvSpPr/>
          <p:nvPr/>
        </p:nvSpPr>
        <p:spPr>
          <a:xfrm>
            <a:off x="6803136" y="2551176"/>
            <a:ext cx="109728" cy="109728"/>
          </a:xfrm>
          <a:prstGeom prst="ellipse">
            <a:avLst/>
          </a:prstGeom>
          <a:solidFill>
            <a:srgbClr val="2B2D42"/>
          </a:solidFill>
          <a:ln/>
        </p:spPr>
      </p:sp>
      <p:sp>
        <p:nvSpPr>
          <p:cNvPr id="8" name="Shape 6"/>
          <p:cNvSpPr/>
          <p:nvPr/>
        </p:nvSpPr>
        <p:spPr>
          <a:xfrm>
            <a:off x="8503920" y="4663440"/>
            <a:ext cx="365760" cy="365760"/>
          </a:xfrm>
          <a:prstGeom prst="ellipse">
            <a:avLst/>
          </a:prstGeom>
          <a:solidFill>
            <a:srgbClr val="D90429"/>
          </a:solidFill>
          <a:ln/>
        </p:spPr>
      </p:sp>
      <p:sp>
        <p:nvSpPr>
          <p:cNvPr id="9" name="Text 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B2D42"/>
        </a:solidFill>
      </p:bgPr>
    </p:bg>
    <p:spTree>
      <p:nvGrpSpPr>
        <p:cNvPr id="1" name=""/>
        <p:cNvGrpSpPr/>
        <p:nvPr/>
      </p:nvGrpSpPr>
      <p:grpSpPr>
        <a:xfrm>
          <a:off x="0" y="0"/>
          <a:ext cx="0" cy="0"/>
          <a:chOff x="0" y="0"/>
          <a:chExt cx="0" cy="0"/>
        </a:xfrm>
      </p:grpSpPr>
      <p:sp>
        <p:nvSpPr>
          <p:cNvPr id="2" name="Shape 0"/>
          <p:cNvSpPr/>
          <p:nvPr/>
        </p:nvSpPr>
        <p:spPr>
          <a:xfrm>
            <a:off x="-1188720" y="-1188720"/>
            <a:ext cx="2743200" cy="2743200"/>
          </a:xfrm>
          <a:prstGeom prst="ellipse">
            <a:avLst/>
          </a:prstGeom>
          <a:solidFill>
            <a:srgbClr val="D90429">
              <a:alpha val="15000"/>
            </a:srgbClr>
          </a:solidFill>
          <a:ln/>
        </p:spPr>
      </p:sp>
      <p:sp>
        <p:nvSpPr>
          <p:cNvPr id="3" name="Shape 1"/>
          <p:cNvSpPr/>
          <p:nvPr/>
        </p:nvSpPr>
        <p:spPr>
          <a:xfrm>
            <a:off x="6949440" y="3291840"/>
            <a:ext cx="2743200" cy="2743200"/>
          </a:xfrm>
          <a:prstGeom prst="ellipse">
            <a:avLst/>
          </a:prstGeom>
          <a:solidFill>
            <a:srgbClr val="EF233C">
              <a:alpha val="13000"/>
            </a:srgbClr>
          </a:solidFill>
          <a:ln/>
        </p:spPr>
      </p:sp>
      <p:sp>
        <p:nvSpPr>
          <p:cNvPr id="4" name="Shape 2"/>
          <p:cNvSpPr/>
          <p:nvPr/>
        </p:nvSpPr>
        <p:spPr>
          <a:xfrm>
            <a:off x="4023360" y="822960"/>
            <a:ext cx="1097280" cy="640080"/>
          </a:xfrm>
          <a:prstGeom prst="roundRect">
            <a:avLst>
              <a:gd name="adj" fmla="val 14286"/>
            </a:avLst>
          </a:prstGeom>
          <a:solidFill>
            <a:srgbClr val="EF233C"/>
          </a:solidFill>
          <a:ln/>
        </p:spPr>
      </p:sp>
      <p:sp>
        <p:nvSpPr>
          <p:cNvPr id="5" name="Shape 3"/>
          <p:cNvSpPr/>
          <p:nvPr/>
        </p:nvSpPr>
        <p:spPr>
          <a:xfrm>
            <a:off x="4078224" y="548640"/>
            <a:ext cx="146304" cy="384048"/>
          </a:xfrm>
          <a:prstGeom prst="roundRect">
            <a:avLst>
              <a:gd name="adj" fmla="val 37500"/>
            </a:avLst>
          </a:prstGeom>
          <a:solidFill>
            <a:srgbClr val="EF233C"/>
          </a:solidFill>
          <a:ln/>
        </p:spPr>
      </p:sp>
      <p:sp>
        <p:nvSpPr>
          <p:cNvPr id="6" name="Shape 4"/>
          <p:cNvSpPr/>
          <p:nvPr/>
        </p:nvSpPr>
        <p:spPr>
          <a:xfrm>
            <a:off x="4315968" y="475488"/>
            <a:ext cx="146304" cy="457200"/>
          </a:xfrm>
          <a:prstGeom prst="roundRect">
            <a:avLst>
              <a:gd name="adj" fmla="val 37500"/>
            </a:avLst>
          </a:prstGeom>
          <a:solidFill>
            <a:srgbClr val="EF233C"/>
          </a:solidFill>
          <a:ln/>
        </p:spPr>
      </p:sp>
      <p:sp>
        <p:nvSpPr>
          <p:cNvPr id="7" name="Shape 5"/>
          <p:cNvSpPr/>
          <p:nvPr/>
        </p:nvSpPr>
        <p:spPr>
          <a:xfrm>
            <a:off x="4553712" y="475488"/>
            <a:ext cx="146304" cy="457200"/>
          </a:xfrm>
          <a:prstGeom prst="roundRect">
            <a:avLst>
              <a:gd name="adj" fmla="val 37500"/>
            </a:avLst>
          </a:prstGeom>
          <a:solidFill>
            <a:srgbClr val="EF233C"/>
          </a:solidFill>
          <a:ln/>
        </p:spPr>
      </p:sp>
      <p:sp>
        <p:nvSpPr>
          <p:cNvPr id="8" name="Shape 6"/>
          <p:cNvSpPr/>
          <p:nvPr/>
        </p:nvSpPr>
        <p:spPr>
          <a:xfrm>
            <a:off x="4791456" y="566928"/>
            <a:ext cx="146304" cy="365760"/>
          </a:xfrm>
          <a:prstGeom prst="roundRect">
            <a:avLst>
              <a:gd name="adj" fmla="val 37500"/>
            </a:avLst>
          </a:prstGeom>
          <a:solidFill>
            <a:srgbClr val="EF233C"/>
          </a:solidFill>
          <a:ln/>
        </p:spPr>
      </p:sp>
      <p:sp>
        <p:nvSpPr>
          <p:cNvPr id="9" name="Text 7"/>
          <p:cNvSpPr/>
          <p:nvPr/>
        </p:nvSpPr>
        <p:spPr>
          <a:xfrm>
            <a:off x="457200" y="1965960"/>
            <a:ext cx="8229600" cy="914400"/>
          </a:xfrm>
          <a:prstGeom prst="rect">
            <a:avLst/>
          </a:prstGeom>
          <a:noFill/>
          <a:ln/>
        </p:spPr>
        <p:txBody>
          <a:bodyPr wrap="square"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Quick Show of Hands</a:t>
            </a:r>
            <a:endParaRPr lang="en-US" sz="4200" dirty="0"/>
          </a:p>
        </p:txBody>
      </p:sp>
      <p:sp>
        <p:nvSpPr>
          <p:cNvPr id="10" name="Text 8"/>
          <p:cNvSpPr/>
          <p:nvPr/>
        </p:nvSpPr>
        <p:spPr>
          <a:xfrm>
            <a:off x="914400" y="2880360"/>
            <a:ext cx="7315200" cy="1188720"/>
          </a:xfrm>
          <a:prstGeom prst="rect">
            <a:avLst/>
          </a:prstGeom>
          <a:noFill/>
          <a:ln/>
        </p:spPr>
        <p:txBody>
          <a:bodyPr wrap="square" rtlCol="0" anchor="t"/>
          <a:lstStyle/>
          <a:p>
            <a:pPr algn="ctr" indent="0" marL="0">
              <a:buNone/>
            </a:pPr>
            <a:r>
              <a:rPr lang="en-US" sz="2000" dirty="0">
                <a:solidFill>
                  <a:srgbClr val="EDF2F4"/>
                </a:solidFill>
                <a:latin typeface="Calibri" pitchFamily="34" charset="0"/>
                <a:ea typeface="Calibri" pitchFamily="34" charset="-122"/>
                <a:cs typeface="Calibri" pitchFamily="34" charset="-120"/>
              </a:rPr>
              <a:t>Who here is currently using Visual Studio Code with Claude, or Claude Code, at your company?</a:t>
            </a:r>
            <a:endParaRPr lang="en-US" sz="2000" dirty="0"/>
          </a:p>
        </p:txBody>
      </p:sp>
      <p:sp>
        <p:nvSpPr>
          <p:cNvPr id="11" name="Shape 9"/>
          <p:cNvSpPr/>
          <p:nvPr/>
        </p:nvSpPr>
        <p:spPr>
          <a:xfrm>
            <a:off x="8503920" y="4663440"/>
            <a:ext cx="365760" cy="365760"/>
          </a:xfrm>
          <a:prstGeom prst="ellipse">
            <a:avLst/>
          </a:prstGeom>
          <a:solidFill>
            <a:srgbClr val="D90429"/>
          </a:solidFill>
          <a:ln/>
        </p:spPr>
      </p:sp>
      <p:sp>
        <p:nvSpPr>
          <p:cNvPr id="12" name="Text 10"/>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F2F4"/>
        </a:solidFill>
      </p:bgPr>
    </p:bg>
    <p:spTree>
      <p:nvGrpSpPr>
        <p:cNvPr id="1" name=""/>
        <p:cNvGrpSpPr/>
        <p:nvPr/>
      </p:nvGrpSpPr>
      <p:grpSpPr>
        <a:xfrm>
          <a:off x="0" y="0"/>
          <a:ext cx="0" cy="0"/>
          <a:chOff x="0" y="0"/>
          <a:chExt cx="0" cy="0"/>
        </a:xfrm>
      </p:grpSpPr>
      <p:sp>
        <p:nvSpPr>
          <p:cNvPr id="2" name="Shape 0"/>
          <p:cNvSpPr/>
          <p:nvPr/>
        </p:nvSpPr>
        <p:spPr>
          <a:xfrm>
            <a:off x="914400" y="960120"/>
            <a:ext cx="7315200" cy="3154680"/>
          </a:xfrm>
          <a:prstGeom prst="roundRect">
            <a:avLst>
              <a:gd name="adj" fmla="val 3478"/>
            </a:avLst>
          </a:prstGeom>
          <a:solidFill>
            <a:srgbClr val="FFFFFF"/>
          </a:solidFill>
          <a:ln/>
          <a:effectLst>
            <a:outerShdw sx="100000" sy="100000" kx="0" ky="0" algn="bl" rotWithShape="0" blurRad="76200" dist="25400" dir="8100000">
              <a:srgbClr val="000000">
                <a:alpha val="12000"/>
              </a:srgbClr>
            </a:outerShdw>
          </a:effectLst>
        </p:spPr>
      </p:sp>
      <p:sp>
        <p:nvSpPr>
          <p:cNvPr id="3" name="Shape 1"/>
          <p:cNvSpPr/>
          <p:nvPr/>
        </p:nvSpPr>
        <p:spPr>
          <a:xfrm>
            <a:off x="594360" y="640080"/>
            <a:ext cx="640080" cy="640080"/>
          </a:xfrm>
          <a:prstGeom prst="ellipse">
            <a:avLst/>
          </a:prstGeom>
          <a:solidFill>
            <a:srgbClr val="D90429"/>
          </a:solidFill>
          <a:ln/>
        </p:spPr>
      </p:sp>
      <p:sp>
        <p:nvSpPr>
          <p:cNvPr id="4" name="Shape 2"/>
          <p:cNvSpPr/>
          <p:nvPr/>
        </p:nvSpPr>
        <p:spPr>
          <a:xfrm>
            <a:off x="777240" y="822960"/>
            <a:ext cx="274320" cy="274320"/>
          </a:xfrm>
          <a:prstGeom prst="ellipse">
            <a:avLst/>
          </a:prstGeom>
          <a:solidFill>
            <a:srgbClr val="EF233C"/>
          </a:solidFill>
          <a:ln/>
        </p:spPr>
      </p:sp>
      <p:sp>
        <p:nvSpPr>
          <p:cNvPr id="5" name="Text 3"/>
          <p:cNvSpPr/>
          <p:nvPr/>
        </p:nvSpPr>
        <p:spPr>
          <a:xfrm>
            <a:off x="1280160" y="1280160"/>
            <a:ext cx="6583680" cy="822960"/>
          </a:xfrm>
          <a:prstGeom prst="rect">
            <a:avLst/>
          </a:prstGeom>
          <a:noFill/>
          <a:ln/>
        </p:spPr>
        <p:txBody>
          <a:bodyPr wrap="square" rtlCol="0" anchor="ctr">
            <a:normAutofit/>
          </a:bodyPr>
          <a:lstStyle/>
          <a:p>
            <a:pPr algn="l" indent="0" marL="0">
              <a:buNone/>
            </a:pPr>
            <a:r>
              <a:rPr lang="en-US" sz="3200" b="1" dirty="0">
                <a:solidFill>
                  <a:srgbClr val="2B2D42"/>
                </a:solidFill>
                <a:latin typeface="Cambria" pitchFamily="34" charset="0"/>
                <a:ea typeface="Cambria" pitchFamily="34" charset="-122"/>
                <a:cs typeface="Cambria" pitchFamily="34" charset="-120"/>
              </a:rPr>
              <a:t>What If Today Was the Day?</a:t>
            </a:r>
            <a:endParaRPr lang="en-US" sz="3200" dirty="0"/>
          </a:p>
        </p:txBody>
      </p:sp>
      <p:sp>
        <p:nvSpPr>
          <p:cNvPr id="6" name="Text 4"/>
          <p:cNvSpPr/>
          <p:nvPr/>
        </p:nvSpPr>
        <p:spPr>
          <a:xfrm>
            <a:off x="1280160" y="2240280"/>
            <a:ext cx="6583680" cy="1645920"/>
          </a:xfrm>
          <a:prstGeom prst="rect">
            <a:avLst/>
          </a:prstGeom>
          <a:noFill/>
          <a:ln/>
        </p:spPr>
        <p:txBody>
          <a:bodyPr wrap="square" rtlCol="0" anchor="t"/>
          <a:lstStyle/>
          <a:p>
            <a:pPr algn="l" indent="0" marL="0">
              <a:buNone/>
            </a:pPr>
            <a:r>
              <a:rPr lang="en-US" sz="1800" dirty="0">
                <a:solidFill>
                  <a:srgbClr val="8D99AE"/>
                </a:solidFill>
                <a:latin typeface="Calibri" pitchFamily="34" charset="0"/>
                <a:ea typeface="Calibri" pitchFamily="34" charset="-122"/>
                <a:cs typeface="Calibri" pitchFamily="34" charset="-120"/>
              </a:rPr>
              <a:t>What if you left tonight with the knowledge to build some of the most powerful, resourceful agents to support your work, day-to-day?</a:t>
            </a:r>
            <a:endParaRPr lang="en-US" sz="1800" dirty="0"/>
          </a:p>
        </p:txBody>
      </p:sp>
      <p:sp>
        <p:nvSpPr>
          <p:cNvPr id="7" name="Shape 5"/>
          <p:cNvSpPr/>
          <p:nvPr/>
        </p:nvSpPr>
        <p:spPr>
          <a:xfrm>
            <a:off x="8503920" y="4663440"/>
            <a:ext cx="365760" cy="365760"/>
          </a:xfrm>
          <a:prstGeom prst="ellipse">
            <a:avLst/>
          </a:prstGeom>
          <a:solidFill>
            <a:srgbClr val="D90429"/>
          </a:solidFill>
          <a:ln/>
        </p:spPr>
      </p:sp>
      <p:sp>
        <p:nvSpPr>
          <p:cNvPr id="8" name="Text 6"/>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20040"/>
            <a:ext cx="8412480" cy="640080"/>
          </a:xfrm>
          <a:prstGeom prst="rect">
            <a:avLst/>
          </a:prstGeom>
          <a:noFill/>
          <a:ln/>
        </p:spPr>
        <p:txBody>
          <a:bodyPr wrap="square" lIns="0" tIns="0" rIns="0" bIns="0" rtlCol="0" anchor="t"/>
          <a:lstStyle/>
          <a:p>
            <a:pPr algn="l" indent="0" marL="0">
              <a:buNone/>
            </a:pPr>
            <a:r>
              <a:rPr lang="en-US" sz="3200" b="1" dirty="0">
                <a:solidFill>
                  <a:srgbClr val="2B2D42"/>
                </a:solidFill>
                <a:latin typeface="Cambria" pitchFamily="34" charset="0"/>
                <a:ea typeface="Cambria" pitchFamily="34" charset="-122"/>
                <a:cs typeface="Cambria" pitchFamily="34" charset="-120"/>
              </a:rPr>
              <a:t>Case Study: From Manual to Automated</a:t>
            </a:r>
            <a:endParaRPr lang="en-US" sz="3200" dirty="0"/>
          </a:p>
        </p:txBody>
      </p:sp>
      <p:sp>
        <p:nvSpPr>
          <p:cNvPr id="3" name="Shape 1"/>
          <p:cNvSpPr/>
          <p:nvPr/>
        </p:nvSpPr>
        <p:spPr>
          <a:xfrm>
            <a:off x="365760" y="1280160"/>
            <a:ext cx="3977640" cy="3063240"/>
          </a:xfrm>
          <a:prstGeom prst="roundRect">
            <a:avLst>
              <a:gd name="adj" fmla="val 2985"/>
            </a:avLst>
          </a:prstGeom>
          <a:solidFill>
            <a:srgbClr val="FFFFFF"/>
          </a:solidFill>
          <a:ln w="12700">
            <a:solidFill>
              <a:srgbClr val="8D99AE"/>
            </a:solidFill>
            <a:prstDash val="solid"/>
          </a:ln>
        </p:spPr>
      </p:sp>
      <p:sp>
        <p:nvSpPr>
          <p:cNvPr id="4" name="Text 2"/>
          <p:cNvSpPr/>
          <p:nvPr/>
        </p:nvSpPr>
        <p:spPr>
          <a:xfrm>
            <a:off x="640080" y="1508760"/>
            <a:ext cx="3429000" cy="365760"/>
          </a:xfrm>
          <a:prstGeom prst="rect">
            <a:avLst/>
          </a:prstGeom>
          <a:noFill/>
          <a:ln/>
        </p:spPr>
        <p:txBody>
          <a:bodyPr wrap="square" lIns="0" tIns="0" rIns="0" bIns="0" rtlCol="0" anchor="ctr"/>
          <a:lstStyle/>
          <a:p>
            <a:pPr algn="l" indent="0" marL="0">
              <a:buNone/>
            </a:pPr>
            <a:r>
              <a:rPr lang="en-US" sz="1600" b="1" dirty="0">
                <a:solidFill>
                  <a:srgbClr val="8D99AE"/>
                </a:solidFill>
                <a:latin typeface="Cambria" pitchFamily="34" charset="0"/>
                <a:ea typeface="Cambria" pitchFamily="34" charset="-122"/>
                <a:cs typeface="Cambria" pitchFamily="34" charset="-120"/>
              </a:rPr>
              <a:t>BEFORE</a:t>
            </a:r>
            <a:endParaRPr lang="en-US" sz="1600" dirty="0"/>
          </a:p>
        </p:txBody>
      </p:sp>
      <p:sp>
        <p:nvSpPr>
          <p:cNvPr id="5" name="Shape 3"/>
          <p:cNvSpPr/>
          <p:nvPr/>
        </p:nvSpPr>
        <p:spPr>
          <a:xfrm>
            <a:off x="640080" y="1965960"/>
            <a:ext cx="594360" cy="594360"/>
          </a:xfrm>
          <a:prstGeom prst="ellipse">
            <a:avLst/>
          </a:prstGeom>
          <a:solidFill>
            <a:srgbClr val="8D99AE"/>
          </a:solidFill>
          <a:ln/>
        </p:spPr>
      </p:sp>
      <p:sp>
        <p:nvSpPr>
          <p:cNvPr id="6" name="Shape 4"/>
          <p:cNvSpPr/>
          <p:nvPr/>
        </p:nvSpPr>
        <p:spPr>
          <a:xfrm>
            <a:off x="795528" y="2121408"/>
            <a:ext cx="274320" cy="45720"/>
          </a:xfrm>
          <a:prstGeom prst="rect">
            <a:avLst/>
          </a:prstGeom>
          <a:solidFill>
            <a:srgbClr val="FFFFFF"/>
          </a:solidFill>
          <a:ln/>
        </p:spPr>
      </p:sp>
      <p:sp>
        <p:nvSpPr>
          <p:cNvPr id="7" name="Shape 5"/>
          <p:cNvSpPr/>
          <p:nvPr/>
        </p:nvSpPr>
        <p:spPr>
          <a:xfrm>
            <a:off x="795528" y="2221992"/>
            <a:ext cx="274320" cy="45720"/>
          </a:xfrm>
          <a:prstGeom prst="rect">
            <a:avLst/>
          </a:prstGeom>
          <a:solidFill>
            <a:srgbClr val="FFFFFF"/>
          </a:solidFill>
          <a:ln/>
        </p:spPr>
      </p:sp>
      <p:sp>
        <p:nvSpPr>
          <p:cNvPr id="8" name="Shape 6"/>
          <p:cNvSpPr/>
          <p:nvPr/>
        </p:nvSpPr>
        <p:spPr>
          <a:xfrm>
            <a:off x="795528" y="2322576"/>
            <a:ext cx="201168" cy="45720"/>
          </a:xfrm>
          <a:prstGeom prst="rect">
            <a:avLst/>
          </a:prstGeom>
          <a:solidFill>
            <a:srgbClr val="FFFFFF"/>
          </a:solidFill>
          <a:ln/>
        </p:spPr>
      </p:sp>
      <p:sp>
        <p:nvSpPr>
          <p:cNvPr id="9" name="Text 7"/>
          <p:cNvSpPr/>
          <p:nvPr/>
        </p:nvSpPr>
        <p:spPr>
          <a:xfrm>
            <a:off x="640080" y="2788920"/>
            <a:ext cx="3429000" cy="1371600"/>
          </a:xfrm>
          <a:prstGeom prst="rect">
            <a:avLst/>
          </a:prstGeom>
          <a:noFill/>
          <a:ln/>
        </p:spPr>
        <p:txBody>
          <a:bodyPr wrap="square" lIns="0" tIns="0" rIns="0" bIns="0" rtlCol="0" anchor="t"/>
          <a:lstStyle/>
          <a:p>
            <a:pPr algn="l" indent="0" marL="0">
              <a:buNone/>
            </a:pPr>
            <a:r>
              <a:rPr lang="en-US" sz="1500" dirty="0">
                <a:solidFill>
                  <a:srgbClr val="2B2D42"/>
                </a:solidFill>
                <a:latin typeface="Calibri" pitchFamily="34" charset="0"/>
                <a:ea typeface="Calibri" pitchFamily="34" charset="-122"/>
                <a:cs typeface="Calibri" pitchFamily="34" charset="-120"/>
              </a:rPr>
              <a:t>Product team manually queried data and wrote release notes by hand — every cycle, every release.</a:t>
            </a:r>
            <a:endParaRPr lang="en-US" sz="1500" dirty="0"/>
          </a:p>
        </p:txBody>
      </p:sp>
      <p:sp>
        <p:nvSpPr>
          <p:cNvPr id="10" name="Shape 8"/>
          <p:cNvSpPr/>
          <p:nvPr/>
        </p:nvSpPr>
        <p:spPr>
          <a:xfrm>
            <a:off x="4416552" y="2263140"/>
            <a:ext cx="310896" cy="0"/>
          </a:xfrm>
          <a:prstGeom prst="line">
            <a:avLst/>
          </a:prstGeom>
          <a:noFill/>
          <a:ln w="31750">
            <a:solidFill>
              <a:srgbClr val="D90429"/>
            </a:solidFill>
            <a:prstDash val="solid"/>
            <a:tailEnd type="triangle"/>
          </a:ln>
        </p:spPr>
      </p:sp>
      <p:sp>
        <p:nvSpPr>
          <p:cNvPr id="11" name="Shape 9"/>
          <p:cNvSpPr/>
          <p:nvPr/>
        </p:nvSpPr>
        <p:spPr>
          <a:xfrm>
            <a:off x="4800600" y="1280160"/>
            <a:ext cx="3977640" cy="3063240"/>
          </a:xfrm>
          <a:prstGeom prst="roundRect">
            <a:avLst>
              <a:gd name="adj" fmla="val 2985"/>
            </a:avLst>
          </a:prstGeom>
          <a:solidFill>
            <a:srgbClr val="FFFFFF"/>
          </a:solidFill>
          <a:ln w="12700">
            <a:solidFill>
              <a:srgbClr val="D90429"/>
            </a:solidFill>
            <a:prstDash val="solid"/>
          </a:ln>
        </p:spPr>
      </p:sp>
      <p:sp>
        <p:nvSpPr>
          <p:cNvPr id="12" name="Text 10"/>
          <p:cNvSpPr/>
          <p:nvPr/>
        </p:nvSpPr>
        <p:spPr>
          <a:xfrm>
            <a:off x="5074920" y="1508760"/>
            <a:ext cx="3429000" cy="365760"/>
          </a:xfrm>
          <a:prstGeom prst="rect">
            <a:avLst/>
          </a:prstGeom>
          <a:noFill/>
          <a:ln/>
        </p:spPr>
        <p:txBody>
          <a:bodyPr wrap="square" lIns="0" tIns="0" rIns="0" bIns="0" rtlCol="0" anchor="ctr"/>
          <a:lstStyle/>
          <a:p>
            <a:pPr algn="l" indent="0" marL="0">
              <a:buNone/>
            </a:pPr>
            <a:r>
              <a:rPr lang="en-US" sz="1600" b="1" dirty="0">
                <a:solidFill>
                  <a:srgbClr val="D90429"/>
                </a:solidFill>
                <a:latin typeface="Cambria" pitchFamily="34" charset="0"/>
                <a:ea typeface="Cambria" pitchFamily="34" charset="-122"/>
                <a:cs typeface="Cambria" pitchFamily="34" charset="-120"/>
              </a:rPr>
              <a:t>AFTER</a:t>
            </a:r>
            <a:endParaRPr lang="en-US" sz="1600" dirty="0"/>
          </a:p>
        </p:txBody>
      </p:sp>
      <p:sp>
        <p:nvSpPr>
          <p:cNvPr id="13" name="Shape 11"/>
          <p:cNvSpPr/>
          <p:nvPr/>
        </p:nvSpPr>
        <p:spPr>
          <a:xfrm>
            <a:off x="5074920" y="1965960"/>
            <a:ext cx="594360" cy="594360"/>
          </a:xfrm>
          <a:prstGeom prst="ellipse">
            <a:avLst/>
          </a:prstGeom>
          <a:solidFill>
            <a:srgbClr val="D90429"/>
          </a:solidFill>
          <a:ln/>
        </p:spPr>
      </p:sp>
      <p:sp>
        <p:nvSpPr>
          <p:cNvPr id="14" name="Shape 12"/>
          <p:cNvSpPr/>
          <p:nvPr/>
        </p:nvSpPr>
        <p:spPr>
          <a:xfrm>
            <a:off x="5230368" y="2395728"/>
            <a:ext cx="274320" cy="-256032"/>
          </a:xfrm>
          <a:prstGeom prst="line">
            <a:avLst/>
          </a:prstGeom>
          <a:noFill/>
          <a:ln w="25400">
            <a:solidFill>
              <a:srgbClr val="FFFFFF"/>
            </a:solidFill>
            <a:prstDash val="solid"/>
            <a:tailEnd type="triangle"/>
          </a:ln>
        </p:spPr>
      </p:sp>
      <p:sp>
        <p:nvSpPr>
          <p:cNvPr id="15" name="Text 13"/>
          <p:cNvSpPr/>
          <p:nvPr/>
        </p:nvSpPr>
        <p:spPr>
          <a:xfrm>
            <a:off x="5074920" y="2788920"/>
            <a:ext cx="3429000" cy="1371600"/>
          </a:xfrm>
          <a:prstGeom prst="rect">
            <a:avLst/>
          </a:prstGeom>
          <a:noFill/>
          <a:ln/>
        </p:spPr>
        <p:txBody>
          <a:bodyPr wrap="square" lIns="0" tIns="0" rIns="0" bIns="0" rtlCol="0" anchor="t"/>
          <a:lstStyle/>
          <a:p>
            <a:pPr algn="l" indent="0" marL="0">
              <a:buNone/>
            </a:pPr>
            <a:r>
              <a:rPr lang="en-US" sz="1500" dirty="0">
                <a:solidFill>
                  <a:srgbClr val="2B2D42"/>
                </a:solidFill>
                <a:latin typeface="Calibri" pitchFamily="34" charset="0"/>
                <a:ea typeface="Calibri" pitchFamily="34" charset="-122"/>
                <a:cs typeface="Calibri" pitchFamily="34" charset="-120"/>
              </a:rPr>
              <a:t>Connected AI agents handle it end-to-end — hours saved, reinvested straight back into the company.</a:t>
            </a:r>
            <a:endParaRPr lang="en-US" sz="1500" dirty="0"/>
          </a:p>
        </p:txBody>
      </p:sp>
      <p:sp>
        <p:nvSpPr>
          <p:cNvPr id="16" name="Shape 14"/>
          <p:cNvSpPr/>
          <p:nvPr/>
        </p:nvSpPr>
        <p:spPr>
          <a:xfrm>
            <a:off x="8503920" y="4663440"/>
            <a:ext cx="365760" cy="365760"/>
          </a:xfrm>
          <a:prstGeom prst="ellipse">
            <a:avLst/>
          </a:prstGeom>
          <a:solidFill>
            <a:srgbClr val="D90429"/>
          </a:solidFill>
          <a:ln/>
        </p:spPr>
      </p:sp>
      <p:sp>
        <p:nvSpPr>
          <p:cNvPr id="17" name="Text 15"/>
          <p:cNvSpPr/>
          <p:nvPr/>
        </p:nvSpPr>
        <p:spPr>
          <a:xfrm>
            <a:off x="8503920" y="46634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B2D42"/>
        </a:solidFill>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D90429"/>
          </a:solidFill>
          <a:ln/>
        </p:spPr>
      </p:sp>
      <p:sp>
        <p:nvSpPr>
          <p:cNvPr id="3" name="Text 1"/>
          <p:cNvSpPr/>
          <p:nvPr/>
        </p:nvSpPr>
        <p:spPr>
          <a:xfrm>
            <a:off x="685800" y="502920"/>
            <a:ext cx="4572000" cy="2103120"/>
          </a:xfrm>
          <a:prstGeom prst="rect">
            <a:avLst/>
          </a:prstGeom>
          <a:noFill/>
          <a:ln/>
        </p:spPr>
        <p:txBody>
          <a:bodyPr wrap="square" lIns="0" tIns="0" rIns="0" bIns="0" rtlCol="0" anchor="ctr"/>
          <a:lstStyle/>
          <a:p>
            <a:pPr algn="l" indent="0" marL="0">
              <a:buNone/>
            </a:pPr>
            <a:r>
              <a:rPr lang="en-US" sz="16000" b="1" dirty="0">
                <a:solidFill>
                  <a:srgbClr val="8D99AE"/>
                </a:solidFill>
                <a:latin typeface="Cambria" pitchFamily="34" charset="0"/>
                <a:ea typeface="Cambria" pitchFamily="34" charset="-122"/>
                <a:cs typeface="Cambria" pitchFamily="34" charset="-120"/>
              </a:rPr>
              <a:t>02</a:t>
            </a:r>
            <a:endParaRPr lang="en-US" sz="16000" dirty="0"/>
          </a:p>
        </p:txBody>
      </p:sp>
      <p:sp>
        <p:nvSpPr>
          <p:cNvPr id="4" name="Text 2"/>
          <p:cNvSpPr/>
          <p:nvPr/>
        </p:nvSpPr>
        <p:spPr>
          <a:xfrm>
            <a:off x="685800" y="2697480"/>
            <a:ext cx="7498080" cy="8229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How AI Actually Works</a:t>
            </a:r>
            <a:endParaRPr lang="en-US" sz="4000" dirty="0"/>
          </a:p>
        </p:txBody>
      </p:sp>
      <p:sp>
        <p:nvSpPr>
          <p:cNvPr id="5" name="Text 3"/>
          <p:cNvSpPr/>
          <p:nvPr/>
        </p:nvSpPr>
        <p:spPr>
          <a:xfrm>
            <a:off x="685800" y="3520440"/>
            <a:ext cx="6949440" cy="640080"/>
          </a:xfrm>
          <a:prstGeom prst="rect">
            <a:avLst/>
          </a:prstGeom>
          <a:noFill/>
          <a:ln/>
        </p:spPr>
        <p:txBody>
          <a:bodyPr wrap="square" lIns="0" tIns="0" rIns="0" bIns="0" rtlCol="0" anchor="t"/>
          <a:lstStyle/>
          <a:p>
            <a:pPr algn="l" indent="0" marL="0">
              <a:buNone/>
            </a:pPr>
            <a:r>
              <a:rPr lang="en-US" sz="1800" dirty="0">
                <a:solidFill>
                  <a:srgbClr val="8D99AE"/>
                </a:solidFill>
                <a:latin typeface="Calibri" pitchFamily="34" charset="0"/>
                <a:ea typeface="Calibri" pitchFamily="34" charset="-122"/>
                <a:cs typeface="Calibri" pitchFamily="34" charset="-120"/>
              </a:rPr>
              <a:t>We've covered the why — now let's get into the basics of AI, starting from the ground up.</a:t>
            </a:r>
            <a:endParaRPr lang="en-US" sz="1800" dirty="0"/>
          </a:p>
        </p:txBody>
      </p:sp>
      <p:sp>
        <p:nvSpPr>
          <p:cNvPr id="6" name="Shape 4"/>
          <p:cNvSpPr/>
          <p:nvPr/>
        </p:nvSpPr>
        <p:spPr>
          <a:xfrm>
            <a:off x="8503920" y="4663440"/>
            <a:ext cx="365760" cy="365760"/>
          </a:xfrm>
          <a:prstGeom prst="ellipse">
            <a:avLst/>
          </a:prstGeom>
          <a:solidFill>
            <a:srgbClr val="D90429"/>
          </a:solidFill>
          <a:ln/>
        </p:spPr>
      </p:sp>
      <p:sp>
        <p:nvSpPr>
          <p:cNvPr id="7" name="Text 5"/>
          <p:cNvSpPr/>
          <p:nvPr/>
        </p:nvSpPr>
        <p:spPr>
          <a:xfrm>
            <a:off x="8503920" y="46634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20040"/>
            <a:ext cx="8412480" cy="640080"/>
          </a:xfrm>
          <a:prstGeom prst="rect">
            <a:avLst/>
          </a:prstGeom>
          <a:noFill/>
          <a:ln/>
        </p:spPr>
        <p:txBody>
          <a:bodyPr wrap="square" lIns="0" tIns="0" rIns="0" bIns="0" rtlCol="0" anchor="t"/>
          <a:lstStyle/>
          <a:p>
            <a:pPr algn="l" indent="0" marL="0">
              <a:buNone/>
            </a:pPr>
            <a:r>
              <a:rPr lang="en-US" sz="3200" b="1" dirty="0">
                <a:solidFill>
                  <a:srgbClr val="2B2D42"/>
                </a:solidFill>
                <a:latin typeface="Cambria" pitchFamily="34" charset="0"/>
                <a:ea typeface="Cambria" pitchFamily="34" charset="-122"/>
                <a:cs typeface="Cambria" pitchFamily="34" charset="-120"/>
              </a:rPr>
              <a:t>LLMs — Large Language Models</a:t>
            </a:r>
            <a:endParaRPr lang="en-US" sz="3200" dirty="0"/>
          </a:p>
        </p:txBody>
      </p:sp>
      <p:sp>
        <p:nvSpPr>
          <p:cNvPr id="3" name="Shape 1"/>
          <p:cNvSpPr/>
          <p:nvPr/>
        </p:nvSpPr>
        <p:spPr>
          <a:xfrm>
            <a:off x="365760" y="1234440"/>
            <a:ext cx="1550822" cy="1234440"/>
          </a:xfrm>
          <a:prstGeom prst="roundRect">
            <a:avLst>
              <a:gd name="adj" fmla="val 5926"/>
            </a:avLst>
          </a:prstGeom>
          <a:solidFill>
            <a:srgbClr val="FFFFFF"/>
          </a:solidFill>
          <a:ln w="9525">
            <a:solidFill>
              <a:srgbClr val="8D99AE"/>
            </a:solidFill>
            <a:prstDash val="solid"/>
          </a:ln>
        </p:spPr>
      </p:sp>
      <p:sp>
        <p:nvSpPr>
          <p:cNvPr id="4" name="Shape 2"/>
          <p:cNvSpPr/>
          <p:nvPr/>
        </p:nvSpPr>
        <p:spPr>
          <a:xfrm>
            <a:off x="530352" y="1399032"/>
            <a:ext cx="146304" cy="146304"/>
          </a:xfrm>
          <a:prstGeom prst="ellipse">
            <a:avLst/>
          </a:prstGeom>
          <a:solidFill>
            <a:srgbClr val="D90429"/>
          </a:solidFill>
          <a:ln/>
        </p:spPr>
      </p:sp>
      <p:sp>
        <p:nvSpPr>
          <p:cNvPr id="5" name="Text 3"/>
          <p:cNvSpPr/>
          <p:nvPr/>
        </p:nvSpPr>
        <p:spPr>
          <a:xfrm>
            <a:off x="475488" y="1618488"/>
            <a:ext cx="1331366" cy="365760"/>
          </a:xfrm>
          <a:prstGeom prst="rect">
            <a:avLst/>
          </a:prstGeom>
          <a:noFill/>
          <a:ln/>
        </p:spPr>
        <p:txBody>
          <a:bodyPr wrap="square" lIns="0" tIns="0" rIns="0" bIns="0" rtlCol="0" anchor="t">
            <a:normAutofit/>
          </a:bodyPr>
          <a:lstStyle/>
          <a:p>
            <a:pPr algn="l" indent="0" marL="0">
              <a:buNone/>
            </a:pPr>
            <a:r>
              <a:rPr lang="en-US" sz="1300" b="1" dirty="0">
                <a:solidFill>
                  <a:srgbClr val="2B2D42"/>
                </a:solidFill>
                <a:latin typeface="Cambria" pitchFamily="34" charset="0"/>
                <a:ea typeface="Cambria" pitchFamily="34" charset="-122"/>
                <a:cs typeface="Cambria" pitchFamily="34" charset="-120"/>
              </a:rPr>
              <a:t>GPT-5.x</a:t>
            </a:r>
            <a:endParaRPr lang="en-US" sz="1300" dirty="0"/>
          </a:p>
        </p:txBody>
      </p:sp>
      <p:sp>
        <p:nvSpPr>
          <p:cNvPr id="6" name="Text 4"/>
          <p:cNvSpPr/>
          <p:nvPr/>
        </p:nvSpPr>
        <p:spPr>
          <a:xfrm>
            <a:off x="475488" y="2011680"/>
            <a:ext cx="1331366" cy="320040"/>
          </a:xfrm>
          <a:prstGeom prst="rect">
            <a:avLst/>
          </a:prstGeom>
          <a:noFill/>
          <a:ln/>
        </p:spPr>
        <p:txBody>
          <a:bodyPr wrap="square" lIns="0" tIns="0" rIns="0" bIns="0" rtlCol="0" anchor="t"/>
          <a:lstStyle/>
          <a:p>
            <a:pPr algn="l" indent="0" marL="0">
              <a:buNone/>
            </a:pPr>
            <a:r>
              <a:rPr lang="en-US" sz="1050" dirty="0">
                <a:solidFill>
                  <a:srgbClr val="8D99AE"/>
                </a:solidFill>
                <a:latin typeface="Calibri" pitchFamily="34" charset="0"/>
                <a:ea typeface="Calibri" pitchFamily="34" charset="-122"/>
                <a:cs typeface="Calibri" pitchFamily="34" charset="-120"/>
              </a:rPr>
              <a:t>OpenAI</a:t>
            </a:r>
            <a:endParaRPr lang="en-US" sz="1050" dirty="0"/>
          </a:p>
        </p:txBody>
      </p:sp>
      <p:sp>
        <p:nvSpPr>
          <p:cNvPr id="7" name="Shape 5"/>
          <p:cNvSpPr/>
          <p:nvPr/>
        </p:nvSpPr>
        <p:spPr>
          <a:xfrm>
            <a:off x="2081174" y="1234440"/>
            <a:ext cx="1550822" cy="1234440"/>
          </a:xfrm>
          <a:prstGeom prst="roundRect">
            <a:avLst>
              <a:gd name="adj" fmla="val 5926"/>
            </a:avLst>
          </a:prstGeom>
          <a:solidFill>
            <a:srgbClr val="FFFFFF"/>
          </a:solidFill>
          <a:ln w="9525">
            <a:solidFill>
              <a:srgbClr val="8D99AE"/>
            </a:solidFill>
            <a:prstDash val="solid"/>
          </a:ln>
        </p:spPr>
      </p:sp>
      <p:sp>
        <p:nvSpPr>
          <p:cNvPr id="8" name="Shape 6"/>
          <p:cNvSpPr/>
          <p:nvPr/>
        </p:nvSpPr>
        <p:spPr>
          <a:xfrm>
            <a:off x="2245766" y="1399032"/>
            <a:ext cx="146304" cy="146304"/>
          </a:xfrm>
          <a:prstGeom prst="ellipse">
            <a:avLst/>
          </a:prstGeom>
          <a:solidFill>
            <a:srgbClr val="D90429"/>
          </a:solidFill>
          <a:ln/>
        </p:spPr>
      </p:sp>
      <p:sp>
        <p:nvSpPr>
          <p:cNvPr id="9" name="Text 7"/>
          <p:cNvSpPr/>
          <p:nvPr/>
        </p:nvSpPr>
        <p:spPr>
          <a:xfrm>
            <a:off x="2190902" y="1618488"/>
            <a:ext cx="1331366" cy="365760"/>
          </a:xfrm>
          <a:prstGeom prst="rect">
            <a:avLst/>
          </a:prstGeom>
          <a:noFill/>
          <a:ln/>
        </p:spPr>
        <p:txBody>
          <a:bodyPr wrap="square" lIns="0" tIns="0" rIns="0" bIns="0" rtlCol="0" anchor="t">
            <a:normAutofit/>
          </a:bodyPr>
          <a:lstStyle/>
          <a:p>
            <a:pPr algn="l" indent="0" marL="0">
              <a:buNone/>
            </a:pPr>
            <a:r>
              <a:rPr lang="en-US" sz="1300" b="1" dirty="0">
                <a:solidFill>
                  <a:srgbClr val="2B2D42"/>
                </a:solidFill>
                <a:latin typeface="Cambria" pitchFamily="34" charset="0"/>
                <a:ea typeface="Cambria" pitchFamily="34" charset="-122"/>
                <a:cs typeface="Cambria" pitchFamily="34" charset="-120"/>
              </a:rPr>
              <a:t>Claude 4.x</a:t>
            </a:r>
            <a:endParaRPr lang="en-US" sz="1300" dirty="0"/>
          </a:p>
        </p:txBody>
      </p:sp>
      <p:sp>
        <p:nvSpPr>
          <p:cNvPr id="10" name="Text 8"/>
          <p:cNvSpPr/>
          <p:nvPr/>
        </p:nvSpPr>
        <p:spPr>
          <a:xfrm>
            <a:off x="2190902" y="2011680"/>
            <a:ext cx="1331366" cy="320040"/>
          </a:xfrm>
          <a:prstGeom prst="rect">
            <a:avLst/>
          </a:prstGeom>
          <a:noFill/>
          <a:ln/>
        </p:spPr>
        <p:txBody>
          <a:bodyPr wrap="square" lIns="0" tIns="0" rIns="0" bIns="0" rtlCol="0" anchor="t"/>
          <a:lstStyle/>
          <a:p>
            <a:pPr algn="l" indent="0" marL="0">
              <a:buNone/>
            </a:pPr>
            <a:r>
              <a:rPr lang="en-US" sz="1050" dirty="0">
                <a:solidFill>
                  <a:srgbClr val="8D99AE"/>
                </a:solidFill>
                <a:latin typeface="Calibri" pitchFamily="34" charset="0"/>
                <a:ea typeface="Calibri" pitchFamily="34" charset="-122"/>
                <a:cs typeface="Calibri" pitchFamily="34" charset="-120"/>
              </a:rPr>
              <a:t>Anthropic</a:t>
            </a:r>
            <a:endParaRPr lang="en-US" sz="1050" dirty="0"/>
          </a:p>
        </p:txBody>
      </p:sp>
      <p:sp>
        <p:nvSpPr>
          <p:cNvPr id="11" name="Shape 9"/>
          <p:cNvSpPr/>
          <p:nvPr/>
        </p:nvSpPr>
        <p:spPr>
          <a:xfrm>
            <a:off x="3796589" y="1234440"/>
            <a:ext cx="1550822" cy="1234440"/>
          </a:xfrm>
          <a:prstGeom prst="roundRect">
            <a:avLst>
              <a:gd name="adj" fmla="val 5926"/>
            </a:avLst>
          </a:prstGeom>
          <a:solidFill>
            <a:srgbClr val="FFFFFF"/>
          </a:solidFill>
          <a:ln w="9525">
            <a:solidFill>
              <a:srgbClr val="8D99AE"/>
            </a:solidFill>
            <a:prstDash val="solid"/>
          </a:ln>
        </p:spPr>
      </p:sp>
      <p:sp>
        <p:nvSpPr>
          <p:cNvPr id="12" name="Shape 10"/>
          <p:cNvSpPr/>
          <p:nvPr/>
        </p:nvSpPr>
        <p:spPr>
          <a:xfrm>
            <a:off x="3961181" y="1399032"/>
            <a:ext cx="146304" cy="146304"/>
          </a:xfrm>
          <a:prstGeom prst="ellipse">
            <a:avLst/>
          </a:prstGeom>
          <a:solidFill>
            <a:srgbClr val="D90429"/>
          </a:solidFill>
          <a:ln/>
        </p:spPr>
      </p:sp>
      <p:sp>
        <p:nvSpPr>
          <p:cNvPr id="13" name="Text 11"/>
          <p:cNvSpPr/>
          <p:nvPr/>
        </p:nvSpPr>
        <p:spPr>
          <a:xfrm>
            <a:off x="3906317" y="1618488"/>
            <a:ext cx="1331366" cy="365760"/>
          </a:xfrm>
          <a:prstGeom prst="rect">
            <a:avLst/>
          </a:prstGeom>
          <a:noFill/>
          <a:ln/>
        </p:spPr>
        <p:txBody>
          <a:bodyPr wrap="square" lIns="0" tIns="0" rIns="0" bIns="0" rtlCol="0" anchor="t">
            <a:normAutofit/>
          </a:bodyPr>
          <a:lstStyle/>
          <a:p>
            <a:pPr algn="l" indent="0" marL="0">
              <a:buNone/>
            </a:pPr>
            <a:r>
              <a:rPr lang="en-US" sz="1300" b="1" dirty="0">
                <a:solidFill>
                  <a:srgbClr val="2B2D42"/>
                </a:solidFill>
                <a:latin typeface="Cambria" pitchFamily="34" charset="0"/>
                <a:ea typeface="Cambria" pitchFamily="34" charset="-122"/>
                <a:cs typeface="Cambria" pitchFamily="34" charset="-120"/>
              </a:rPr>
              <a:t>Gemini 3.x</a:t>
            </a:r>
            <a:endParaRPr lang="en-US" sz="1300" dirty="0"/>
          </a:p>
        </p:txBody>
      </p:sp>
      <p:sp>
        <p:nvSpPr>
          <p:cNvPr id="14" name="Text 12"/>
          <p:cNvSpPr/>
          <p:nvPr/>
        </p:nvSpPr>
        <p:spPr>
          <a:xfrm>
            <a:off x="3906317" y="2011680"/>
            <a:ext cx="1331366" cy="320040"/>
          </a:xfrm>
          <a:prstGeom prst="rect">
            <a:avLst/>
          </a:prstGeom>
          <a:noFill/>
          <a:ln/>
        </p:spPr>
        <p:txBody>
          <a:bodyPr wrap="square" lIns="0" tIns="0" rIns="0" bIns="0" rtlCol="0" anchor="t"/>
          <a:lstStyle/>
          <a:p>
            <a:pPr algn="l" indent="0" marL="0">
              <a:buNone/>
            </a:pPr>
            <a:r>
              <a:rPr lang="en-US" sz="1050" dirty="0">
                <a:solidFill>
                  <a:srgbClr val="8D99AE"/>
                </a:solidFill>
                <a:latin typeface="Calibri" pitchFamily="34" charset="0"/>
                <a:ea typeface="Calibri" pitchFamily="34" charset="-122"/>
                <a:cs typeface="Calibri" pitchFamily="34" charset="-120"/>
              </a:rPr>
              <a:t>Google</a:t>
            </a:r>
            <a:endParaRPr lang="en-US" sz="1050" dirty="0"/>
          </a:p>
        </p:txBody>
      </p:sp>
      <p:sp>
        <p:nvSpPr>
          <p:cNvPr id="15" name="Shape 13"/>
          <p:cNvSpPr/>
          <p:nvPr/>
        </p:nvSpPr>
        <p:spPr>
          <a:xfrm>
            <a:off x="5512003" y="1234440"/>
            <a:ext cx="1550822" cy="1234440"/>
          </a:xfrm>
          <a:prstGeom prst="roundRect">
            <a:avLst>
              <a:gd name="adj" fmla="val 5926"/>
            </a:avLst>
          </a:prstGeom>
          <a:solidFill>
            <a:srgbClr val="FFFFFF"/>
          </a:solidFill>
          <a:ln w="9525">
            <a:solidFill>
              <a:srgbClr val="8D99AE"/>
            </a:solidFill>
            <a:prstDash val="solid"/>
          </a:ln>
        </p:spPr>
      </p:sp>
      <p:sp>
        <p:nvSpPr>
          <p:cNvPr id="16" name="Shape 14"/>
          <p:cNvSpPr/>
          <p:nvPr/>
        </p:nvSpPr>
        <p:spPr>
          <a:xfrm>
            <a:off x="5676595" y="1399032"/>
            <a:ext cx="146304" cy="146304"/>
          </a:xfrm>
          <a:prstGeom prst="ellipse">
            <a:avLst/>
          </a:prstGeom>
          <a:solidFill>
            <a:srgbClr val="D90429"/>
          </a:solidFill>
          <a:ln/>
        </p:spPr>
      </p:sp>
      <p:sp>
        <p:nvSpPr>
          <p:cNvPr id="17" name="Text 15"/>
          <p:cNvSpPr/>
          <p:nvPr/>
        </p:nvSpPr>
        <p:spPr>
          <a:xfrm>
            <a:off x="5621731" y="1618488"/>
            <a:ext cx="1331366" cy="365760"/>
          </a:xfrm>
          <a:prstGeom prst="rect">
            <a:avLst/>
          </a:prstGeom>
          <a:noFill/>
          <a:ln/>
        </p:spPr>
        <p:txBody>
          <a:bodyPr wrap="square" lIns="0" tIns="0" rIns="0" bIns="0" rtlCol="0" anchor="t">
            <a:normAutofit/>
          </a:bodyPr>
          <a:lstStyle/>
          <a:p>
            <a:pPr algn="l" indent="0" marL="0">
              <a:buNone/>
            </a:pPr>
            <a:r>
              <a:rPr lang="en-US" sz="1300" b="1" dirty="0">
                <a:solidFill>
                  <a:srgbClr val="2B2D42"/>
                </a:solidFill>
                <a:latin typeface="Cambria" pitchFamily="34" charset="0"/>
                <a:ea typeface="Cambria" pitchFamily="34" charset="-122"/>
                <a:cs typeface="Cambria" pitchFamily="34" charset="-120"/>
              </a:rPr>
              <a:t>Grok 4.x</a:t>
            </a:r>
            <a:endParaRPr lang="en-US" sz="1300" dirty="0"/>
          </a:p>
        </p:txBody>
      </p:sp>
      <p:sp>
        <p:nvSpPr>
          <p:cNvPr id="18" name="Text 16"/>
          <p:cNvSpPr/>
          <p:nvPr/>
        </p:nvSpPr>
        <p:spPr>
          <a:xfrm>
            <a:off x="5621731" y="2011680"/>
            <a:ext cx="1331366" cy="320040"/>
          </a:xfrm>
          <a:prstGeom prst="rect">
            <a:avLst/>
          </a:prstGeom>
          <a:noFill/>
          <a:ln/>
        </p:spPr>
        <p:txBody>
          <a:bodyPr wrap="square" lIns="0" tIns="0" rIns="0" bIns="0" rtlCol="0" anchor="t"/>
          <a:lstStyle/>
          <a:p>
            <a:pPr algn="l" indent="0" marL="0">
              <a:buNone/>
            </a:pPr>
            <a:r>
              <a:rPr lang="en-US" sz="1050" dirty="0">
                <a:solidFill>
                  <a:srgbClr val="8D99AE"/>
                </a:solidFill>
                <a:latin typeface="Calibri" pitchFamily="34" charset="0"/>
                <a:ea typeface="Calibri" pitchFamily="34" charset="-122"/>
                <a:cs typeface="Calibri" pitchFamily="34" charset="-120"/>
              </a:rPr>
              <a:t>xAI</a:t>
            </a:r>
            <a:endParaRPr lang="en-US" sz="1050" dirty="0"/>
          </a:p>
        </p:txBody>
      </p:sp>
      <p:sp>
        <p:nvSpPr>
          <p:cNvPr id="19" name="Shape 17"/>
          <p:cNvSpPr/>
          <p:nvPr/>
        </p:nvSpPr>
        <p:spPr>
          <a:xfrm>
            <a:off x="7227418" y="1234440"/>
            <a:ext cx="1550822" cy="1234440"/>
          </a:xfrm>
          <a:prstGeom prst="roundRect">
            <a:avLst>
              <a:gd name="adj" fmla="val 5926"/>
            </a:avLst>
          </a:prstGeom>
          <a:solidFill>
            <a:srgbClr val="FFFFFF"/>
          </a:solidFill>
          <a:ln w="9525">
            <a:solidFill>
              <a:srgbClr val="8D99AE"/>
            </a:solidFill>
            <a:prstDash val="solid"/>
          </a:ln>
        </p:spPr>
      </p:sp>
      <p:sp>
        <p:nvSpPr>
          <p:cNvPr id="20" name="Shape 18"/>
          <p:cNvSpPr/>
          <p:nvPr/>
        </p:nvSpPr>
        <p:spPr>
          <a:xfrm>
            <a:off x="7392010" y="1399032"/>
            <a:ext cx="146304" cy="146304"/>
          </a:xfrm>
          <a:prstGeom prst="ellipse">
            <a:avLst/>
          </a:prstGeom>
          <a:solidFill>
            <a:srgbClr val="D90429"/>
          </a:solidFill>
          <a:ln/>
        </p:spPr>
      </p:sp>
      <p:sp>
        <p:nvSpPr>
          <p:cNvPr id="21" name="Text 19"/>
          <p:cNvSpPr/>
          <p:nvPr/>
        </p:nvSpPr>
        <p:spPr>
          <a:xfrm>
            <a:off x="7337146" y="1618488"/>
            <a:ext cx="1331366" cy="365760"/>
          </a:xfrm>
          <a:prstGeom prst="rect">
            <a:avLst/>
          </a:prstGeom>
          <a:noFill/>
          <a:ln/>
        </p:spPr>
        <p:txBody>
          <a:bodyPr wrap="square" lIns="0" tIns="0" rIns="0" bIns="0" rtlCol="0" anchor="t">
            <a:normAutofit/>
          </a:bodyPr>
          <a:lstStyle/>
          <a:p>
            <a:pPr algn="l" indent="0" marL="0">
              <a:buNone/>
            </a:pPr>
            <a:r>
              <a:rPr lang="en-US" sz="1300" b="1" dirty="0">
                <a:solidFill>
                  <a:srgbClr val="2B2D42"/>
                </a:solidFill>
                <a:latin typeface="Cambria" pitchFamily="34" charset="0"/>
                <a:ea typeface="Cambria" pitchFamily="34" charset="-122"/>
                <a:cs typeface="Cambria" pitchFamily="34" charset="-120"/>
              </a:rPr>
              <a:t>DeepSeek V3/R1</a:t>
            </a:r>
            <a:endParaRPr lang="en-US" sz="1300" dirty="0"/>
          </a:p>
        </p:txBody>
      </p:sp>
      <p:sp>
        <p:nvSpPr>
          <p:cNvPr id="22" name="Shape 20"/>
          <p:cNvSpPr/>
          <p:nvPr/>
        </p:nvSpPr>
        <p:spPr>
          <a:xfrm>
            <a:off x="365760" y="2670048"/>
            <a:ext cx="1550822" cy="1234440"/>
          </a:xfrm>
          <a:prstGeom prst="roundRect">
            <a:avLst>
              <a:gd name="adj" fmla="val 5926"/>
            </a:avLst>
          </a:prstGeom>
          <a:solidFill>
            <a:srgbClr val="FFFFFF"/>
          </a:solidFill>
          <a:ln w="9525">
            <a:solidFill>
              <a:srgbClr val="8D99AE"/>
            </a:solidFill>
            <a:prstDash val="solid"/>
          </a:ln>
        </p:spPr>
      </p:sp>
      <p:sp>
        <p:nvSpPr>
          <p:cNvPr id="23" name="Shape 21"/>
          <p:cNvSpPr/>
          <p:nvPr/>
        </p:nvSpPr>
        <p:spPr>
          <a:xfrm>
            <a:off x="530352" y="2834640"/>
            <a:ext cx="146304" cy="146304"/>
          </a:xfrm>
          <a:prstGeom prst="ellipse">
            <a:avLst/>
          </a:prstGeom>
          <a:solidFill>
            <a:srgbClr val="D90429"/>
          </a:solidFill>
          <a:ln/>
        </p:spPr>
      </p:sp>
      <p:sp>
        <p:nvSpPr>
          <p:cNvPr id="24" name="Text 22"/>
          <p:cNvSpPr/>
          <p:nvPr/>
        </p:nvSpPr>
        <p:spPr>
          <a:xfrm>
            <a:off x="475488" y="3054096"/>
            <a:ext cx="1331366" cy="365760"/>
          </a:xfrm>
          <a:prstGeom prst="rect">
            <a:avLst/>
          </a:prstGeom>
          <a:noFill/>
          <a:ln/>
        </p:spPr>
        <p:txBody>
          <a:bodyPr wrap="square" lIns="0" tIns="0" rIns="0" bIns="0" rtlCol="0" anchor="t">
            <a:normAutofit/>
          </a:bodyPr>
          <a:lstStyle/>
          <a:p>
            <a:pPr algn="l" indent="0" marL="0">
              <a:buNone/>
            </a:pPr>
            <a:r>
              <a:rPr lang="en-US" sz="1300" b="1" dirty="0">
                <a:solidFill>
                  <a:srgbClr val="2B2D42"/>
                </a:solidFill>
                <a:latin typeface="Cambria" pitchFamily="34" charset="0"/>
                <a:ea typeface="Cambria" pitchFamily="34" charset="-122"/>
                <a:cs typeface="Cambria" pitchFamily="34" charset="-120"/>
              </a:rPr>
              <a:t>Qwen 3</a:t>
            </a:r>
            <a:endParaRPr lang="en-US" sz="1300" dirty="0"/>
          </a:p>
        </p:txBody>
      </p:sp>
      <p:sp>
        <p:nvSpPr>
          <p:cNvPr id="25" name="Shape 23"/>
          <p:cNvSpPr/>
          <p:nvPr/>
        </p:nvSpPr>
        <p:spPr>
          <a:xfrm>
            <a:off x="2081174" y="2670048"/>
            <a:ext cx="1550822" cy="1234440"/>
          </a:xfrm>
          <a:prstGeom prst="roundRect">
            <a:avLst>
              <a:gd name="adj" fmla="val 5926"/>
            </a:avLst>
          </a:prstGeom>
          <a:solidFill>
            <a:srgbClr val="FFFFFF"/>
          </a:solidFill>
          <a:ln w="9525">
            <a:solidFill>
              <a:srgbClr val="8D99AE"/>
            </a:solidFill>
            <a:prstDash val="solid"/>
          </a:ln>
        </p:spPr>
      </p:sp>
      <p:sp>
        <p:nvSpPr>
          <p:cNvPr id="26" name="Shape 24"/>
          <p:cNvSpPr/>
          <p:nvPr/>
        </p:nvSpPr>
        <p:spPr>
          <a:xfrm>
            <a:off x="2245766" y="2834640"/>
            <a:ext cx="146304" cy="146304"/>
          </a:xfrm>
          <a:prstGeom prst="ellipse">
            <a:avLst/>
          </a:prstGeom>
          <a:solidFill>
            <a:srgbClr val="D90429"/>
          </a:solidFill>
          <a:ln/>
        </p:spPr>
      </p:sp>
      <p:sp>
        <p:nvSpPr>
          <p:cNvPr id="27" name="Text 25"/>
          <p:cNvSpPr/>
          <p:nvPr/>
        </p:nvSpPr>
        <p:spPr>
          <a:xfrm>
            <a:off x="2190902" y="3054096"/>
            <a:ext cx="1331366" cy="365760"/>
          </a:xfrm>
          <a:prstGeom prst="rect">
            <a:avLst/>
          </a:prstGeom>
          <a:noFill/>
          <a:ln/>
        </p:spPr>
        <p:txBody>
          <a:bodyPr wrap="square" lIns="0" tIns="0" rIns="0" bIns="0" rtlCol="0" anchor="t">
            <a:normAutofit/>
          </a:bodyPr>
          <a:lstStyle/>
          <a:p>
            <a:pPr algn="l" indent="0" marL="0">
              <a:buNone/>
            </a:pPr>
            <a:r>
              <a:rPr lang="en-US" sz="1300" b="1" dirty="0">
                <a:solidFill>
                  <a:srgbClr val="2B2D42"/>
                </a:solidFill>
                <a:latin typeface="Cambria" pitchFamily="34" charset="0"/>
                <a:ea typeface="Cambria" pitchFamily="34" charset="-122"/>
                <a:cs typeface="Cambria" pitchFamily="34" charset="-120"/>
              </a:rPr>
              <a:t>Llama 4</a:t>
            </a:r>
            <a:endParaRPr lang="en-US" sz="1300" dirty="0"/>
          </a:p>
        </p:txBody>
      </p:sp>
      <p:sp>
        <p:nvSpPr>
          <p:cNvPr id="28" name="Shape 26"/>
          <p:cNvSpPr/>
          <p:nvPr/>
        </p:nvSpPr>
        <p:spPr>
          <a:xfrm>
            <a:off x="3796589" y="2670048"/>
            <a:ext cx="1550822" cy="1234440"/>
          </a:xfrm>
          <a:prstGeom prst="roundRect">
            <a:avLst>
              <a:gd name="adj" fmla="val 5926"/>
            </a:avLst>
          </a:prstGeom>
          <a:solidFill>
            <a:srgbClr val="FFFFFF"/>
          </a:solidFill>
          <a:ln w="9525">
            <a:solidFill>
              <a:srgbClr val="8D99AE"/>
            </a:solidFill>
            <a:prstDash val="solid"/>
          </a:ln>
        </p:spPr>
      </p:sp>
      <p:sp>
        <p:nvSpPr>
          <p:cNvPr id="29" name="Shape 27"/>
          <p:cNvSpPr/>
          <p:nvPr/>
        </p:nvSpPr>
        <p:spPr>
          <a:xfrm>
            <a:off x="3961181" y="2834640"/>
            <a:ext cx="146304" cy="146304"/>
          </a:xfrm>
          <a:prstGeom prst="ellipse">
            <a:avLst/>
          </a:prstGeom>
          <a:solidFill>
            <a:srgbClr val="D90429"/>
          </a:solidFill>
          <a:ln/>
        </p:spPr>
      </p:sp>
      <p:sp>
        <p:nvSpPr>
          <p:cNvPr id="30" name="Text 28"/>
          <p:cNvSpPr/>
          <p:nvPr/>
        </p:nvSpPr>
        <p:spPr>
          <a:xfrm>
            <a:off x="3906317" y="3054096"/>
            <a:ext cx="1331366" cy="365760"/>
          </a:xfrm>
          <a:prstGeom prst="rect">
            <a:avLst/>
          </a:prstGeom>
          <a:noFill/>
          <a:ln/>
        </p:spPr>
        <p:txBody>
          <a:bodyPr wrap="square" lIns="0" tIns="0" rIns="0" bIns="0" rtlCol="0" anchor="t">
            <a:normAutofit/>
          </a:bodyPr>
          <a:lstStyle/>
          <a:p>
            <a:pPr algn="l" indent="0" marL="0">
              <a:buNone/>
            </a:pPr>
            <a:r>
              <a:rPr lang="en-US" sz="1300" b="1" dirty="0">
                <a:solidFill>
                  <a:srgbClr val="2B2D42"/>
                </a:solidFill>
                <a:latin typeface="Cambria" pitchFamily="34" charset="0"/>
                <a:ea typeface="Cambria" pitchFamily="34" charset="-122"/>
                <a:cs typeface="Cambria" pitchFamily="34" charset="-120"/>
              </a:rPr>
              <a:t>Mistral Large</a:t>
            </a:r>
            <a:endParaRPr lang="en-US" sz="1300" dirty="0"/>
          </a:p>
        </p:txBody>
      </p:sp>
      <p:sp>
        <p:nvSpPr>
          <p:cNvPr id="31" name="Shape 29"/>
          <p:cNvSpPr/>
          <p:nvPr/>
        </p:nvSpPr>
        <p:spPr>
          <a:xfrm>
            <a:off x="5512003" y="2670048"/>
            <a:ext cx="1550822" cy="1234440"/>
          </a:xfrm>
          <a:prstGeom prst="roundRect">
            <a:avLst>
              <a:gd name="adj" fmla="val 5926"/>
            </a:avLst>
          </a:prstGeom>
          <a:solidFill>
            <a:srgbClr val="FFFFFF"/>
          </a:solidFill>
          <a:ln w="9525">
            <a:solidFill>
              <a:srgbClr val="8D99AE"/>
            </a:solidFill>
            <a:prstDash val="solid"/>
          </a:ln>
        </p:spPr>
      </p:sp>
      <p:sp>
        <p:nvSpPr>
          <p:cNvPr id="32" name="Shape 30"/>
          <p:cNvSpPr/>
          <p:nvPr/>
        </p:nvSpPr>
        <p:spPr>
          <a:xfrm>
            <a:off x="5676595" y="2834640"/>
            <a:ext cx="146304" cy="146304"/>
          </a:xfrm>
          <a:prstGeom prst="ellipse">
            <a:avLst/>
          </a:prstGeom>
          <a:solidFill>
            <a:srgbClr val="D90429"/>
          </a:solidFill>
          <a:ln/>
        </p:spPr>
      </p:sp>
      <p:sp>
        <p:nvSpPr>
          <p:cNvPr id="33" name="Text 31"/>
          <p:cNvSpPr/>
          <p:nvPr/>
        </p:nvSpPr>
        <p:spPr>
          <a:xfrm>
            <a:off x="5621731" y="3054096"/>
            <a:ext cx="1331366" cy="365760"/>
          </a:xfrm>
          <a:prstGeom prst="rect">
            <a:avLst/>
          </a:prstGeom>
          <a:noFill/>
          <a:ln/>
        </p:spPr>
        <p:txBody>
          <a:bodyPr wrap="square" lIns="0" tIns="0" rIns="0" bIns="0" rtlCol="0" anchor="t">
            <a:normAutofit/>
          </a:bodyPr>
          <a:lstStyle/>
          <a:p>
            <a:pPr algn="l" indent="0" marL="0">
              <a:buNone/>
            </a:pPr>
            <a:r>
              <a:rPr lang="en-US" sz="1300" b="1" dirty="0">
                <a:solidFill>
                  <a:srgbClr val="2B2D42"/>
                </a:solidFill>
                <a:latin typeface="Cambria" pitchFamily="34" charset="0"/>
                <a:ea typeface="Cambria" pitchFamily="34" charset="-122"/>
                <a:cs typeface="Cambria" pitchFamily="34" charset="-120"/>
              </a:rPr>
              <a:t>GLM 5</a:t>
            </a:r>
            <a:endParaRPr lang="en-US" sz="1300" dirty="0"/>
          </a:p>
        </p:txBody>
      </p:sp>
      <p:sp>
        <p:nvSpPr>
          <p:cNvPr id="34" name="Shape 32"/>
          <p:cNvSpPr/>
          <p:nvPr/>
        </p:nvSpPr>
        <p:spPr>
          <a:xfrm>
            <a:off x="7227418" y="2670048"/>
            <a:ext cx="1550822" cy="1234440"/>
          </a:xfrm>
          <a:prstGeom prst="roundRect">
            <a:avLst>
              <a:gd name="adj" fmla="val 5926"/>
            </a:avLst>
          </a:prstGeom>
          <a:solidFill>
            <a:srgbClr val="FFFFFF"/>
          </a:solidFill>
          <a:ln w="9525">
            <a:solidFill>
              <a:srgbClr val="8D99AE"/>
            </a:solidFill>
            <a:prstDash val="solid"/>
          </a:ln>
        </p:spPr>
      </p:sp>
      <p:sp>
        <p:nvSpPr>
          <p:cNvPr id="35" name="Shape 33"/>
          <p:cNvSpPr/>
          <p:nvPr/>
        </p:nvSpPr>
        <p:spPr>
          <a:xfrm>
            <a:off x="7392010" y="2834640"/>
            <a:ext cx="146304" cy="146304"/>
          </a:xfrm>
          <a:prstGeom prst="ellipse">
            <a:avLst/>
          </a:prstGeom>
          <a:solidFill>
            <a:srgbClr val="D90429"/>
          </a:solidFill>
          <a:ln/>
        </p:spPr>
      </p:sp>
      <p:sp>
        <p:nvSpPr>
          <p:cNvPr id="36" name="Text 34"/>
          <p:cNvSpPr/>
          <p:nvPr/>
        </p:nvSpPr>
        <p:spPr>
          <a:xfrm>
            <a:off x="7337146" y="3054096"/>
            <a:ext cx="1331366" cy="365760"/>
          </a:xfrm>
          <a:prstGeom prst="rect">
            <a:avLst/>
          </a:prstGeom>
          <a:noFill/>
          <a:ln/>
        </p:spPr>
        <p:txBody>
          <a:bodyPr wrap="square" lIns="0" tIns="0" rIns="0" bIns="0" rtlCol="0" anchor="t">
            <a:normAutofit/>
          </a:bodyPr>
          <a:lstStyle/>
          <a:p>
            <a:pPr algn="l" indent="0" marL="0">
              <a:buNone/>
            </a:pPr>
            <a:r>
              <a:rPr lang="en-US" sz="1300" b="1" dirty="0">
                <a:solidFill>
                  <a:srgbClr val="2B2D42"/>
                </a:solidFill>
                <a:latin typeface="Cambria" pitchFamily="34" charset="0"/>
                <a:ea typeface="Cambria" pitchFamily="34" charset="-122"/>
                <a:cs typeface="Cambria" pitchFamily="34" charset="-120"/>
              </a:rPr>
              <a:t>Cohere Command</a:t>
            </a:r>
            <a:endParaRPr lang="en-US" sz="1300" dirty="0"/>
          </a:p>
        </p:txBody>
      </p:sp>
      <p:sp>
        <p:nvSpPr>
          <p:cNvPr id="37" name="Shape 35"/>
          <p:cNvSpPr/>
          <p:nvPr/>
        </p:nvSpPr>
        <p:spPr>
          <a:xfrm>
            <a:off x="8503920" y="4663440"/>
            <a:ext cx="365760" cy="365760"/>
          </a:xfrm>
          <a:prstGeom prst="ellipse">
            <a:avLst/>
          </a:prstGeom>
          <a:solidFill>
            <a:srgbClr val="D90429"/>
          </a:solidFill>
          <a:ln/>
        </p:spPr>
      </p:sp>
      <p:sp>
        <p:nvSpPr>
          <p:cNvPr id="38" name="Text 36"/>
          <p:cNvSpPr/>
          <p:nvPr/>
        </p:nvSpPr>
        <p:spPr>
          <a:xfrm>
            <a:off x="8503920" y="46634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20040"/>
            <a:ext cx="8412480" cy="685800"/>
          </a:xfrm>
          <a:prstGeom prst="rect">
            <a:avLst/>
          </a:prstGeom>
          <a:noFill/>
          <a:ln/>
        </p:spPr>
        <p:txBody>
          <a:bodyPr wrap="square" lIns="0" tIns="0" rIns="0" bIns="0" rtlCol="0" anchor="t">
            <a:normAutofit/>
          </a:bodyPr>
          <a:lstStyle/>
          <a:p>
            <a:pPr algn="l" indent="0" marL="0">
              <a:buNone/>
            </a:pPr>
            <a:r>
              <a:rPr lang="en-US" sz="3000" b="1" dirty="0">
                <a:solidFill>
                  <a:srgbClr val="2B2D42"/>
                </a:solidFill>
                <a:latin typeface="Cambria" pitchFamily="34" charset="0"/>
                <a:ea typeface="Cambria" pitchFamily="34" charset="-122"/>
                <a:cs typeface="Cambria" pitchFamily="34" charset="-120"/>
              </a:rPr>
              <a:t>Most Talked-About LLMs at U.S. Companies Right Now</a:t>
            </a:r>
            <a:endParaRPr lang="en-US" sz="3000" dirty="0"/>
          </a:p>
        </p:txBody>
      </p:sp>
      <p:sp>
        <p:nvSpPr>
          <p:cNvPr id="3" name="Shape 1"/>
          <p:cNvSpPr/>
          <p:nvPr/>
        </p:nvSpPr>
        <p:spPr>
          <a:xfrm>
            <a:off x="548640" y="1280160"/>
            <a:ext cx="502920" cy="502920"/>
          </a:xfrm>
          <a:prstGeom prst="ellipse">
            <a:avLst/>
          </a:prstGeom>
          <a:solidFill>
            <a:srgbClr val="D90429"/>
          </a:solidFill>
          <a:ln/>
        </p:spPr>
      </p:sp>
      <p:sp>
        <p:nvSpPr>
          <p:cNvPr id="4" name="Text 2"/>
          <p:cNvSpPr/>
          <p:nvPr/>
        </p:nvSpPr>
        <p:spPr>
          <a:xfrm>
            <a:off x="548640" y="1280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5" name="Text 3"/>
          <p:cNvSpPr/>
          <p:nvPr/>
        </p:nvSpPr>
        <p:spPr>
          <a:xfrm>
            <a:off x="1280160" y="1280160"/>
            <a:ext cx="5943600" cy="502920"/>
          </a:xfrm>
          <a:prstGeom prst="rect">
            <a:avLst/>
          </a:prstGeom>
          <a:noFill/>
          <a:ln/>
        </p:spPr>
        <p:txBody>
          <a:bodyPr wrap="square" lIns="0" tIns="0" rIns="0" bIns="0" rtlCol="0" anchor="ctr"/>
          <a:lstStyle/>
          <a:p>
            <a:pPr algn="l" indent="0" marL="0">
              <a:buNone/>
            </a:pPr>
            <a:r>
              <a:rPr lang="en-US" sz="2000" b="1" dirty="0">
                <a:solidFill>
                  <a:srgbClr val="2B2D42"/>
                </a:solidFill>
                <a:latin typeface="Cambria" pitchFamily="34" charset="0"/>
                <a:ea typeface="Cambria" pitchFamily="34" charset="-122"/>
                <a:cs typeface="Cambria" pitchFamily="34" charset="-120"/>
              </a:rPr>
              <a:t>GPT-5.x</a:t>
            </a:r>
            <a:endParaRPr lang="en-US" sz="2000" dirty="0"/>
          </a:p>
        </p:txBody>
      </p:sp>
      <p:sp>
        <p:nvSpPr>
          <p:cNvPr id="6" name="Shape 4"/>
          <p:cNvSpPr/>
          <p:nvPr/>
        </p:nvSpPr>
        <p:spPr>
          <a:xfrm>
            <a:off x="548640" y="1883664"/>
            <a:ext cx="7680960" cy="0"/>
          </a:xfrm>
          <a:prstGeom prst="line">
            <a:avLst/>
          </a:prstGeom>
          <a:noFill/>
          <a:ln w="9525">
            <a:solidFill>
              <a:srgbClr val="8D99AE">
                <a:alpha val="40000"/>
              </a:srgbClr>
            </a:solidFill>
            <a:prstDash val="solid"/>
          </a:ln>
        </p:spPr>
      </p:sp>
      <p:sp>
        <p:nvSpPr>
          <p:cNvPr id="7" name="Shape 5"/>
          <p:cNvSpPr/>
          <p:nvPr/>
        </p:nvSpPr>
        <p:spPr>
          <a:xfrm>
            <a:off x="548640" y="1920240"/>
            <a:ext cx="502920" cy="502920"/>
          </a:xfrm>
          <a:prstGeom prst="ellipse">
            <a:avLst/>
          </a:prstGeom>
          <a:solidFill>
            <a:srgbClr val="D90429"/>
          </a:solidFill>
          <a:ln/>
        </p:spPr>
      </p:sp>
      <p:sp>
        <p:nvSpPr>
          <p:cNvPr id="8" name="Text 6"/>
          <p:cNvSpPr/>
          <p:nvPr/>
        </p:nvSpPr>
        <p:spPr>
          <a:xfrm>
            <a:off x="548640" y="19202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9" name="Text 7"/>
          <p:cNvSpPr/>
          <p:nvPr/>
        </p:nvSpPr>
        <p:spPr>
          <a:xfrm>
            <a:off x="1280160" y="1920240"/>
            <a:ext cx="5943600" cy="502920"/>
          </a:xfrm>
          <a:prstGeom prst="rect">
            <a:avLst/>
          </a:prstGeom>
          <a:noFill/>
          <a:ln/>
        </p:spPr>
        <p:txBody>
          <a:bodyPr wrap="square" lIns="0" tIns="0" rIns="0" bIns="0" rtlCol="0" anchor="ctr"/>
          <a:lstStyle/>
          <a:p>
            <a:pPr algn="l" indent="0" marL="0">
              <a:buNone/>
            </a:pPr>
            <a:r>
              <a:rPr lang="en-US" sz="2000" b="1" dirty="0">
                <a:solidFill>
                  <a:srgbClr val="2B2D42"/>
                </a:solidFill>
                <a:latin typeface="Cambria" pitchFamily="34" charset="0"/>
                <a:ea typeface="Cambria" pitchFamily="34" charset="-122"/>
                <a:cs typeface="Cambria" pitchFamily="34" charset="-120"/>
              </a:rPr>
              <a:t>Claude 4.x</a:t>
            </a:r>
            <a:endParaRPr lang="en-US" sz="2000" dirty="0"/>
          </a:p>
        </p:txBody>
      </p:sp>
      <p:sp>
        <p:nvSpPr>
          <p:cNvPr id="10" name="Shape 8"/>
          <p:cNvSpPr/>
          <p:nvPr/>
        </p:nvSpPr>
        <p:spPr>
          <a:xfrm>
            <a:off x="548640" y="2523744"/>
            <a:ext cx="7680960" cy="0"/>
          </a:xfrm>
          <a:prstGeom prst="line">
            <a:avLst/>
          </a:prstGeom>
          <a:noFill/>
          <a:ln w="9525">
            <a:solidFill>
              <a:srgbClr val="8D99AE">
                <a:alpha val="40000"/>
              </a:srgbClr>
            </a:solidFill>
            <a:prstDash val="solid"/>
          </a:ln>
        </p:spPr>
      </p:sp>
      <p:sp>
        <p:nvSpPr>
          <p:cNvPr id="11" name="Shape 9"/>
          <p:cNvSpPr/>
          <p:nvPr/>
        </p:nvSpPr>
        <p:spPr>
          <a:xfrm>
            <a:off x="548640" y="2560320"/>
            <a:ext cx="502920" cy="502920"/>
          </a:xfrm>
          <a:prstGeom prst="ellipse">
            <a:avLst/>
          </a:prstGeom>
          <a:solidFill>
            <a:srgbClr val="D90429"/>
          </a:solidFill>
          <a:ln/>
        </p:spPr>
      </p:sp>
      <p:sp>
        <p:nvSpPr>
          <p:cNvPr id="12" name="Text 10"/>
          <p:cNvSpPr/>
          <p:nvPr/>
        </p:nvSpPr>
        <p:spPr>
          <a:xfrm>
            <a:off x="548640" y="25603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1"/>
          <p:cNvSpPr/>
          <p:nvPr/>
        </p:nvSpPr>
        <p:spPr>
          <a:xfrm>
            <a:off x="1280160" y="2560320"/>
            <a:ext cx="5943600" cy="502920"/>
          </a:xfrm>
          <a:prstGeom prst="rect">
            <a:avLst/>
          </a:prstGeom>
          <a:noFill/>
          <a:ln/>
        </p:spPr>
        <p:txBody>
          <a:bodyPr wrap="square" lIns="0" tIns="0" rIns="0" bIns="0" rtlCol="0" anchor="ctr"/>
          <a:lstStyle/>
          <a:p>
            <a:pPr algn="l" indent="0" marL="0">
              <a:buNone/>
            </a:pPr>
            <a:r>
              <a:rPr lang="en-US" sz="2000" b="1" dirty="0">
                <a:solidFill>
                  <a:srgbClr val="2B2D42"/>
                </a:solidFill>
                <a:latin typeface="Cambria" pitchFamily="34" charset="0"/>
                <a:ea typeface="Cambria" pitchFamily="34" charset="-122"/>
                <a:cs typeface="Cambria" pitchFamily="34" charset="-120"/>
              </a:rPr>
              <a:t>Gemini 3.x</a:t>
            </a:r>
            <a:endParaRPr lang="en-US" sz="2000" dirty="0"/>
          </a:p>
        </p:txBody>
      </p:sp>
      <p:sp>
        <p:nvSpPr>
          <p:cNvPr id="14" name="Shape 12"/>
          <p:cNvSpPr/>
          <p:nvPr/>
        </p:nvSpPr>
        <p:spPr>
          <a:xfrm>
            <a:off x="548640" y="3163824"/>
            <a:ext cx="7680960" cy="0"/>
          </a:xfrm>
          <a:prstGeom prst="line">
            <a:avLst/>
          </a:prstGeom>
          <a:noFill/>
          <a:ln w="9525">
            <a:solidFill>
              <a:srgbClr val="8D99AE">
                <a:alpha val="40000"/>
              </a:srgbClr>
            </a:solidFill>
            <a:prstDash val="solid"/>
          </a:ln>
        </p:spPr>
      </p:sp>
      <p:sp>
        <p:nvSpPr>
          <p:cNvPr id="15" name="Shape 13"/>
          <p:cNvSpPr/>
          <p:nvPr/>
        </p:nvSpPr>
        <p:spPr>
          <a:xfrm>
            <a:off x="548640" y="3200400"/>
            <a:ext cx="502920" cy="502920"/>
          </a:xfrm>
          <a:prstGeom prst="ellipse">
            <a:avLst/>
          </a:prstGeom>
          <a:solidFill>
            <a:srgbClr val="8D99AE"/>
          </a:solidFill>
          <a:ln/>
        </p:spPr>
      </p:sp>
      <p:sp>
        <p:nvSpPr>
          <p:cNvPr id="16" name="Text 14"/>
          <p:cNvSpPr/>
          <p:nvPr/>
        </p:nvSpPr>
        <p:spPr>
          <a:xfrm>
            <a:off x="548640" y="32004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7" name="Text 15"/>
          <p:cNvSpPr/>
          <p:nvPr/>
        </p:nvSpPr>
        <p:spPr>
          <a:xfrm>
            <a:off x="1280160" y="3200400"/>
            <a:ext cx="5943600" cy="502920"/>
          </a:xfrm>
          <a:prstGeom prst="rect">
            <a:avLst/>
          </a:prstGeom>
          <a:noFill/>
          <a:ln/>
        </p:spPr>
        <p:txBody>
          <a:bodyPr wrap="square" lIns="0" tIns="0" rIns="0" bIns="0" rtlCol="0" anchor="ctr"/>
          <a:lstStyle/>
          <a:p>
            <a:pPr algn="l" indent="0" marL="0">
              <a:buNone/>
            </a:pPr>
            <a:r>
              <a:rPr lang="en-US" sz="2000" b="1" dirty="0">
                <a:solidFill>
                  <a:srgbClr val="2B2D42"/>
                </a:solidFill>
                <a:latin typeface="Cambria" pitchFamily="34" charset="0"/>
                <a:ea typeface="Cambria" pitchFamily="34" charset="-122"/>
                <a:cs typeface="Cambria" pitchFamily="34" charset="-120"/>
              </a:rPr>
              <a:t>Grok 4.x</a:t>
            </a:r>
            <a:endParaRPr lang="en-US" sz="2000" dirty="0"/>
          </a:p>
        </p:txBody>
      </p:sp>
      <p:sp>
        <p:nvSpPr>
          <p:cNvPr id="18" name="Shape 16"/>
          <p:cNvSpPr/>
          <p:nvPr/>
        </p:nvSpPr>
        <p:spPr>
          <a:xfrm>
            <a:off x="548640" y="3803904"/>
            <a:ext cx="7680960" cy="0"/>
          </a:xfrm>
          <a:prstGeom prst="line">
            <a:avLst/>
          </a:prstGeom>
          <a:noFill/>
          <a:ln w="9525">
            <a:solidFill>
              <a:srgbClr val="8D99AE">
                <a:alpha val="40000"/>
              </a:srgbClr>
            </a:solidFill>
            <a:prstDash val="solid"/>
          </a:ln>
        </p:spPr>
      </p:sp>
      <p:sp>
        <p:nvSpPr>
          <p:cNvPr id="19" name="Shape 17"/>
          <p:cNvSpPr/>
          <p:nvPr/>
        </p:nvSpPr>
        <p:spPr>
          <a:xfrm>
            <a:off x="548640" y="3840480"/>
            <a:ext cx="502920" cy="502920"/>
          </a:xfrm>
          <a:prstGeom prst="ellipse">
            <a:avLst/>
          </a:prstGeom>
          <a:solidFill>
            <a:srgbClr val="8D99AE"/>
          </a:solidFill>
          <a:ln/>
        </p:spPr>
      </p:sp>
      <p:sp>
        <p:nvSpPr>
          <p:cNvPr id="20" name="Text 18"/>
          <p:cNvSpPr/>
          <p:nvPr/>
        </p:nvSpPr>
        <p:spPr>
          <a:xfrm>
            <a:off x="548640" y="38404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1" name="Text 19"/>
          <p:cNvSpPr/>
          <p:nvPr/>
        </p:nvSpPr>
        <p:spPr>
          <a:xfrm>
            <a:off x="1280160" y="3840480"/>
            <a:ext cx="5943600" cy="502920"/>
          </a:xfrm>
          <a:prstGeom prst="rect">
            <a:avLst/>
          </a:prstGeom>
          <a:noFill/>
          <a:ln/>
        </p:spPr>
        <p:txBody>
          <a:bodyPr wrap="square" lIns="0" tIns="0" rIns="0" bIns="0" rtlCol="0" anchor="ctr"/>
          <a:lstStyle/>
          <a:p>
            <a:pPr algn="l" indent="0" marL="0">
              <a:buNone/>
            </a:pPr>
            <a:r>
              <a:rPr lang="en-US" sz="2000" b="1" dirty="0">
                <a:solidFill>
                  <a:srgbClr val="2B2D42"/>
                </a:solidFill>
                <a:latin typeface="Cambria" pitchFamily="34" charset="0"/>
                <a:ea typeface="Cambria" pitchFamily="34" charset="-122"/>
                <a:cs typeface="Cambria" pitchFamily="34" charset="-120"/>
              </a:rPr>
              <a:t>DeepSeek V3/R1</a:t>
            </a:r>
            <a:endParaRPr lang="en-US" sz="2000" dirty="0"/>
          </a:p>
        </p:txBody>
      </p:sp>
      <p:sp>
        <p:nvSpPr>
          <p:cNvPr id="22" name="Text 20"/>
          <p:cNvSpPr/>
          <p:nvPr/>
        </p:nvSpPr>
        <p:spPr>
          <a:xfrm>
            <a:off x="548640" y="4526280"/>
            <a:ext cx="7680960" cy="365760"/>
          </a:xfrm>
          <a:prstGeom prst="rect">
            <a:avLst/>
          </a:prstGeom>
          <a:noFill/>
          <a:ln/>
        </p:spPr>
        <p:txBody>
          <a:bodyPr wrap="square" lIns="0" tIns="0" rIns="0" bIns="0" rtlCol="0" anchor="t"/>
          <a:lstStyle/>
          <a:p>
            <a:pPr algn="l" indent="0" marL="0">
              <a:buNone/>
            </a:pPr>
            <a:r>
              <a:rPr lang="en-US" sz="1100" i="1" dirty="0">
                <a:solidFill>
                  <a:srgbClr val="8D99AE"/>
                </a:solidFill>
                <a:latin typeface="Calibri" pitchFamily="34" charset="0"/>
                <a:ea typeface="Calibri" pitchFamily="34" charset="-122"/>
                <a:cs typeface="Calibri" pitchFamily="34" charset="-120"/>
              </a:rPr>
              <a:t>Speaker: confirm/reorder against the latest adoption data for your audience before presenting.</a:t>
            </a:r>
            <a:endParaRPr lang="en-US" sz="1100" dirty="0"/>
          </a:p>
        </p:txBody>
      </p:sp>
      <p:sp>
        <p:nvSpPr>
          <p:cNvPr id="23" name="Shape 21"/>
          <p:cNvSpPr/>
          <p:nvPr/>
        </p:nvSpPr>
        <p:spPr>
          <a:xfrm>
            <a:off x="8503920" y="4663440"/>
            <a:ext cx="365760" cy="365760"/>
          </a:xfrm>
          <a:prstGeom prst="ellipse">
            <a:avLst/>
          </a:prstGeom>
          <a:solidFill>
            <a:srgbClr val="D90429"/>
          </a:solidFill>
          <a:ln/>
        </p:spPr>
      </p:sp>
      <p:sp>
        <p:nvSpPr>
          <p:cNvPr id="24" name="Text 22"/>
          <p:cNvSpPr/>
          <p:nvPr/>
        </p:nvSpPr>
        <p:spPr>
          <a:xfrm>
            <a:off x="8503920" y="46634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20040"/>
            <a:ext cx="8412480" cy="594360"/>
          </a:xfrm>
          <a:prstGeom prst="rect">
            <a:avLst/>
          </a:prstGeom>
          <a:noFill/>
          <a:ln/>
        </p:spPr>
        <p:txBody>
          <a:bodyPr wrap="square" lIns="0" tIns="0" rIns="0" bIns="0" rtlCol="0" anchor="t"/>
          <a:lstStyle/>
          <a:p>
            <a:pPr algn="l" indent="0" marL="0">
              <a:buNone/>
            </a:pPr>
            <a:r>
              <a:rPr lang="en-US" sz="3200" b="1" dirty="0">
                <a:solidFill>
                  <a:srgbClr val="2B2D42"/>
                </a:solidFill>
                <a:latin typeface="Cambria" pitchFamily="34" charset="0"/>
                <a:ea typeface="Cambria" pitchFamily="34" charset="-122"/>
                <a:cs typeface="Cambria" pitchFamily="34" charset="-120"/>
              </a:rPr>
              <a:t>What Exactly Is an LLM?</a:t>
            </a:r>
            <a:endParaRPr lang="en-US" sz="3200" dirty="0"/>
          </a:p>
        </p:txBody>
      </p:sp>
      <p:sp>
        <p:nvSpPr>
          <p:cNvPr id="3" name="Text 1"/>
          <p:cNvSpPr/>
          <p:nvPr/>
        </p:nvSpPr>
        <p:spPr>
          <a:xfrm>
            <a:off x="365760" y="914400"/>
            <a:ext cx="8412480" cy="502920"/>
          </a:xfrm>
          <a:prstGeom prst="rect">
            <a:avLst/>
          </a:prstGeom>
          <a:noFill/>
          <a:ln/>
        </p:spPr>
        <p:txBody>
          <a:bodyPr wrap="square" lIns="0" tIns="0" rIns="0" bIns="0" rtlCol="0" anchor="t"/>
          <a:lstStyle/>
          <a:p>
            <a:pPr algn="l" indent="0" marL="0">
              <a:buNone/>
            </a:pPr>
            <a:r>
              <a:rPr lang="en-US" sz="1600" dirty="0">
                <a:solidFill>
                  <a:srgbClr val="8D99AE"/>
                </a:solidFill>
                <a:latin typeface="Calibri" pitchFamily="34" charset="0"/>
                <a:ea typeface="Calibri" pitchFamily="34" charset="-122"/>
                <a:cs typeface="Calibri" pitchFamily="34" charset="-120"/>
              </a:rPr>
              <a:t>An LLM is trained on enormous amounts of text so it can understand, generate, and reason about language.</a:t>
            </a:r>
            <a:endParaRPr lang="en-US" sz="1600" dirty="0"/>
          </a:p>
        </p:txBody>
      </p:sp>
      <p:sp>
        <p:nvSpPr>
          <p:cNvPr id="4" name="Shape 2"/>
          <p:cNvSpPr/>
          <p:nvPr/>
        </p:nvSpPr>
        <p:spPr>
          <a:xfrm>
            <a:off x="365760" y="1737360"/>
            <a:ext cx="2621280" cy="2880360"/>
          </a:xfrm>
          <a:prstGeom prst="roundRect">
            <a:avLst>
              <a:gd name="adj" fmla="val 3488"/>
            </a:avLst>
          </a:prstGeom>
          <a:solidFill>
            <a:srgbClr val="FFFFFF"/>
          </a:solidFill>
          <a:ln w="9525">
            <a:solidFill>
              <a:srgbClr val="8D99AE"/>
            </a:solidFill>
            <a:prstDash val="solid"/>
          </a:ln>
        </p:spPr>
      </p:sp>
      <p:sp>
        <p:nvSpPr>
          <p:cNvPr id="5" name="Shape 3"/>
          <p:cNvSpPr/>
          <p:nvPr/>
        </p:nvSpPr>
        <p:spPr>
          <a:xfrm>
            <a:off x="1310640" y="2103120"/>
            <a:ext cx="731520" cy="731520"/>
          </a:xfrm>
          <a:prstGeom prst="ellipse">
            <a:avLst/>
          </a:prstGeom>
          <a:solidFill>
            <a:srgbClr val="D90429"/>
          </a:solidFill>
          <a:ln/>
        </p:spPr>
      </p:sp>
      <p:sp>
        <p:nvSpPr>
          <p:cNvPr id="6" name="Shape 4"/>
          <p:cNvSpPr/>
          <p:nvPr/>
        </p:nvSpPr>
        <p:spPr>
          <a:xfrm>
            <a:off x="1420368" y="2267712"/>
            <a:ext cx="256032" cy="256032"/>
          </a:xfrm>
          <a:prstGeom prst="ellipse">
            <a:avLst/>
          </a:prstGeom>
          <a:solidFill>
            <a:srgbClr val="FFFFFF"/>
          </a:solidFill>
          <a:ln w="6350">
            <a:solidFill>
              <a:srgbClr val="D90429"/>
            </a:solidFill>
            <a:prstDash val="solid"/>
          </a:ln>
        </p:spPr>
      </p:sp>
      <p:sp>
        <p:nvSpPr>
          <p:cNvPr id="7" name="Shape 5"/>
          <p:cNvSpPr/>
          <p:nvPr/>
        </p:nvSpPr>
        <p:spPr>
          <a:xfrm>
            <a:off x="1676400" y="2267712"/>
            <a:ext cx="256032" cy="256032"/>
          </a:xfrm>
          <a:prstGeom prst="ellipse">
            <a:avLst/>
          </a:prstGeom>
          <a:solidFill>
            <a:srgbClr val="FFFFFF"/>
          </a:solidFill>
          <a:ln w="6350">
            <a:solidFill>
              <a:srgbClr val="D90429"/>
            </a:solidFill>
            <a:prstDash val="solid"/>
          </a:ln>
        </p:spPr>
      </p:sp>
      <p:sp>
        <p:nvSpPr>
          <p:cNvPr id="8" name="Text 6"/>
          <p:cNvSpPr/>
          <p:nvPr/>
        </p:nvSpPr>
        <p:spPr>
          <a:xfrm>
            <a:off x="548640" y="3108960"/>
            <a:ext cx="2255520" cy="1188720"/>
          </a:xfrm>
          <a:prstGeom prst="rect">
            <a:avLst/>
          </a:prstGeom>
          <a:noFill/>
          <a:ln/>
        </p:spPr>
        <p:txBody>
          <a:bodyPr wrap="square" lIns="0" tIns="0" rIns="0" bIns="0" rtlCol="0" anchor="t"/>
          <a:lstStyle/>
          <a:p>
            <a:pPr algn="ctr" indent="0" marL="0">
              <a:buNone/>
            </a:pPr>
            <a:r>
              <a:rPr lang="en-US" sz="1800" b="1" dirty="0">
                <a:solidFill>
                  <a:srgbClr val="2B2D42"/>
                </a:solidFill>
                <a:latin typeface="Cambria" pitchFamily="34" charset="0"/>
                <a:ea typeface="Cambria" pitchFamily="34" charset="-122"/>
                <a:cs typeface="Cambria" pitchFamily="34" charset="-120"/>
              </a:rPr>
              <a:t>The LLM is the Brain</a:t>
            </a:r>
            <a:endParaRPr lang="en-US" sz="1800" dirty="0"/>
          </a:p>
        </p:txBody>
      </p:sp>
      <p:sp>
        <p:nvSpPr>
          <p:cNvPr id="9" name="Shape 7"/>
          <p:cNvSpPr/>
          <p:nvPr/>
        </p:nvSpPr>
        <p:spPr>
          <a:xfrm>
            <a:off x="3261360" y="1737360"/>
            <a:ext cx="2621280" cy="2880360"/>
          </a:xfrm>
          <a:prstGeom prst="roundRect">
            <a:avLst>
              <a:gd name="adj" fmla="val 3488"/>
            </a:avLst>
          </a:prstGeom>
          <a:solidFill>
            <a:srgbClr val="FFFFFF"/>
          </a:solidFill>
          <a:ln w="9525">
            <a:solidFill>
              <a:srgbClr val="8D99AE"/>
            </a:solidFill>
            <a:prstDash val="solid"/>
          </a:ln>
        </p:spPr>
      </p:sp>
      <p:sp>
        <p:nvSpPr>
          <p:cNvPr id="10" name="Shape 8"/>
          <p:cNvSpPr/>
          <p:nvPr/>
        </p:nvSpPr>
        <p:spPr>
          <a:xfrm>
            <a:off x="4206240" y="2103120"/>
            <a:ext cx="731520" cy="731520"/>
          </a:xfrm>
          <a:prstGeom prst="ellipse">
            <a:avLst/>
          </a:prstGeom>
          <a:solidFill>
            <a:srgbClr val="8D99AE"/>
          </a:solidFill>
          <a:ln/>
        </p:spPr>
      </p:sp>
      <p:sp>
        <p:nvSpPr>
          <p:cNvPr id="11" name="Shape 9"/>
          <p:cNvSpPr/>
          <p:nvPr/>
        </p:nvSpPr>
        <p:spPr>
          <a:xfrm>
            <a:off x="4343400" y="2267712"/>
            <a:ext cx="457200" cy="292608"/>
          </a:xfrm>
          <a:prstGeom prst="roundRect">
            <a:avLst>
              <a:gd name="adj" fmla="val 15625"/>
            </a:avLst>
          </a:prstGeom>
          <a:solidFill>
            <a:srgbClr val="FFFFFF"/>
          </a:solidFill>
          <a:ln/>
        </p:spPr>
      </p:sp>
      <p:sp>
        <p:nvSpPr>
          <p:cNvPr id="12" name="Shape 10"/>
          <p:cNvSpPr/>
          <p:nvPr/>
        </p:nvSpPr>
        <p:spPr>
          <a:xfrm rot="2700000">
            <a:off x="4407408" y="2532888"/>
            <a:ext cx="91440" cy="91440"/>
          </a:xfrm>
          <a:prstGeom prst="rect">
            <a:avLst/>
          </a:prstGeom>
          <a:solidFill>
            <a:srgbClr val="FFFFFF"/>
          </a:solidFill>
          <a:ln/>
        </p:spPr>
      </p:sp>
      <p:sp>
        <p:nvSpPr>
          <p:cNvPr id="13" name="Text 11"/>
          <p:cNvSpPr/>
          <p:nvPr/>
        </p:nvSpPr>
        <p:spPr>
          <a:xfrm>
            <a:off x="3444240" y="3108960"/>
            <a:ext cx="2255520" cy="1188720"/>
          </a:xfrm>
          <a:prstGeom prst="rect">
            <a:avLst/>
          </a:prstGeom>
          <a:noFill/>
          <a:ln/>
        </p:spPr>
        <p:txBody>
          <a:bodyPr wrap="square" lIns="0" tIns="0" rIns="0" bIns="0" rtlCol="0" anchor="t"/>
          <a:lstStyle/>
          <a:p>
            <a:pPr algn="ctr" indent="0" marL="0">
              <a:buNone/>
            </a:pPr>
            <a:r>
              <a:rPr lang="en-US" sz="1800" b="1" dirty="0">
                <a:solidFill>
                  <a:srgbClr val="2B2D42"/>
                </a:solidFill>
                <a:latin typeface="Cambria" pitchFamily="34" charset="0"/>
                <a:ea typeface="Cambria" pitchFamily="34" charset="-122"/>
                <a:cs typeface="Cambria" pitchFamily="34" charset="-120"/>
              </a:rPr>
              <a:t>The Chatbot is the Interface</a:t>
            </a:r>
            <a:endParaRPr lang="en-US" sz="1800" dirty="0"/>
          </a:p>
        </p:txBody>
      </p:sp>
      <p:sp>
        <p:nvSpPr>
          <p:cNvPr id="14" name="Shape 12"/>
          <p:cNvSpPr/>
          <p:nvPr/>
        </p:nvSpPr>
        <p:spPr>
          <a:xfrm>
            <a:off x="6156960" y="1737360"/>
            <a:ext cx="2621280" cy="2880360"/>
          </a:xfrm>
          <a:prstGeom prst="roundRect">
            <a:avLst>
              <a:gd name="adj" fmla="val 3488"/>
            </a:avLst>
          </a:prstGeom>
          <a:solidFill>
            <a:srgbClr val="FFFFFF"/>
          </a:solidFill>
          <a:ln w="9525">
            <a:solidFill>
              <a:srgbClr val="8D99AE"/>
            </a:solidFill>
            <a:prstDash val="solid"/>
          </a:ln>
        </p:spPr>
      </p:sp>
      <p:sp>
        <p:nvSpPr>
          <p:cNvPr id="15" name="Shape 13"/>
          <p:cNvSpPr/>
          <p:nvPr/>
        </p:nvSpPr>
        <p:spPr>
          <a:xfrm>
            <a:off x="7101840" y="2103120"/>
            <a:ext cx="731520" cy="731520"/>
          </a:xfrm>
          <a:prstGeom prst="ellipse">
            <a:avLst/>
          </a:prstGeom>
          <a:solidFill>
            <a:srgbClr val="2B2D42"/>
          </a:solidFill>
          <a:ln/>
        </p:spPr>
      </p:sp>
      <p:sp>
        <p:nvSpPr>
          <p:cNvPr id="16" name="Shape 14"/>
          <p:cNvSpPr/>
          <p:nvPr/>
        </p:nvSpPr>
        <p:spPr>
          <a:xfrm>
            <a:off x="7248144" y="2395728"/>
            <a:ext cx="438912" cy="128016"/>
          </a:xfrm>
          <a:prstGeom prst="rect">
            <a:avLst/>
          </a:prstGeom>
          <a:solidFill>
            <a:srgbClr val="FFFFFF"/>
          </a:solidFill>
          <a:ln/>
        </p:spPr>
      </p:sp>
      <p:sp>
        <p:nvSpPr>
          <p:cNvPr id="17" name="Shape 15"/>
          <p:cNvSpPr/>
          <p:nvPr/>
        </p:nvSpPr>
        <p:spPr>
          <a:xfrm>
            <a:off x="7403592" y="2240280"/>
            <a:ext cx="128016" cy="438912"/>
          </a:xfrm>
          <a:prstGeom prst="rect">
            <a:avLst/>
          </a:prstGeom>
          <a:solidFill>
            <a:srgbClr val="FFFFFF"/>
          </a:solidFill>
          <a:ln/>
        </p:spPr>
      </p:sp>
      <p:sp>
        <p:nvSpPr>
          <p:cNvPr id="18" name="Text 16"/>
          <p:cNvSpPr/>
          <p:nvPr/>
        </p:nvSpPr>
        <p:spPr>
          <a:xfrm>
            <a:off x="6339840" y="3108960"/>
            <a:ext cx="2255520" cy="1188720"/>
          </a:xfrm>
          <a:prstGeom prst="rect">
            <a:avLst/>
          </a:prstGeom>
          <a:noFill/>
          <a:ln/>
        </p:spPr>
        <p:txBody>
          <a:bodyPr wrap="square" lIns="0" tIns="0" rIns="0" bIns="0" rtlCol="0" anchor="t"/>
          <a:lstStyle/>
          <a:p>
            <a:pPr algn="ctr" indent="0" marL="0">
              <a:buNone/>
            </a:pPr>
            <a:r>
              <a:rPr lang="en-US" sz="1800" b="1" dirty="0">
                <a:solidFill>
                  <a:srgbClr val="2B2D42"/>
                </a:solidFill>
                <a:latin typeface="Cambria" pitchFamily="34" charset="0"/>
                <a:ea typeface="Cambria" pitchFamily="34" charset="-122"/>
                <a:cs typeface="Cambria" pitchFamily="34" charset="-120"/>
              </a:rPr>
              <a:t>The AI Agent is the Worker</a:t>
            </a:r>
            <a:endParaRPr lang="en-US" sz="1800" dirty="0"/>
          </a:p>
        </p:txBody>
      </p:sp>
      <p:sp>
        <p:nvSpPr>
          <p:cNvPr id="19" name="Shape 17"/>
          <p:cNvSpPr/>
          <p:nvPr/>
        </p:nvSpPr>
        <p:spPr>
          <a:xfrm>
            <a:off x="8503920" y="4663440"/>
            <a:ext cx="365760" cy="365760"/>
          </a:xfrm>
          <a:prstGeom prst="ellipse">
            <a:avLst/>
          </a:prstGeom>
          <a:solidFill>
            <a:srgbClr val="D90429"/>
          </a:solidFill>
          <a:ln/>
        </p:spPr>
      </p:sp>
      <p:sp>
        <p:nvSpPr>
          <p:cNvPr id="20" name="Text 18"/>
          <p:cNvSpPr/>
          <p:nvPr/>
        </p:nvSpPr>
        <p:spPr>
          <a:xfrm>
            <a:off x="8503920" y="46634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20040"/>
            <a:ext cx="8412480" cy="640080"/>
          </a:xfrm>
          <a:prstGeom prst="rect">
            <a:avLst/>
          </a:prstGeom>
          <a:noFill/>
          <a:ln/>
        </p:spPr>
        <p:txBody>
          <a:bodyPr wrap="square" lIns="0" tIns="0" rIns="0" bIns="0" rtlCol="0" anchor="t"/>
          <a:lstStyle/>
          <a:p>
            <a:pPr algn="l" indent="0" marL="0">
              <a:buNone/>
            </a:pPr>
            <a:r>
              <a:rPr lang="en-US" sz="3200" b="1" dirty="0">
                <a:solidFill>
                  <a:srgbClr val="2B2D42"/>
                </a:solidFill>
                <a:latin typeface="Cambria" pitchFamily="34" charset="0"/>
                <a:ea typeface="Cambria" pitchFamily="34" charset="-122"/>
                <a:cs typeface="Cambria" pitchFamily="34" charset="-120"/>
              </a:rPr>
              <a:t>Putting It Together</a:t>
            </a:r>
            <a:endParaRPr lang="en-US" sz="3200" dirty="0"/>
          </a:p>
        </p:txBody>
      </p:sp>
      <p:sp>
        <p:nvSpPr>
          <p:cNvPr id="3" name="Text 1"/>
          <p:cNvSpPr/>
          <p:nvPr/>
        </p:nvSpPr>
        <p:spPr>
          <a:xfrm>
            <a:off x="365760" y="1371600"/>
            <a:ext cx="4206240" cy="3108960"/>
          </a:xfrm>
          <a:prstGeom prst="rect">
            <a:avLst/>
          </a:prstGeom>
          <a:noFill/>
          <a:ln/>
        </p:spPr>
        <p:txBody>
          <a:bodyPr wrap="square" lIns="0" tIns="0" rIns="0" bIns="0" rtlCol="0" anchor="t"/>
          <a:lstStyle/>
          <a:p>
            <a:pPr algn="l" marL="342900" indent="-342900">
              <a:spcAft>
                <a:spcPts val="1400"/>
              </a:spcAft>
              <a:buSzPct val="100000"/>
              <a:buChar char="•"/>
            </a:pPr>
            <a:r>
              <a:rPr lang="en-US" sz="1500" dirty="0">
                <a:solidFill>
                  <a:srgbClr val="2B2D42"/>
                </a:solidFill>
                <a:latin typeface="Calibri" pitchFamily="34" charset="0"/>
                <a:ea typeface="Calibri" pitchFamily="34" charset="-122"/>
                <a:cs typeface="Calibri" pitchFamily="34" charset="-120"/>
              </a:rPr>
              <a:t>ChatGPT is the application.</a:t>
            </a:r>
            <a:endParaRPr lang="en-US" sz="1500" dirty="0"/>
          </a:p>
          <a:p>
            <a:pPr algn="l" marL="342900" indent="-342900">
              <a:spcAft>
                <a:spcPts val="1400"/>
              </a:spcAft>
              <a:buSzPct val="100000"/>
              <a:buChar char="•"/>
            </a:pPr>
            <a:r>
              <a:rPr lang="en-US" sz="1500" dirty="0">
                <a:solidFill>
                  <a:srgbClr val="2B2D42"/>
                </a:solidFill>
                <a:latin typeface="Calibri" pitchFamily="34" charset="0"/>
                <a:ea typeface="Calibri" pitchFamily="34" charset="-122"/>
                <a:cs typeface="Calibri" pitchFamily="34" charset="-120"/>
              </a:rPr>
              <a:t>GPT-5.5 is the LLM powering it.</a:t>
            </a:r>
            <a:endParaRPr lang="en-US" sz="1500" dirty="0"/>
          </a:p>
          <a:p>
            <a:pPr algn="l" marL="342900" indent="-342900">
              <a:buSzPct val="100000"/>
              <a:buChar char="•"/>
            </a:pPr>
            <a:r>
              <a:rPr lang="en-US" sz="1500" dirty="0">
                <a:solidFill>
                  <a:srgbClr val="2B2D42"/>
                </a:solidFill>
                <a:latin typeface="Calibri" pitchFamily="34" charset="0"/>
                <a:ea typeface="Calibri" pitchFamily="34" charset="-122"/>
                <a:cs typeface="Calibri" pitchFamily="34" charset="-120"/>
              </a:rPr>
              <a:t>An agent built in Claude Code (or an automation platform) might use GPT-5.5, Claude, or Gemini as its brain.</a:t>
            </a:r>
            <a:endParaRPr lang="en-US" sz="1500" dirty="0"/>
          </a:p>
        </p:txBody>
      </p:sp>
      <p:sp>
        <p:nvSpPr>
          <p:cNvPr id="4" name="Shape 2"/>
          <p:cNvSpPr/>
          <p:nvPr/>
        </p:nvSpPr>
        <p:spPr>
          <a:xfrm>
            <a:off x="4800600" y="1371600"/>
            <a:ext cx="3977640" cy="3108960"/>
          </a:xfrm>
          <a:prstGeom prst="roundRect">
            <a:avLst>
              <a:gd name="adj" fmla="val 2941"/>
            </a:avLst>
          </a:prstGeom>
          <a:solidFill>
            <a:srgbClr val="FFFFFF"/>
          </a:solidFill>
          <a:ln w="9525">
            <a:solidFill>
              <a:srgbClr val="8D99AE"/>
            </a:solidFill>
            <a:prstDash val="solid"/>
          </a:ln>
        </p:spPr>
      </p:sp>
      <p:sp>
        <p:nvSpPr>
          <p:cNvPr id="5" name="Text 3"/>
          <p:cNvSpPr/>
          <p:nvPr/>
        </p:nvSpPr>
        <p:spPr>
          <a:xfrm>
            <a:off x="5029200" y="1554480"/>
            <a:ext cx="3520440" cy="320040"/>
          </a:xfrm>
          <a:prstGeom prst="rect">
            <a:avLst/>
          </a:prstGeom>
          <a:noFill/>
          <a:ln/>
        </p:spPr>
        <p:txBody>
          <a:bodyPr wrap="square" lIns="0" tIns="0" rIns="0" bIns="0" rtlCol="0" anchor="t"/>
          <a:lstStyle/>
          <a:p>
            <a:pPr algn="l" indent="0" marL="0">
              <a:buNone/>
            </a:pPr>
            <a:r>
              <a:rPr lang="en-US" sz="1200" dirty="0">
                <a:solidFill>
                  <a:srgbClr val="8D99AE"/>
                </a:solidFill>
                <a:latin typeface="Calibri" pitchFamily="34" charset="0"/>
                <a:ea typeface="Calibri" pitchFamily="34" charset="-122"/>
                <a:cs typeface="Calibri" pitchFamily="34" charset="-120"/>
              </a:rPr>
              <a:t>How the pieces connect</a:t>
            </a:r>
            <a:endParaRPr lang="en-US" sz="1200" dirty="0"/>
          </a:p>
        </p:txBody>
      </p:sp>
      <p:sp>
        <p:nvSpPr>
          <p:cNvPr id="6" name="Shape 4"/>
          <p:cNvSpPr/>
          <p:nvPr/>
        </p:nvSpPr>
        <p:spPr>
          <a:xfrm>
            <a:off x="5024628" y="2423160"/>
            <a:ext cx="1005840" cy="914400"/>
          </a:xfrm>
          <a:prstGeom prst="roundRect">
            <a:avLst>
              <a:gd name="adj" fmla="val 8000"/>
            </a:avLst>
          </a:prstGeom>
          <a:solidFill>
            <a:srgbClr val="2B2D42"/>
          </a:solidFill>
          <a:ln/>
        </p:spPr>
      </p:sp>
      <p:sp>
        <p:nvSpPr>
          <p:cNvPr id="7" name="Text 5"/>
          <p:cNvSpPr/>
          <p:nvPr/>
        </p:nvSpPr>
        <p:spPr>
          <a:xfrm>
            <a:off x="5024628" y="2423160"/>
            <a:ext cx="100584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Application</a:t>
            </a:r>
            <a:endParaRPr lang="en-US" sz="1200" dirty="0"/>
          </a:p>
        </p:txBody>
      </p:sp>
      <p:sp>
        <p:nvSpPr>
          <p:cNvPr id="8" name="Shape 6"/>
          <p:cNvSpPr/>
          <p:nvPr/>
        </p:nvSpPr>
        <p:spPr>
          <a:xfrm>
            <a:off x="6030468" y="2880360"/>
            <a:ext cx="256032" cy="0"/>
          </a:xfrm>
          <a:prstGeom prst="line">
            <a:avLst/>
          </a:prstGeom>
          <a:noFill/>
          <a:ln w="25400">
            <a:solidFill>
              <a:srgbClr val="8D99AE"/>
            </a:solidFill>
            <a:prstDash val="solid"/>
            <a:tailEnd type="triangle"/>
          </a:ln>
        </p:spPr>
      </p:sp>
      <p:sp>
        <p:nvSpPr>
          <p:cNvPr id="9" name="Shape 7"/>
          <p:cNvSpPr/>
          <p:nvPr/>
        </p:nvSpPr>
        <p:spPr>
          <a:xfrm>
            <a:off x="6286500" y="2423160"/>
            <a:ext cx="1005840" cy="914400"/>
          </a:xfrm>
          <a:prstGeom prst="roundRect">
            <a:avLst>
              <a:gd name="adj" fmla="val 8000"/>
            </a:avLst>
          </a:prstGeom>
          <a:solidFill>
            <a:srgbClr val="D90429"/>
          </a:solidFill>
          <a:ln/>
        </p:spPr>
      </p:sp>
      <p:sp>
        <p:nvSpPr>
          <p:cNvPr id="10" name="Text 8"/>
          <p:cNvSpPr/>
          <p:nvPr/>
        </p:nvSpPr>
        <p:spPr>
          <a:xfrm>
            <a:off x="6286500" y="2423160"/>
            <a:ext cx="100584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LLM</a:t>
            </a:r>
            <a:endParaRPr lang="en-US" sz="1200" dirty="0"/>
          </a:p>
        </p:txBody>
      </p:sp>
      <p:sp>
        <p:nvSpPr>
          <p:cNvPr id="11" name="Shape 9"/>
          <p:cNvSpPr/>
          <p:nvPr/>
        </p:nvSpPr>
        <p:spPr>
          <a:xfrm>
            <a:off x="7292340" y="2880360"/>
            <a:ext cx="256032" cy="0"/>
          </a:xfrm>
          <a:prstGeom prst="line">
            <a:avLst/>
          </a:prstGeom>
          <a:noFill/>
          <a:ln w="25400">
            <a:solidFill>
              <a:srgbClr val="8D99AE"/>
            </a:solidFill>
            <a:prstDash val="solid"/>
            <a:tailEnd type="triangle"/>
          </a:ln>
        </p:spPr>
      </p:sp>
      <p:sp>
        <p:nvSpPr>
          <p:cNvPr id="12" name="Shape 10"/>
          <p:cNvSpPr/>
          <p:nvPr/>
        </p:nvSpPr>
        <p:spPr>
          <a:xfrm>
            <a:off x="7548372" y="2423160"/>
            <a:ext cx="1005840" cy="914400"/>
          </a:xfrm>
          <a:prstGeom prst="roundRect">
            <a:avLst>
              <a:gd name="adj" fmla="val 8000"/>
            </a:avLst>
          </a:prstGeom>
          <a:solidFill>
            <a:srgbClr val="8D99AE"/>
          </a:solidFill>
          <a:ln/>
        </p:spPr>
      </p:sp>
      <p:sp>
        <p:nvSpPr>
          <p:cNvPr id="13" name="Text 11"/>
          <p:cNvSpPr/>
          <p:nvPr/>
        </p:nvSpPr>
        <p:spPr>
          <a:xfrm>
            <a:off x="7548372" y="2423160"/>
            <a:ext cx="100584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Agent</a:t>
            </a:r>
            <a:endParaRPr lang="en-US" sz="1200" dirty="0"/>
          </a:p>
        </p:txBody>
      </p:sp>
      <p:sp>
        <p:nvSpPr>
          <p:cNvPr id="14" name="Text 12"/>
          <p:cNvSpPr/>
          <p:nvPr/>
        </p:nvSpPr>
        <p:spPr>
          <a:xfrm>
            <a:off x="5029200" y="3657600"/>
            <a:ext cx="3520440" cy="365760"/>
          </a:xfrm>
          <a:prstGeom prst="rect">
            <a:avLst/>
          </a:prstGeom>
          <a:noFill/>
          <a:ln/>
        </p:spPr>
        <p:txBody>
          <a:bodyPr wrap="square" lIns="0" tIns="0" rIns="0" bIns="0" rtlCol="0" anchor="t"/>
          <a:lstStyle/>
          <a:p>
            <a:pPr algn="l" indent="0" marL="0">
              <a:buNone/>
            </a:pPr>
            <a:r>
              <a:rPr lang="en-US" sz="1200" dirty="0">
                <a:solidFill>
                  <a:srgbClr val="8D99AE"/>
                </a:solidFill>
                <a:latin typeface="Calibri" pitchFamily="34" charset="0"/>
                <a:ea typeface="Calibri" pitchFamily="34" charset="-122"/>
                <a:cs typeface="Calibri" pitchFamily="34" charset="-120"/>
              </a:rPr>
              <a:t>Application → LLM → Agent</a:t>
            </a:r>
            <a:endParaRPr lang="en-US" sz="1200" dirty="0"/>
          </a:p>
        </p:txBody>
      </p:sp>
      <p:sp>
        <p:nvSpPr>
          <p:cNvPr id="15" name="Shape 13"/>
          <p:cNvSpPr/>
          <p:nvPr/>
        </p:nvSpPr>
        <p:spPr>
          <a:xfrm>
            <a:off x="8503920" y="4663440"/>
            <a:ext cx="365760" cy="365760"/>
          </a:xfrm>
          <a:prstGeom prst="ellipse">
            <a:avLst/>
          </a:prstGeom>
          <a:solidFill>
            <a:srgbClr val="D90429"/>
          </a:solidFill>
          <a:ln/>
        </p:spPr>
      </p:sp>
      <p:sp>
        <p:nvSpPr>
          <p:cNvPr id="16" name="Text 14"/>
          <p:cNvSpPr/>
          <p:nvPr/>
        </p:nvSpPr>
        <p:spPr>
          <a:xfrm>
            <a:off x="8503920" y="46634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B2D42"/>
        </a:solidFill>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D90429"/>
          </a:solidFill>
          <a:ln/>
        </p:spPr>
      </p:sp>
      <p:sp>
        <p:nvSpPr>
          <p:cNvPr id="3" name="Text 1"/>
          <p:cNvSpPr/>
          <p:nvPr/>
        </p:nvSpPr>
        <p:spPr>
          <a:xfrm>
            <a:off x="685800" y="502920"/>
            <a:ext cx="4572000" cy="2103120"/>
          </a:xfrm>
          <a:prstGeom prst="rect">
            <a:avLst/>
          </a:prstGeom>
          <a:noFill/>
          <a:ln/>
        </p:spPr>
        <p:txBody>
          <a:bodyPr wrap="square" lIns="0" tIns="0" rIns="0" bIns="0" rtlCol="0" anchor="ctr"/>
          <a:lstStyle/>
          <a:p>
            <a:pPr algn="l" indent="0" marL="0">
              <a:buNone/>
            </a:pPr>
            <a:r>
              <a:rPr lang="en-US" sz="16000" b="1" dirty="0">
                <a:solidFill>
                  <a:srgbClr val="8D99AE"/>
                </a:solidFill>
                <a:latin typeface="Cambria" pitchFamily="34" charset="0"/>
                <a:ea typeface="Cambria" pitchFamily="34" charset="-122"/>
                <a:cs typeface="Cambria" pitchFamily="34" charset="-120"/>
              </a:rPr>
              <a:t>03</a:t>
            </a:r>
            <a:endParaRPr lang="en-US" sz="16000" dirty="0"/>
          </a:p>
        </p:txBody>
      </p:sp>
      <p:sp>
        <p:nvSpPr>
          <p:cNvPr id="4" name="Text 2"/>
          <p:cNvSpPr/>
          <p:nvPr/>
        </p:nvSpPr>
        <p:spPr>
          <a:xfrm>
            <a:off x="685800" y="2697480"/>
            <a:ext cx="7498080" cy="8229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APIs, MCP &amp; Connectors</a:t>
            </a:r>
            <a:endParaRPr lang="en-US" sz="4000" dirty="0"/>
          </a:p>
        </p:txBody>
      </p:sp>
      <p:sp>
        <p:nvSpPr>
          <p:cNvPr id="5" name="Text 3"/>
          <p:cNvSpPr/>
          <p:nvPr/>
        </p:nvSpPr>
        <p:spPr>
          <a:xfrm>
            <a:off x="685800" y="3520440"/>
            <a:ext cx="6949440" cy="640080"/>
          </a:xfrm>
          <a:prstGeom prst="rect">
            <a:avLst/>
          </a:prstGeom>
          <a:noFill/>
          <a:ln/>
        </p:spPr>
        <p:txBody>
          <a:bodyPr wrap="square" lIns="0" tIns="0" rIns="0" bIns="0" rtlCol="0" anchor="t"/>
          <a:lstStyle/>
          <a:p>
            <a:pPr algn="l" indent="0" marL="0">
              <a:buNone/>
            </a:pPr>
            <a:r>
              <a:rPr lang="en-US" sz="1800" dirty="0">
                <a:solidFill>
                  <a:srgbClr val="8D99AE"/>
                </a:solidFill>
                <a:latin typeface="Calibri" pitchFamily="34" charset="0"/>
                <a:ea typeface="Calibri" pitchFamily="34" charset="-122"/>
                <a:cs typeface="Calibri" pitchFamily="34" charset="-120"/>
              </a:rPr>
              <a:t>Now let's mix in APIs — and the connectors (MCPs) that link them to AI.</a:t>
            </a:r>
            <a:endParaRPr lang="en-US" sz="1800" dirty="0"/>
          </a:p>
        </p:txBody>
      </p:sp>
      <p:sp>
        <p:nvSpPr>
          <p:cNvPr id="6" name="Shape 4"/>
          <p:cNvSpPr/>
          <p:nvPr/>
        </p:nvSpPr>
        <p:spPr>
          <a:xfrm>
            <a:off x="8503920" y="4663440"/>
            <a:ext cx="365760" cy="365760"/>
          </a:xfrm>
          <a:prstGeom prst="ellipse">
            <a:avLst/>
          </a:prstGeom>
          <a:solidFill>
            <a:srgbClr val="D90429"/>
          </a:solidFill>
          <a:ln/>
        </p:spPr>
      </p:sp>
      <p:sp>
        <p:nvSpPr>
          <p:cNvPr id="7" name="Text 5"/>
          <p:cNvSpPr/>
          <p:nvPr/>
        </p:nvSpPr>
        <p:spPr>
          <a:xfrm>
            <a:off x="8503920" y="46634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B2D42"/>
        </a:solidFill>
      </p:bgPr>
    </p:bg>
    <p:spTree>
      <p:nvGrpSpPr>
        <p:cNvPr id="1" name=""/>
        <p:cNvGrpSpPr/>
        <p:nvPr/>
      </p:nvGrpSpPr>
      <p:grpSpPr>
        <a:xfrm>
          <a:off x="0" y="0"/>
          <a:ext cx="0" cy="0"/>
          <a:chOff x="0" y="0"/>
          <a:chExt cx="0" cy="0"/>
        </a:xfrm>
      </p:grpSpPr>
      <p:sp>
        <p:nvSpPr>
          <p:cNvPr id="2" name="Shape 0"/>
          <p:cNvSpPr/>
          <p:nvPr/>
        </p:nvSpPr>
        <p:spPr>
          <a:xfrm>
            <a:off x="6675120" y="-1188720"/>
            <a:ext cx="3840480" cy="3840480"/>
          </a:xfrm>
          <a:prstGeom prst="ellipse">
            <a:avLst/>
          </a:prstGeom>
          <a:solidFill>
            <a:srgbClr val="8D99AE">
              <a:alpha val="20000"/>
            </a:srgbClr>
          </a:solidFill>
          <a:ln/>
        </p:spPr>
      </p:sp>
      <p:sp>
        <p:nvSpPr>
          <p:cNvPr id="3" name="Shape 1"/>
          <p:cNvSpPr/>
          <p:nvPr/>
        </p:nvSpPr>
        <p:spPr>
          <a:xfrm>
            <a:off x="-914400" y="3566160"/>
            <a:ext cx="2743200" cy="2743200"/>
          </a:xfrm>
          <a:prstGeom prst="ellipse">
            <a:avLst/>
          </a:prstGeom>
          <a:solidFill>
            <a:srgbClr val="D90429">
              <a:alpha val="18000"/>
            </a:srgbClr>
          </a:solidFill>
          <a:ln/>
        </p:spPr>
      </p:sp>
      <p:sp>
        <p:nvSpPr>
          <p:cNvPr id="4" name="Shape 2"/>
          <p:cNvSpPr/>
          <p:nvPr/>
        </p:nvSpPr>
        <p:spPr>
          <a:xfrm>
            <a:off x="4069080" y="411480"/>
            <a:ext cx="1005840" cy="1005840"/>
          </a:xfrm>
          <a:prstGeom prst="ellipse">
            <a:avLst/>
          </a:prstGeom>
          <a:solidFill>
            <a:srgbClr val="D90429"/>
          </a:solidFill>
          <a:ln w="19050">
            <a:solidFill>
              <a:srgbClr val="EF233C"/>
            </a:solidFill>
            <a:prstDash val="solid"/>
          </a:ln>
        </p:spPr>
      </p:sp>
      <p:sp>
        <p:nvSpPr>
          <p:cNvPr id="5" name="Text 3"/>
          <p:cNvSpPr/>
          <p:nvPr/>
        </p:nvSpPr>
        <p:spPr>
          <a:xfrm>
            <a:off x="4069080" y="411480"/>
            <a:ext cx="1005840" cy="100584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a:t>
            </a:r>
            <a:endParaRPr lang="en-US" sz="4000" dirty="0"/>
          </a:p>
        </p:txBody>
      </p:sp>
      <p:sp>
        <p:nvSpPr>
          <p:cNvPr id="6" name="Text 4"/>
          <p:cNvSpPr/>
          <p:nvPr/>
        </p:nvSpPr>
        <p:spPr>
          <a:xfrm>
            <a:off x="457200" y="1965960"/>
            <a:ext cx="8229600" cy="914400"/>
          </a:xfrm>
          <a:prstGeom prst="rect">
            <a:avLst/>
          </a:prstGeom>
          <a:noFill/>
          <a:ln/>
        </p:spPr>
        <p:txBody>
          <a:bodyPr wrap="square"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Another Show of Hands</a:t>
            </a:r>
            <a:endParaRPr lang="en-US" sz="4200" dirty="0"/>
          </a:p>
        </p:txBody>
      </p:sp>
      <p:sp>
        <p:nvSpPr>
          <p:cNvPr id="7" name="Text 5"/>
          <p:cNvSpPr/>
          <p:nvPr/>
        </p:nvSpPr>
        <p:spPr>
          <a:xfrm>
            <a:off x="914400" y="2880360"/>
            <a:ext cx="7315200" cy="1188720"/>
          </a:xfrm>
          <a:prstGeom prst="rect">
            <a:avLst/>
          </a:prstGeom>
          <a:noFill/>
          <a:ln/>
        </p:spPr>
        <p:txBody>
          <a:bodyPr wrap="square" rtlCol="0" anchor="t"/>
          <a:lstStyle/>
          <a:p>
            <a:pPr algn="ctr" indent="0" marL="0">
              <a:buNone/>
            </a:pPr>
            <a:r>
              <a:rPr lang="en-US" sz="2000" dirty="0">
                <a:solidFill>
                  <a:srgbClr val="EDF2F4"/>
                </a:solidFill>
                <a:latin typeface="Calibri" pitchFamily="34" charset="0"/>
                <a:ea typeface="Calibri" pitchFamily="34" charset="-122"/>
                <a:cs typeface="Calibri" pitchFamily="34" charset="-120"/>
              </a:rPr>
              <a:t>Who knows what an API is, and how it works?</a:t>
            </a:r>
            <a:endParaRPr lang="en-US" sz="2000" dirty="0"/>
          </a:p>
        </p:txBody>
      </p:sp>
      <p:sp>
        <p:nvSpPr>
          <p:cNvPr id="8" name="Shape 6"/>
          <p:cNvSpPr/>
          <p:nvPr/>
        </p:nvSpPr>
        <p:spPr>
          <a:xfrm>
            <a:off x="8503920" y="4663440"/>
            <a:ext cx="365760" cy="365760"/>
          </a:xfrm>
          <a:prstGeom prst="ellipse">
            <a:avLst/>
          </a:prstGeom>
          <a:solidFill>
            <a:srgbClr val="D90429"/>
          </a:solidFill>
          <a:ln/>
        </p:spPr>
      </p:sp>
      <p:sp>
        <p:nvSpPr>
          <p:cNvPr id="9" name="Text 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65760"/>
            <a:ext cx="8412480" cy="640080"/>
          </a:xfrm>
          <a:prstGeom prst="rect">
            <a:avLst/>
          </a:prstGeom>
          <a:noFill/>
          <a:ln/>
        </p:spPr>
        <p:txBody>
          <a:bodyPr wrap="square" rtlCol="0" anchor="t"/>
          <a:lstStyle/>
          <a:p>
            <a:pPr algn="l" indent="0" marL="0">
              <a:buNone/>
            </a:pPr>
            <a:r>
              <a:rPr lang="en-US" sz="3600" b="1" dirty="0">
                <a:solidFill>
                  <a:srgbClr val="2B2D42"/>
                </a:solidFill>
                <a:latin typeface="Cambria" pitchFamily="34" charset="0"/>
                <a:ea typeface="Cambria" pitchFamily="34" charset="-122"/>
                <a:cs typeface="Cambria" pitchFamily="34" charset="-120"/>
              </a:rPr>
              <a:t>What Is an API?</a:t>
            </a:r>
            <a:endParaRPr lang="en-US" sz="3600" dirty="0"/>
          </a:p>
        </p:txBody>
      </p:sp>
      <p:sp>
        <p:nvSpPr>
          <p:cNvPr id="3" name="Text 1"/>
          <p:cNvSpPr/>
          <p:nvPr/>
        </p:nvSpPr>
        <p:spPr>
          <a:xfrm>
            <a:off x="365760" y="1051560"/>
            <a:ext cx="8412480" cy="548640"/>
          </a:xfrm>
          <a:prstGeom prst="rect">
            <a:avLst/>
          </a:prstGeom>
          <a:noFill/>
          <a:ln/>
        </p:spPr>
        <p:txBody>
          <a:bodyPr wrap="square" rtlCol="0" anchor="t"/>
          <a:lstStyle/>
          <a:p>
            <a:pPr algn="l" indent="0" marL="0">
              <a:buNone/>
            </a:pPr>
            <a:r>
              <a:rPr lang="en-US" sz="1600" dirty="0">
                <a:solidFill>
                  <a:srgbClr val="8D99AE"/>
                </a:solidFill>
                <a:latin typeface="Calibri" pitchFamily="34" charset="0"/>
                <a:ea typeface="Calibri" pitchFamily="34" charset="-122"/>
                <a:cs typeface="Calibri" pitchFamily="34" charset="-120"/>
              </a:rPr>
              <a:t>An API (Application Programming Interface) is how two pieces of software communicate.</a:t>
            </a:r>
            <a:endParaRPr lang="en-US" sz="1600" dirty="0"/>
          </a:p>
        </p:txBody>
      </p:sp>
      <p:sp>
        <p:nvSpPr>
          <p:cNvPr id="4" name="Shape 2"/>
          <p:cNvSpPr/>
          <p:nvPr/>
        </p:nvSpPr>
        <p:spPr>
          <a:xfrm>
            <a:off x="365760" y="1965960"/>
            <a:ext cx="2286000" cy="1234440"/>
          </a:xfrm>
          <a:prstGeom prst="roundRect">
            <a:avLst>
              <a:gd name="adj" fmla="val 7407"/>
            </a:avLst>
          </a:prstGeom>
          <a:solidFill>
            <a:srgbClr val="FFFFFF"/>
          </a:solidFill>
          <a:ln w="12700">
            <a:solidFill>
              <a:srgbClr val="8D99AE"/>
            </a:solidFill>
            <a:prstDash val="solid"/>
          </a:ln>
          <a:effectLst>
            <a:outerShdw sx="100000" sy="100000" kx="0" ky="0" algn="bl" rotWithShape="0" blurRad="50800" dist="25400" dir="8100000">
              <a:srgbClr val="000000">
                <a:alpha val="12000"/>
              </a:srgbClr>
            </a:outerShdw>
          </a:effectLst>
        </p:spPr>
      </p:sp>
      <p:sp>
        <p:nvSpPr>
          <p:cNvPr id="5" name="Text 3"/>
          <p:cNvSpPr/>
          <p:nvPr/>
        </p:nvSpPr>
        <p:spPr>
          <a:xfrm>
            <a:off x="365760" y="2221992"/>
            <a:ext cx="2286000" cy="502920"/>
          </a:xfrm>
          <a:prstGeom prst="rect">
            <a:avLst/>
          </a:prstGeom>
          <a:noFill/>
          <a:ln/>
        </p:spPr>
        <p:txBody>
          <a:bodyPr wrap="square" rtlCol="0" anchor="ctr"/>
          <a:lstStyle/>
          <a:p>
            <a:pPr algn="ctr" indent="0" marL="0">
              <a:buNone/>
            </a:pPr>
            <a:r>
              <a:rPr lang="en-US" sz="2200" b="1" dirty="0">
                <a:solidFill>
                  <a:srgbClr val="2B2D42"/>
                </a:solidFill>
                <a:latin typeface="Cambria" pitchFamily="34" charset="0"/>
                <a:ea typeface="Cambria" pitchFamily="34" charset="-122"/>
                <a:cs typeface="Cambria" pitchFamily="34" charset="-120"/>
              </a:rPr>
              <a:t>You</a:t>
            </a:r>
            <a:endParaRPr lang="en-US" sz="2200" dirty="0"/>
          </a:p>
        </p:txBody>
      </p:sp>
      <p:sp>
        <p:nvSpPr>
          <p:cNvPr id="6" name="Text 4"/>
          <p:cNvSpPr/>
          <p:nvPr/>
        </p:nvSpPr>
        <p:spPr>
          <a:xfrm>
            <a:off x="365760" y="2715768"/>
            <a:ext cx="2286000" cy="365760"/>
          </a:xfrm>
          <a:prstGeom prst="rect">
            <a:avLst/>
          </a:prstGeom>
          <a:noFill/>
          <a:ln/>
        </p:spPr>
        <p:txBody>
          <a:bodyPr wrap="square" rtlCol="0" anchor="ctr"/>
          <a:lstStyle/>
          <a:p>
            <a:pPr algn="ctr" indent="0" marL="0">
              <a:buNone/>
            </a:pPr>
            <a:r>
              <a:rPr lang="en-US" sz="1300" dirty="0">
                <a:solidFill>
                  <a:srgbClr val="8D99AE"/>
                </a:solidFill>
                <a:latin typeface="Calibri" pitchFamily="34" charset="0"/>
                <a:ea typeface="Calibri" pitchFamily="34" charset="-122"/>
                <a:cs typeface="Calibri" pitchFamily="34" charset="-120"/>
              </a:rPr>
              <a:t>(Application)</a:t>
            </a:r>
            <a:endParaRPr lang="en-US" sz="1300" dirty="0"/>
          </a:p>
        </p:txBody>
      </p:sp>
      <p:sp>
        <p:nvSpPr>
          <p:cNvPr id="7" name="Shape 5"/>
          <p:cNvSpPr/>
          <p:nvPr/>
        </p:nvSpPr>
        <p:spPr>
          <a:xfrm>
            <a:off x="3246120" y="1965960"/>
            <a:ext cx="2286000" cy="1234440"/>
          </a:xfrm>
          <a:prstGeom prst="roundRect">
            <a:avLst>
              <a:gd name="adj" fmla="val 7407"/>
            </a:avLst>
          </a:prstGeom>
          <a:solidFill>
            <a:srgbClr val="D90429"/>
          </a:solidFill>
          <a:ln w="12700">
            <a:solidFill>
              <a:srgbClr val="8D99AE"/>
            </a:solidFill>
            <a:prstDash val="solid"/>
          </a:ln>
          <a:effectLst>
            <a:outerShdw sx="100000" sy="100000" kx="0" ky="0" algn="bl" rotWithShape="0" blurRad="50800" dist="25400" dir="8100000">
              <a:srgbClr val="000000">
                <a:alpha val="12000"/>
              </a:srgbClr>
            </a:outerShdw>
          </a:effectLst>
        </p:spPr>
      </p:sp>
      <p:sp>
        <p:nvSpPr>
          <p:cNvPr id="8" name="Text 6"/>
          <p:cNvSpPr/>
          <p:nvPr/>
        </p:nvSpPr>
        <p:spPr>
          <a:xfrm>
            <a:off x="3246120" y="2221992"/>
            <a:ext cx="2286000" cy="502920"/>
          </a:xfrm>
          <a:prstGeom prst="rect">
            <a:avLst/>
          </a:prstGeom>
          <a:noFill/>
          <a:ln/>
        </p:spPr>
        <p:txBody>
          <a:bodyPr wrap="square" rtlCol="0" anchor="ctr"/>
          <a:lstStyle/>
          <a:p>
            <a:pPr algn="ctr" indent="0" marL="0">
              <a:buNone/>
            </a:pPr>
            <a:r>
              <a:rPr lang="en-US" sz="2200" b="1" dirty="0">
                <a:solidFill>
                  <a:srgbClr val="EDF2F4"/>
                </a:solidFill>
                <a:latin typeface="Cambria" pitchFamily="34" charset="0"/>
                <a:ea typeface="Cambria" pitchFamily="34" charset="-122"/>
                <a:cs typeface="Cambria" pitchFamily="34" charset="-120"/>
              </a:rPr>
              <a:t>Waiter</a:t>
            </a:r>
            <a:endParaRPr lang="en-US" sz="2200" dirty="0"/>
          </a:p>
        </p:txBody>
      </p:sp>
      <p:sp>
        <p:nvSpPr>
          <p:cNvPr id="9" name="Text 7"/>
          <p:cNvSpPr/>
          <p:nvPr/>
        </p:nvSpPr>
        <p:spPr>
          <a:xfrm>
            <a:off x="3246120" y="2715768"/>
            <a:ext cx="2286000" cy="365760"/>
          </a:xfrm>
          <a:prstGeom prst="rect">
            <a:avLst/>
          </a:prstGeom>
          <a:noFill/>
          <a:ln/>
        </p:spPr>
        <p:txBody>
          <a:bodyPr wrap="square" rtlCol="0" anchor="ctr"/>
          <a:lstStyle/>
          <a:p>
            <a:pPr algn="ctr" indent="0" marL="0">
              <a:buNone/>
            </a:pPr>
            <a:r>
              <a:rPr lang="en-US" sz="1300" dirty="0">
                <a:solidFill>
                  <a:srgbClr val="8D99AE"/>
                </a:solidFill>
                <a:latin typeface="Calibri" pitchFamily="34" charset="0"/>
                <a:ea typeface="Calibri" pitchFamily="34" charset="-122"/>
                <a:cs typeface="Calibri" pitchFamily="34" charset="-120"/>
              </a:rPr>
              <a:t>(API)</a:t>
            </a:r>
            <a:endParaRPr lang="en-US" sz="1300" dirty="0"/>
          </a:p>
        </p:txBody>
      </p:sp>
      <p:sp>
        <p:nvSpPr>
          <p:cNvPr id="10" name="Shape 8"/>
          <p:cNvSpPr/>
          <p:nvPr/>
        </p:nvSpPr>
        <p:spPr>
          <a:xfrm>
            <a:off x="6126480" y="1965960"/>
            <a:ext cx="2286000" cy="1234440"/>
          </a:xfrm>
          <a:prstGeom prst="roundRect">
            <a:avLst>
              <a:gd name="adj" fmla="val 7407"/>
            </a:avLst>
          </a:prstGeom>
          <a:solidFill>
            <a:srgbClr val="FFFFFF"/>
          </a:solidFill>
          <a:ln w="12700">
            <a:solidFill>
              <a:srgbClr val="8D99AE"/>
            </a:solidFill>
            <a:prstDash val="solid"/>
          </a:ln>
          <a:effectLst>
            <a:outerShdw sx="100000" sy="100000" kx="0" ky="0" algn="bl" rotWithShape="0" blurRad="50800" dist="25400" dir="8100000">
              <a:srgbClr val="000000">
                <a:alpha val="12000"/>
              </a:srgbClr>
            </a:outerShdw>
          </a:effectLst>
        </p:spPr>
      </p:sp>
      <p:sp>
        <p:nvSpPr>
          <p:cNvPr id="11" name="Text 9"/>
          <p:cNvSpPr/>
          <p:nvPr/>
        </p:nvSpPr>
        <p:spPr>
          <a:xfrm>
            <a:off x="6126480" y="2221992"/>
            <a:ext cx="2286000" cy="502920"/>
          </a:xfrm>
          <a:prstGeom prst="rect">
            <a:avLst/>
          </a:prstGeom>
          <a:noFill/>
          <a:ln/>
        </p:spPr>
        <p:txBody>
          <a:bodyPr wrap="square" rtlCol="0" anchor="ctr"/>
          <a:lstStyle/>
          <a:p>
            <a:pPr algn="ctr" indent="0" marL="0">
              <a:buNone/>
            </a:pPr>
            <a:r>
              <a:rPr lang="en-US" sz="2200" b="1" dirty="0">
                <a:solidFill>
                  <a:srgbClr val="2B2D42"/>
                </a:solidFill>
                <a:latin typeface="Cambria" pitchFamily="34" charset="0"/>
                <a:ea typeface="Cambria" pitchFamily="34" charset="-122"/>
                <a:cs typeface="Cambria" pitchFamily="34" charset="-120"/>
              </a:rPr>
              <a:t>Kitchen</a:t>
            </a:r>
            <a:endParaRPr lang="en-US" sz="2200" dirty="0"/>
          </a:p>
        </p:txBody>
      </p:sp>
      <p:sp>
        <p:nvSpPr>
          <p:cNvPr id="12" name="Text 10"/>
          <p:cNvSpPr/>
          <p:nvPr/>
        </p:nvSpPr>
        <p:spPr>
          <a:xfrm>
            <a:off x="6126480" y="2715768"/>
            <a:ext cx="2286000" cy="365760"/>
          </a:xfrm>
          <a:prstGeom prst="rect">
            <a:avLst/>
          </a:prstGeom>
          <a:noFill/>
          <a:ln/>
        </p:spPr>
        <p:txBody>
          <a:bodyPr wrap="square" rtlCol="0" anchor="ctr"/>
          <a:lstStyle/>
          <a:p>
            <a:pPr algn="ctr" indent="0" marL="0">
              <a:buNone/>
            </a:pPr>
            <a:r>
              <a:rPr lang="en-US" sz="1300" dirty="0">
                <a:solidFill>
                  <a:srgbClr val="8D99AE"/>
                </a:solidFill>
                <a:latin typeface="Calibri" pitchFamily="34" charset="0"/>
                <a:ea typeface="Calibri" pitchFamily="34" charset="-122"/>
                <a:cs typeface="Calibri" pitchFamily="34" charset="-120"/>
              </a:rPr>
              <a:t>(Service)</a:t>
            </a:r>
            <a:endParaRPr lang="en-US" sz="1300" dirty="0"/>
          </a:p>
        </p:txBody>
      </p:sp>
      <p:sp>
        <p:nvSpPr>
          <p:cNvPr id="13" name="Shape 11"/>
          <p:cNvSpPr/>
          <p:nvPr/>
        </p:nvSpPr>
        <p:spPr>
          <a:xfrm>
            <a:off x="2651760" y="2583180"/>
            <a:ext cx="594360" cy="0"/>
          </a:xfrm>
          <a:prstGeom prst="line">
            <a:avLst/>
          </a:prstGeom>
          <a:noFill/>
          <a:ln w="28575">
            <a:solidFill>
              <a:srgbClr val="2B2D42"/>
            </a:solidFill>
            <a:prstDash val="solid"/>
            <a:tailEnd type="triangle"/>
          </a:ln>
        </p:spPr>
      </p:sp>
      <p:sp>
        <p:nvSpPr>
          <p:cNvPr id="14" name="Shape 12"/>
          <p:cNvSpPr/>
          <p:nvPr/>
        </p:nvSpPr>
        <p:spPr>
          <a:xfrm>
            <a:off x="5532120" y="2583180"/>
            <a:ext cx="594360" cy="0"/>
          </a:xfrm>
          <a:prstGeom prst="line">
            <a:avLst/>
          </a:prstGeom>
          <a:noFill/>
          <a:ln w="28575">
            <a:solidFill>
              <a:srgbClr val="2B2D42"/>
            </a:solidFill>
            <a:prstDash val="solid"/>
            <a:tailEnd type="triangle"/>
          </a:ln>
        </p:spPr>
      </p:sp>
      <p:sp>
        <p:nvSpPr>
          <p:cNvPr id="15" name="Text 13"/>
          <p:cNvSpPr/>
          <p:nvPr/>
        </p:nvSpPr>
        <p:spPr>
          <a:xfrm>
            <a:off x="365760" y="3520440"/>
            <a:ext cx="8412480" cy="457200"/>
          </a:xfrm>
          <a:prstGeom prst="rect">
            <a:avLst/>
          </a:prstGeom>
          <a:noFill/>
          <a:ln/>
        </p:spPr>
        <p:txBody>
          <a:bodyPr wrap="square" rtlCol="0" anchor="t"/>
          <a:lstStyle/>
          <a:p>
            <a:pPr algn="l" indent="0" marL="0">
              <a:buNone/>
            </a:pPr>
            <a:r>
              <a:rPr lang="en-US" sz="1800" i="1" dirty="0">
                <a:solidFill>
                  <a:srgbClr val="D90429"/>
                </a:solidFill>
                <a:latin typeface="Calibri" pitchFamily="34" charset="0"/>
                <a:ea typeface="Calibri" pitchFamily="34" charset="-122"/>
                <a:cs typeface="Calibri" pitchFamily="34" charset="-120"/>
              </a:rPr>
              <a:t>The API is the waiter.</a:t>
            </a:r>
            <a:endParaRPr lang="en-US" sz="1800" dirty="0"/>
          </a:p>
        </p:txBody>
      </p:sp>
      <p:sp>
        <p:nvSpPr>
          <p:cNvPr id="16" name="Shape 14"/>
          <p:cNvSpPr/>
          <p:nvPr/>
        </p:nvSpPr>
        <p:spPr>
          <a:xfrm>
            <a:off x="8503920" y="4663440"/>
            <a:ext cx="365760" cy="365760"/>
          </a:xfrm>
          <a:prstGeom prst="ellipse">
            <a:avLst/>
          </a:prstGeom>
          <a:solidFill>
            <a:srgbClr val="D90429"/>
          </a:solidFill>
          <a:ln/>
        </p:spPr>
      </p:sp>
      <p:sp>
        <p:nvSpPr>
          <p:cNvPr id="17" name="Text 1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65760"/>
            <a:ext cx="8412480" cy="640080"/>
          </a:xfrm>
          <a:prstGeom prst="rect">
            <a:avLst/>
          </a:prstGeom>
          <a:noFill/>
          <a:ln/>
        </p:spPr>
        <p:txBody>
          <a:bodyPr wrap="square" rtlCol="0" anchor="t"/>
          <a:lstStyle/>
          <a:p>
            <a:pPr algn="l" indent="0" marL="0">
              <a:buNone/>
            </a:pPr>
            <a:r>
              <a:rPr lang="en-US" sz="3600" b="1" dirty="0">
                <a:solidFill>
                  <a:srgbClr val="2B2D42"/>
                </a:solidFill>
                <a:latin typeface="Cambria" pitchFamily="34" charset="0"/>
                <a:ea typeface="Cambria" pitchFamily="34" charset="-122"/>
                <a:cs typeface="Cambria" pitchFamily="34" charset="-120"/>
              </a:rPr>
              <a:t>An API in Action</a:t>
            </a:r>
            <a:endParaRPr lang="en-US" sz="3600" dirty="0"/>
          </a:p>
        </p:txBody>
      </p:sp>
      <p:sp>
        <p:nvSpPr>
          <p:cNvPr id="3" name="Shape 1"/>
          <p:cNvSpPr/>
          <p:nvPr/>
        </p:nvSpPr>
        <p:spPr>
          <a:xfrm>
            <a:off x="365760" y="1234440"/>
            <a:ext cx="8412480" cy="2651760"/>
          </a:xfrm>
          <a:prstGeom prst="roundRect">
            <a:avLst>
              <a:gd name="adj" fmla="val 4138"/>
            </a:avLst>
          </a:prstGeom>
          <a:solidFill>
            <a:srgbClr val="8D99AE">
              <a:alpha val="8000"/>
            </a:srgbClr>
          </a:solidFill>
          <a:ln/>
        </p:spPr>
      </p:sp>
      <p:sp>
        <p:nvSpPr>
          <p:cNvPr id="4" name="Shape 2"/>
          <p:cNvSpPr/>
          <p:nvPr/>
        </p:nvSpPr>
        <p:spPr>
          <a:xfrm>
            <a:off x="548640" y="1874520"/>
            <a:ext cx="2103120" cy="1371600"/>
          </a:xfrm>
          <a:prstGeom prst="roundRect">
            <a:avLst>
              <a:gd name="adj" fmla="val 6667"/>
            </a:avLst>
          </a:prstGeom>
          <a:solidFill>
            <a:srgbClr val="2B2D42"/>
          </a:solidFill>
          <a:ln/>
        </p:spPr>
      </p:sp>
      <p:sp>
        <p:nvSpPr>
          <p:cNvPr id="5" name="Text 3"/>
          <p:cNvSpPr/>
          <p:nvPr/>
        </p:nvSpPr>
        <p:spPr>
          <a:xfrm>
            <a:off x="548640" y="1874520"/>
            <a:ext cx="2103120" cy="1371600"/>
          </a:xfrm>
          <a:prstGeom prst="rect">
            <a:avLst/>
          </a:prstGeom>
          <a:noFill/>
          <a:ln/>
        </p:spPr>
        <p:txBody>
          <a:bodyPr wrap="square" rtlCol="0" anchor="ctr"/>
          <a:lstStyle/>
          <a:p>
            <a:pPr algn="ctr" indent="0" marL="0">
              <a:buNone/>
            </a:pPr>
            <a:r>
              <a:rPr lang="en-US" sz="2400" b="1" dirty="0">
                <a:solidFill>
                  <a:srgbClr val="EDF2F4"/>
                </a:solidFill>
                <a:latin typeface="Cambria" pitchFamily="34" charset="0"/>
                <a:ea typeface="Cambria" pitchFamily="34" charset="-122"/>
                <a:cs typeface="Cambria" pitchFamily="34" charset="-120"/>
              </a:rPr>
              <a:t>Client</a:t>
            </a:r>
            <a:endParaRPr lang="en-US" sz="2400" dirty="0"/>
          </a:p>
        </p:txBody>
      </p:sp>
      <p:sp>
        <p:nvSpPr>
          <p:cNvPr id="6" name="Shape 4"/>
          <p:cNvSpPr/>
          <p:nvPr/>
        </p:nvSpPr>
        <p:spPr>
          <a:xfrm>
            <a:off x="6492240" y="1874520"/>
            <a:ext cx="2103120" cy="1371600"/>
          </a:xfrm>
          <a:prstGeom prst="roundRect">
            <a:avLst>
              <a:gd name="adj" fmla="val 6667"/>
            </a:avLst>
          </a:prstGeom>
          <a:solidFill>
            <a:srgbClr val="D90429"/>
          </a:solidFill>
          <a:ln/>
        </p:spPr>
      </p:sp>
      <p:sp>
        <p:nvSpPr>
          <p:cNvPr id="7" name="Text 5"/>
          <p:cNvSpPr/>
          <p:nvPr/>
        </p:nvSpPr>
        <p:spPr>
          <a:xfrm>
            <a:off x="6492240" y="1874520"/>
            <a:ext cx="2103120" cy="1371600"/>
          </a:xfrm>
          <a:prstGeom prst="rect">
            <a:avLst/>
          </a:prstGeom>
          <a:noFill/>
          <a:ln/>
        </p:spPr>
        <p:txBody>
          <a:bodyPr wrap="square" rtlCol="0" anchor="ctr"/>
          <a:lstStyle/>
          <a:p>
            <a:pPr algn="ctr" indent="0" marL="0">
              <a:buNone/>
            </a:pPr>
            <a:r>
              <a:rPr lang="en-US" sz="2400" b="1" dirty="0">
                <a:solidFill>
                  <a:srgbClr val="EDF2F4"/>
                </a:solidFill>
                <a:latin typeface="Cambria" pitchFamily="34" charset="0"/>
                <a:ea typeface="Cambria" pitchFamily="34" charset="-122"/>
                <a:cs typeface="Cambria" pitchFamily="34" charset="-120"/>
              </a:rPr>
              <a:t>API</a:t>
            </a:r>
            <a:endParaRPr lang="en-US" sz="2400" dirty="0"/>
          </a:p>
        </p:txBody>
      </p:sp>
      <p:sp>
        <p:nvSpPr>
          <p:cNvPr id="8" name="Shape 6"/>
          <p:cNvSpPr/>
          <p:nvPr/>
        </p:nvSpPr>
        <p:spPr>
          <a:xfrm>
            <a:off x="2651760" y="2258568"/>
            <a:ext cx="3840480" cy="0"/>
          </a:xfrm>
          <a:prstGeom prst="line">
            <a:avLst/>
          </a:prstGeom>
          <a:noFill/>
          <a:ln w="28575">
            <a:solidFill>
              <a:srgbClr val="2B2D42"/>
            </a:solidFill>
            <a:prstDash val="solid"/>
            <a:tailEnd type="triangle"/>
          </a:ln>
        </p:spPr>
      </p:sp>
      <p:sp>
        <p:nvSpPr>
          <p:cNvPr id="9" name="Text 7"/>
          <p:cNvSpPr/>
          <p:nvPr/>
        </p:nvSpPr>
        <p:spPr>
          <a:xfrm>
            <a:off x="2651760" y="1911096"/>
            <a:ext cx="3840480" cy="320040"/>
          </a:xfrm>
          <a:prstGeom prst="rect">
            <a:avLst/>
          </a:prstGeom>
          <a:noFill/>
          <a:ln/>
        </p:spPr>
        <p:txBody>
          <a:bodyPr wrap="square" rtlCol="0" anchor="b"/>
          <a:lstStyle/>
          <a:p>
            <a:pPr algn="ctr" indent="0" marL="0">
              <a:buNone/>
            </a:pPr>
            <a:r>
              <a:rPr lang="en-US" sz="1400" dirty="0">
                <a:solidFill>
                  <a:srgbClr val="2B2D42"/>
                </a:solidFill>
                <a:latin typeface="Calibri" pitchFamily="34" charset="0"/>
                <a:ea typeface="Calibri" pitchFamily="34" charset="-122"/>
                <a:cs typeface="Calibri" pitchFamily="34" charset="-120"/>
              </a:rPr>
              <a:t>Request</a:t>
            </a:r>
            <a:endParaRPr lang="en-US" sz="1400" dirty="0"/>
          </a:p>
        </p:txBody>
      </p:sp>
      <p:sp>
        <p:nvSpPr>
          <p:cNvPr id="10" name="Shape 8"/>
          <p:cNvSpPr/>
          <p:nvPr/>
        </p:nvSpPr>
        <p:spPr>
          <a:xfrm>
            <a:off x="2651760" y="2862072"/>
            <a:ext cx="3840480" cy="0"/>
          </a:xfrm>
          <a:prstGeom prst="line">
            <a:avLst/>
          </a:prstGeom>
          <a:noFill/>
          <a:ln w="28575">
            <a:solidFill>
              <a:srgbClr val="D90429"/>
            </a:solidFill>
            <a:prstDash val="solid"/>
            <a:headEnd type="triangle"/>
          </a:ln>
        </p:spPr>
      </p:sp>
      <p:sp>
        <p:nvSpPr>
          <p:cNvPr id="11" name="Text 9"/>
          <p:cNvSpPr/>
          <p:nvPr/>
        </p:nvSpPr>
        <p:spPr>
          <a:xfrm>
            <a:off x="2651760" y="2916936"/>
            <a:ext cx="3840480" cy="320040"/>
          </a:xfrm>
          <a:prstGeom prst="rect">
            <a:avLst/>
          </a:prstGeom>
          <a:noFill/>
          <a:ln/>
        </p:spPr>
        <p:txBody>
          <a:bodyPr wrap="square" rtlCol="0" anchor="t"/>
          <a:lstStyle/>
          <a:p>
            <a:pPr algn="ctr" indent="0" marL="0">
              <a:buNone/>
            </a:pPr>
            <a:r>
              <a:rPr lang="en-US" sz="1400" dirty="0">
                <a:solidFill>
                  <a:srgbClr val="D90429"/>
                </a:solidFill>
                <a:latin typeface="Calibri" pitchFamily="34" charset="0"/>
                <a:ea typeface="Calibri" pitchFamily="34" charset="-122"/>
                <a:cs typeface="Calibri" pitchFamily="34" charset="-120"/>
              </a:rPr>
              <a:t>Response</a:t>
            </a:r>
            <a:endParaRPr lang="en-US" sz="1400" dirty="0"/>
          </a:p>
        </p:txBody>
      </p:sp>
      <p:sp>
        <p:nvSpPr>
          <p:cNvPr id="12" name="Text 10"/>
          <p:cNvSpPr/>
          <p:nvPr/>
        </p:nvSpPr>
        <p:spPr>
          <a:xfrm>
            <a:off x="365760" y="4160520"/>
            <a:ext cx="8412480" cy="411480"/>
          </a:xfrm>
          <a:prstGeom prst="rect">
            <a:avLst/>
          </a:prstGeom>
          <a:noFill/>
          <a:ln/>
        </p:spPr>
        <p:txBody>
          <a:bodyPr wrap="square" rtlCol="0" anchor="t"/>
          <a:lstStyle/>
          <a:p>
            <a:pPr algn="l" indent="0" marL="0">
              <a:buNone/>
            </a:pPr>
            <a:r>
              <a:rPr lang="en-US" sz="1100" i="1" dirty="0">
                <a:solidFill>
                  <a:srgbClr val="8D99AE"/>
                </a:solidFill>
                <a:latin typeface="Calibri" pitchFamily="34" charset="0"/>
                <a:ea typeface="Calibri" pitchFamily="34" charset="-122"/>
                <a:cs typeface="Calibri" pitchFamily="34" charset="-120"/>
              </a:rPr>
              <a:t>Illustrative example — swap in a live API call/screenshot here if available.</a:t>
            </a:r>
            <a:endParaRPr lang="en-US" sz="1100" dirty="0"/>
          </a:p>
        </p:txBody>
      </p:sp>
      <p:sp>
        <p:nvSpPr>
          <p:cNvPr id="13" name="Shape 11"/>
          <p:cNvSpPr/>
          <p:nvPr/>
        </p:nvSpPr>
        <p:spPr>
          <a:xfrm>
            <a:off x="8503920" y="4663440"/>
            <a:ext cx="365760" cy="365760"/>
          </a:xfrm>
          <a:prstGeom prst="ellipse">
            <a:avLst/>
          </a:prstGeom>
          <a:solidFill>
            <a:srgbClr val="D90429"/>
          </a:solidFill>
          <a:ln/>
        </p:spPr>
      </p:sp>
      <p:sp>
        <p:nvSpPr>
          <p:cNvPr id="14" name="Text 12"/>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65760"/>
            <a:ext cx="8412480" cy="640080"/>
          </a:xfrm>
          <a:prstGeom prst="rect">
            <a:avLst/>
          </a:prstGeom>
          <a:noFill/>
          <a:ln/>
        </p:spPr>
        <p:txBody>
          <a:bodyPr wrap="square" rtlCol="0" anchor="t"/>
          <a:lstStyle/>
          <a:p>
            <a:pPr algn="l" indent="0" marL="0">
              <a:buNone/>
            </a:pPr>
            <a:r>
              <a:rPr lang="en-US" sz="3600" b="1" dirty="0">
                <a:solidFill>
                  <a:srgbClr val="2B2D42"/>
                </a:solidFill>
                <a:latin typeface="Cambria" pitchFamily="34" charset="0"/>
                <a:ea typeface="Cambria" pitchFamily="34" charset="-122"/>
                <a:cs typeface="Cambria" pitchFamily="34" charset="-120"/>
              </a:rPr>
              <a:t>Forms of APIs</a:t>
            </a:r>
            <a:endParaRPr lang="en-US" sz="3600" dirty="0"/>
          </a:p>
        </p:txBody>
      </p:sp>
      <p:sp>
        <p:nvSpPr>
          <p:cNvPr id="3" name="Shape 1"/>
          <p:cNvSpPr/>
          <p:nvPr/>
        </p:nvSpPr>
        <p:spPr>
          <a:xfrm>
            <a:off x="1005840" y="1417320"/>
            <a:ext cx="3291840" cy="2331720"/>
          </a:xfrm>
          <a:prstGeom prst="roundRect">
            <a:avLst>
              <a:gd name="adj" fmla="val 4706"/>
            </a:avLst>
          </a:prstGeom>
          <a:solidFill>
            <a:srgbClr val="FFFFFF"/>
          </a:solidFill>
          <a:ln w="12700">
            <a:solidFill>
              <a:srgbClr val="8D99AE"/>
            </a:solidFill>
            <a:prstDash val="solid"/>
          </a:ln>
          <a:effectLst>
            <a:outerShdw sx="100000" sy="100000" kx="0" ky="0" algn="bl" rotWithShape="0" blurRad="63500" dist="25400" dir="8100000">
              <a:srgbClr val="000000">
                <a:alpha val="12000"/>
              </a:srgbClr>
            </a:outerShdw>
          </a:effectLst>
        </p:spPr>
      </p:sp>
      <p:sp>
        <p:nvSpPr>
          <p:cNvPr id="4" name="Shape 2"/>
          <p:cNvSpPr/>
          <p:nvPr/>
        </p:nvSpPr>
        <p:spPr>
          <a:xfrm>
            <a:off x="2240280" y="1737360"/>
            <a:ext cx="822960" cy="822960"/>
          </a:xfrm>
          <a:prstGeom prst="ellipse">
            <a:avLst/>
          </a:prstGeom>
          <a:solidFill>
            <a:srgbClr val="D90429"/>
          </a:solidFill>
          <a:ln/>
        </p:spPr>
      </p:sp>
      <p:sp>
        <p:nvSpPr>
          <p:cNvPr id="5" name="Text 3"/>
          <p:cNvSpPr/>
          <p:nvPr/>
        </p:nvSpPr>
        <p:spPr>
          <a:xfrm>
            <a:off x="2240280" y="1737360"/>
            <a:ext cx="822960" cy="822960"/>
          </a:xfrm>
          <a:prstGeom prst="rect">
            <a:avLst/>
          </a:prstGeom>
          <a:noFill/>
          <a:ln/>
        </p:spPr>
        <p:txBody>
          <a:bodyPr wrap="square" rtlCol="0" anchor="ctr"/>
          <a:lstStyle/>
          <a:p>
            <a:pPr algn="ctr" indent="0" marL="0">
              <a:buNone/>
            </a:pPr>
            <a:r>
              <a:rPr lang="en-US" sz="3000" b="1" dirty="0">
                <a:solidFill>
                  <a:srgbClr val="EDF2F4"/>
                </a:solidFill>
                <a:latin typeface="Cambria" pitchFamily="34" charset="0"/>
                <a:ea typeface="Cambria" pitchFamily="34" charset="-122"/>
                <a:cs typeface="Cambria" pitchFamily="34" charset="-120"/>
              </a:rPr>
              <a:t>R</a:t>
            </a:r>
            <a:endParaRPr lang="en-US" sz="3000" dirty="0"/>
          </a:p>
        </p:txBody>
      </p:sp>
      <p:sp>
        <p:nvSpPr>
          <p:cNvPr id="6" name="Text 4"/>
          <p:cNvSpPr/>
          <p:nvPr/>
        </p:nvSpPr>
        <p:spPr>
          <a:xfrm>
            <a:off x="1005840" y="2788920"/>
            <a:ext cx="3291840" cy="640080"/>
          </a:xfrm>
          <a:prstGeom prst="rect">
            <a:avLst/>
          </a:prstGeom>
          <a:noFill/>
          <a:ln/>
        </p:spPr>
        <p:txBody>
          <a:bodyPr wrap="square" rtlCol="0" anchor="ctr"/>
          <a:lstStyle/>
          <a:p>
            <a:pPr algn="ctr" indent="0" marL="0">
              <a:buNone/>
            </a:pPr>
            <a:r>
              <a:rPr lang="en-US" sz="2800" b="1" dirty="0">
                <a:solidFill>
                  <a:srgbClr val="2B2D42"/>
                </a:solidFill>
                <a:latin typeface="Cambria" pitchFamily="34" charset="0"/>
                <a:ea typeface="Cambria" pitchFamily="34" charset="-122"/>
                <a:cs typeface="Cambria" pitchFamily="34" charset="-120"/>
              </a:rPr>
              <a:t>REST</a:t>
            </a:r>
            <a:endParaRPr lang="en-US" sz="2800" dirty="0"/>
          </a:p>
        </p:txBody>
      </p:sp>
      <p:sp>
        <p:nvSpPr>
          <p:cNvPr id="7" name="Shape 5"/>
          <p:cNvSpPr/>
          <p:nvPr/>
        </p:nvSpPr>
        <p:spPr>
          <a:xfrm>
            <a:off x="4846320" y="1417320"/>
            <a:ext cx="3291840" cy="2331720"/>
          </a:xfrm>
          <a:prstGeom prst="roundRect">
            <a:avLst>
              <a:gd name="adj" fmla="val 4706"/>
            </a:avLst>
          </a:prstGeom>
          <a:solidFill>
            <a:srgbClr val="FFFFFF"/>
          </a:solidFill>
          <a:ln w="12700">
            <a:solidFill>
              <a:srgbClr val="8D99AE"/>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6080760" y="1737360"/>
            <a:ext cx="822960" cy="822960"/>
          </a:xfrm>
          <a:prstGeom prst="ellipse">
            <a:avLst/>
          </a:prstGeom>
          <a:solidFill>
            <a:srgbClr val="D90429"/>
          </a:solidFill>
          <a:ln/>
        </p:spPr>
      </p:sp>
      <p:sp>
        <p:nvSpPr>
          <p:cNvPr id="9" name="Text 7"/>
          <p:cNvSpPr/>
          <p:nvPr/>
        </p:nvSpPr>
        <p:spPr>
          <a:xfrm>
            <a:off x="6080760" y="1737360"/>
            <a:ext cx="822960" cy="822960"/>
          </a:xfrm>
          <a:prstGeom prst="rect">
            <a:avLst/>
          </a:prstGeom>
          <a:noFill/>
          <a:ln/>
        </p:spPr>
        <p:txBody>
          <a:bodyPr wrap="square" rtlCol="0" anchor="ctr"/>
          <a:lstStyle/>
          <a:p>
            <a:pPr algn="ctr" indent="0" marL="0">
              <a:buNone/>
            </a:pPr>
            <a:r>
              <a:rPr lang="en-US" sz="3000" b="1" dirty="0">
                <a:solidFill>
                  <a:srgbClr val="EDF2F4"/>
                </a:solidFill>
                <a:latin typeface="Cambria" pitchFamily="34" charset="0"/>
                <a:ea typeface="Cambria" pitchFamily="34" charset="-122"/>
                <a:cs typeface="Cambria" pitchFamily="34" charset="-120"/>
              </a:rPr>
              <a:t>M</a:t>
            </a:r>
            <a:endParaRPr lang="en-US" sz="3000" dirty="0"/>
          </a:p>
        </p:txBody>
      </p:sp>
      <p:sp>
        <p:nvSpPr>
          <p:cNvPr id="10" name="Text 8"/>
          <p:cNvSpPr/>
          <p:nvPr/>
        </p:nvSpPr>
        <p:spPr>
          <a:xfrm>
            <a:off x="4846320" y="2788920"/>
            <a:ext cx="3291840" cy="640080"/>
          </a:xfrm>
          <a:prstGeom prst="rect">
            <a:avLst/>
          </a:prstGeom>
          <a:noFill/>
          <a:ln/>
        </p:spPr>
        <p:txBody>
          <a:bodyPr wrap="square" rtlCol="0" anchor="ctr"/>
          <a:lstStyle/>
          <a:p>
            <a:pPr algn="ctr" indent="0" marL="0">
              <a:buNone/>
            </a:pPr>
            <a:r>
              <a:rPr lang="en-US" sz="2800" b="1" dirty="0">
                <a:solidFill>
                  <a:srgbClr val="2B2D42"/>
                </a:solidFill>
                <a:latin typeface="Cambria" pitchFamily="34" charset="0"/>
                <a:ea typeface="Cambria" pitchFamily="34" charset="-122"/>
                <a:cs typeface="Cambria" pitchFamily="34" charset="-120"/>
              </a:rPr>
              <a:t>MCP</a:t>
            </a:r>
            <a:endParaRPr lang="en-US" sz="2800" dirty="0"/>
          </a:p>
        </p:txBody>
      </p:sp>
      <p:sp>
        <p:nvSpPr>
          <p:cNvPr id="11" name="Text 9"/>
          <p:cNvSpPr/>
          <p:nvPr/>
        </p:nvSpPr>
        <p:spPr>
          <a:xfrm>
            <a:off x="365760" y="3977640"/>
            <a:ext cx="8412480" cy="457200"/>
          </a:xfrm>
          <a:prstGeom prst="rect">
            <a:avLst/>
          </a:prstGeom>
          <a:noFill/>
          <a:ln/>
        </p:spPr>
        <p:txBody>
          <a:bodyPr wrap="square" rtlCol="0" anchor="t"/>
          <a:lstStyle/>
          <a:p>
            <a:pPr algn="l" indent="0" marL="0">
              <a:buNone/>
            </a:pPr>
            <a:r>
              <a:rPr lang="en-US" sz="1800" b="1" dirty="0">
                <a:solidFill>
                  <a:srgbClr val="D90429"/>
                </a:solidFill>
                <a:latin typeface="Calibri" pitchFamily="34" charset="0"/>
                <a:ea typeface="Calibri" pitchFamily="34" charset="-122"/>
                <a:cs typeface="Calibri" pitchFamily="34" charset="-120"/>
              </a:rPr>
              <a:t>We'll focus only on REST and MCP.</a:t>
            </a:r>
            <a:endParaRPr lang="en-US" sz="1800" dirty="0"/>
          </a:p>
        </p:txBody>
      </p:sp>
      <p:sp>
        <p:nvSpPr>
          <p:cNvPr id="12" name="Shape 10"/>
          <p:cNvSpPr/>
          <p:nvPr/>
        </p:nvSpPr>
        <p:spPr>
          <a:xfrm>
            <a:off x="8503920" y="4663440"/>
            <a:ext cx="365760" cy="365760"/>
          </a:xfrm>
          <a:prstGeom prst="ellipse">
            <a:avLst/>
          </a:prstGeom>
          <a:solidFill>
            <a:srgbClr val="D90429"/>
          </a:solidFill>
          <a:ln/>
        </p:spPr>
      </p:sp>
      <p:sp>
        <p:nvSpPr>
          <p:cNvPr id="13" name="Text 11"/>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65760"/>
            <a:ext cx="8412480" cy="594360"/>
          </a:xfrm>
          <a:prstGeom prst="rect">
            <a:avLst/>
          </a:prstGeom>
          <a:noFill/>
          <a:ln/>
        </p:spPr>
        <p:txBody>
          <a:bodyPr wrap="square" rtlCol="0" anchor="t"/>
          <a:lstStyle/>
          <a:p>
            <a:pPr algn="l" indent="0" marL="0">
              <a:buNone/>
            </a:pPr>
            <a:r>
              <a:rPr lang="en-US" sz="3600" b="1" dirty="0">
                <a:solidFill>
                  <a:srgbClr val="2B2D42"/>
                </a:solidFill>
                <a:latin typeface="Cambria" pitchFamily="34" charset="0"/>
                <a:ea typeface="Cambria" pitchFamily="34" charset="-122"/>
                <a:cs typeface="Cambria" pitchFamily="34" charset="-120"/>
              </a:rPr>
              <a:t>What Is MCP?</a:t>
            </a:r>
            <a:endParaRPr lang="en-US" sz="3600" dirty="0"/>
          </a:p>
        </p:txBody>
      </p:sp>
      <p:sp>
        <p:nvSpPr>
          <p:cNvPr id="3" name="Text 1"/>
          <p:cNvSpPr/>
          <p:nvPr/>
        </p:nvSpPr>
        <p:spPr>
          <a:xfrm>
            <a:off x="365760" y="960120"/>
            <a:ext cx="8412480" cy="502920"/>
          </a:xfrm>
          <a:prstGeom prst="rect">
            <a:avLst/>
          </a:prstGeom>
          <a:noFill/>
          <a:ln/>
        </p:spPr>
        <p:txBody>
          <a:bodyPr wrap="square" rtlCol="0" anchor="t"/>
          <a:lstStyle/>
          <a:p>
            <a:pPr algn="l" indent="0" marL="0">
              <a:buNone/>
            </a:pPr>
            <a:r>
              <a:rPr lang="en-US" sz="1500" dirty="0">
                <a:solidFill>
                  <a:srgbClr val="8D99AE"/>
                </a:solidFill>
                <a:latin typeface="Calibri" pitchFamily="34" charset="0"/>
                <a:ea typeface="Calibri" pitchFamily="34" charset="-122"/>
                <a:cs typeface="Calibri" pitchFamily="34" charset="-120"/>
              </a:rPr>
              <a:t>An open standard that lets AI models connect to external tools, data, and services in a consistent way.</a:t>
            </a:r>
            <a:endParaRPr lang="en-US" sz="1500" dirty="0"/>
          </a:p>
        </p:txBody>
      </p:sp>
      <p:sp>
        <p:nvSpPr>
          <p:cNvPr id="4" name="Shape 2"/>
          <p:cNvSpPr/>
          <p:nvPr/>
        </p:nvSpPr>
        <p:spPr>
          <a:xfrm>
            <a:off x="365760" y="1691640"/>
            <a:ext cx="3931920" cy="2743200"/>
          </a:xfrm>
          <a:prstGeom prst="rect">
            <a:avLst/>
          </a:prstGeom>
          <a:solidFill>
            <a:srgbClr val="FFFFFF"/>
          </a:solidFill>
          <a:ln w="12700">
            <a:solidFill>
              <a:srgbClr val="8D99AE"/>
            </a:solidFill>
            <a:prstDash val="solid"/>
          </a:ln>
        </p:spPr>
      </p:sp>
      <p:sp>
        <p:nvSpPr>
          <p:cNvPr id="5" name="Shape 3"/>
          <p:cNvSpPr/>
          <p:nvPr/>
        </p:nvSpPr>
        <p:spPr>
          <a:xfrm>
            <a:off x="365760" y="1691640"/>
            <a:ext cx="3931920" cy="502920"/>
          </a:xfrm>
          <a:prstGeom prst="rect">
            <a:avLst/>
          </a:prstGeom>
          <a:solidFill>
            <a:srgbClr val="2B2D42"/>
          </a:solidFill>
          <a:ln/>
        </p:spPr>
      </p:sp>
      <p:sp>
        <p:nvSpPr>
          <p:cNvPr id="6" name="Text 4"/>
          <p:cNvSpPr/>
          <p:nvPr/>
        </p:nvSpPr>
        <p:spPr>
          <a:xfrm>
            <a:off x="594360" y="1691640"/>
            <a:ext cx="3703320" cy="502920"/>
          </a:xfrm>
          <a:prstGeom prst="rect">
            <a:avLst/>
          </a:prstGeom>
          <a:noFill/>
          <a:ln/>
        </p:spPr>
        <p:txBody>
          <a:bodyPr wrap="square" rtlCol="0" anchor="ctr"/>
          <a:lstStyle/>
          <a:p>
            <a:pPr algn="l" indent="0" marL="0">
              <a:buNone/>
            </a:pPr>
            <a:r>
              <a:rPr lang="en-US" sz="2000" b="1" dirty="0">
                <a:solidFill>
                  <a:srgbClr val="EDF2F4"/>
                </a:solidFill>
                <a:latin typeface="Cambria" pitchFamily="34" charset="0"/>
                <a:ea typeface="Cambria" pitchFamily="34" charset="-122"/>
                <a:cs typeface="Cambria" pitchFamily="34" charset="-120"/>
              </a:rPr>
              <a:t>API</a:t>
            </a:r>
            <a:endParaRPr lang="en-US" sz="2000" dirty="0"/>
          </a:p>
        </p:txBody>
      </p:sp>
      <p:sp>
        <p:nvSpPr>
          <p:cNvPr id="7" name="Text 5"/>
          <p:cNvSpPr/>
          <p:nvPr/>
        </p:nvSpPr>
        <p:spPr>
          <a:xfrm>
            <a:off x="594360" y="2423160"/>
            <a:ext cx="3474720" cy="1737360"/>
          </a:xfrm>
          <a:prstGeom prst="rect">
            <a:avLst/>
          </a:prstGeom>
          <a:noFill/>
          <a:ln/>
        </p:spPr>
        <p:txBody>
          <a:bodyPr wrap="square" rtlCol="0" anchor="t"/>
          <a:lstStyle/>
          <a:p>
            <a:pPr algn="l" indent="0" marL="0">
              <a:buNone/>
            </a:pPr>
            <a:r>
              <a:rPr lang="en-US" sz="1500" dirty="0">
                <a:solidFill>
                  <a:srgbClr val="8D99AE"/>
                </a:solidFill>
                <a:latin typeface="Calibri" pitchFamily="34" charset="0"/>
                <a:ea typeface="Calibri" pitchFamily="34" charset="-122"/>
                <a:cs typeface="Calibri" pitchFamily="34" charset="-120"/>
              </a:rPr>
              <a:t>One application talking to another application.</a:t>
            </a:r>
            <a:endParaRPr lang="en-US" sz="1500" dirty="0"/>
          </a:p>
        </p:txBody>
      </p:sp>
      <p:sp>
        <p:nvSpPr>
          <p:cNvPr id="8" name="Shape 6"/>
          <p:cNvSpPr/>
          <p:nvPr/>
        </p:nvSpPr>
        <p:spPr>
          <a:xfrm>
            <a:off x="4846320" y="1691640"/>
            <a:ext cx="3931920" cy="2743200"/>
          </a:xfrm>
          <a:prstGeom prst="rect">
            <a:avLst/>
          </a:prstGeom>
          <a:solidFill>
            <a:srgbClr val="D90429">
              <a:alpha val="10000"/>
            </a:srgbClr>
          </a:solidFill>
          <a:ln w="12700">
            <a:solidFill>
              <a:srgbClr val="8D99AE"/>
            </a:solidFill>
            <a:prstDash val="solid"/>
          </a:ln>
        </p:spPr>
      </p:sp>
      <p:sp>
        <p:nvSpPr>
          <p:cNvPr id="9" name="Shape 7"/>
          <p:cNvSpPr/>
          <p:nvPr/>
        </p:nvSpPr>
        <p:spPr>
          <a:xfrm>
            <a:off x="4846320" y="1691640"/>
            <a:ext cx="3931920" cy="502920"/>
          </a:xfrm>
          <a:prstGeom prst="rect">
            <a:avLst/>
          </a:prstGeom>
          <a:solidFill>
            <a:srgbClr val="D90429"/>
          </a:solidFill>
          <a:ln/>
        </p:spPr>
      </p:sp>
      <p:sp>
        <p:nvSpPr>
          <p:cNvPr id="10" name="Text 8"/>
          <p:cNvSpPr/>
          <p:nvPr/>
        </p:nvSpPr>
        <p:spPr>
          <a:xfrm>
            <a:off x="5074920" y="1691640"/>
            <a:ext cx="3703320" cy="502920"/>
          </a:xfrm>
          <a:prstGeom prst="rect">
            <a:avLst/>
          </a:prstGeom>
          <a:noFill/>
          <a:ln/>
        </p:spPr>
        <p:txBody>
          <a:bodyPr wrap="square" rtlCol="0" anchor="ctr"/>
          <a:lstStyle/>
          <a:p>
            <a:pPr algn="l" indent="0" marL="0">
              <a:buNone/>
            </a:pPr>
            <a:r>
              <a:rPr lang="en-US" sz="2000" b="1" dirty="0">
                <a:solidFill>
                  <a:srgbClr val="EDF2F4"/>
                </a:solidFill>
                <a:latin typeface="Cambria" pitchFamily="34" charset="0"/>
                <a:ea typeface="Cambria" pitchFamily="34" charset="-122"/>
                <a:cs typeface="Cambria" pitchFamily="34" charset="-120"/>
              </a:rPr>
              <a:t>MCP</a:t>
            </a:r>
            <a:endParaRPr lang="en-US" sz="2000" dirty="0"/>
          </a:p>
        </p:txBody>
      </p:sp>
      <p:sp>
        <p:nvSpPr>
          <p:cNvPr id="11" name="Text 9"/>
          <p:cNvSpPr/>
          <p:nvPr/>
        </p:nvSpPr>
        <p:spPr>
          <a:xfrm>
            <a:off x="5074920" y="2423160"/>
            <a:ext cx="3474720" cy="1737360"/>
          </a:xfrm>
          <a:prstGeom prst="rect">
            <a:avLst/>
          </a:prstGeom>
          <a:noFill/>
          <a:ln/>
        </p:spPr>
        <p:txBody>
          <a:bodyPr wrap="square" rtlCol="0" anchor="t"/>
          <a:lstStyle/>
          <a:p>
            <a:pPr algn="l" indent="0" marL="0">
              <a:buNone/>
            </a:pPr>
            <a:r>
              <a:rPr lang="en-US" sz="1500" dirty="0">
                <a:solidFill>
                  <a:srgbClr val="8D99AE"/>
                </a:solidFill>
                <a:latin typeface="Calibri" pitchFamily="34" charset="0"/>
                <a:ea typeface="Calibri" pitchFamily="34" charset="-122"/>
                <a:cs typeface="Calibri" pitchFamily="34" charset="-120"/>
              </a:rPr>
              <a:t>A standard way for an AI model to discover and use many tools, without a custom integration for each one.</a:t>
            </a:r>
            <a:endParaRPr lang="en-US" sz="1500" dirty="0"/>
          </a:p>
        </p:txBody>
      </p:sp>
      <p:sp>
        <p:nvSpPr>
          <p:cNvPr id="12" name="Shape 10"/>
          <p:cNvSpPr/>
          <p:nvPr/>
        </p:nvSpPr>
        <p:spPr>
          <a:xfrm>
            <a:off x="4279392" y="2843784"/>
            <a:ext cx="438912" cy="438912"/>
          </a:xfrm>
          <a:prstGeom prst="ellipse">
            <a:avLst/>
          </a:prstGeom>
          <a:solidFill>
            <a:srgbClr val="2B2D42"/>
          </a:solidFill>
          <a:ln w="25400">
            <a:solidFill>
              <a:srgbClr val="EDF2F4"/>
            </a:solidFill>
            <a:prstDash val="solid"/>
          </a:ln>
        </p:spPr>
      </p:sp>
      <p:sp>
        <p:nvSpPr>
          <p:cNvPr id="13" name="Shape 11"/>
          <p:cNvSpPr/>
          <p:nvPr/>
        </p:nvSpPr>
        <p:spPr>
          <a:xfrm>
            <a:off x="8503920" y="4663440"/>
            <a:ext cx="365760" cy="365760"/>
          </a:xfrm>
          <a:prstGeom prst="ellipse">
            <a:avLst/>
          </a:prstGeom>
          <a:solidFill>
            <a:srgbClr val="D90429"/>
          </a:solidFill>
          <a:ln/>
        </p:spPr>
      </p:sp>
      <p:sp>
        <p:nvSpPr>
          <p:cNvPr id="14" name="Text 12"/>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65760"/>
            <a:ext cx="8412480" cy="731520"/>
          </a:xfrm>
          <a:prstGeom prst="rect">
            <a:avLst/>
          </a:prstGeom>
          <a:noFill/>
          <a:ln/>
        </p:spPr>
        <p:txBody>
          <a:bodyPr wrap="square" rtlCol="0" anchor="t">
            <a:normAutofit/>
          </a:bodyPr>
          <a:lstStyle/>
          <a:p>
            <a:pPr algn="l" indent="0" marL="0">
              <a:buNone/>
            </a:pPr>
            <a:r>
              <a:rPr lang="en-US" sz="3600" b="1" dirty="0">
                <a:solidFill>
                  <a:srgbClr val="2B2D42"/>
                </a:solidFill>
                <a:latin typeface="Cambria" pitchFamily="34" charset="0"/>
                <a:ea typeface="Cambria" pitchFamily="34" charset="-122"/>
                <a:cs typeface="Cambria" pitchFamily="34" charset="-120"/>
              </a:rPr>
              <a:t>Making MCP Easy for Everyone</a:t>
            </a:r>
            <a:endParaRPr lang="en-US" sz="3600" dirty="0"/>
          </a:p>
        </p:txBody>
      </p:sp>
      <p:sp>
        <p:nvSpPr>
          <p:cNvPr id="3" name="Text 1"/>
          <p:cNvSpPr/>
          <p:nvPr/>
        </p:nvSpPr>
        <p:spPr>
          <a:xfrm>
            <a:off x="365760" y="1737360"/>
            <a:ext cx="5120640" cy="1188720"/>
          </a:xfrm>
          <a:prstGeom prst="rect">
            <a:avLst/>
          </a:prstGeom>
          <a:noFill/>
          <a:ln/>
        </p:spPr>
        <p:txBody>
          <a:bodyPr wrap="square" rtlCol="0" anchor="t"/>
          <a:lstStyle/>
          <a:p>
            <a:pPr algn="l" indent="0" marL="0">
              <a:buNone/>
            </a:pPr>
            <a:r>
              <a:rPr lang="en-US" sz="2000" dirty="0">
                <a:solidFill>
                  <a:srgbClr val="8D99AE"/>
                </a:solidFill>
                <a:latin typeface="Calibri" pitchFamily="34" charset="0"/>
                <a:ea typeface="Calibri" pitchFamily="34" charset="-122"/>
                <a:cs typeface="Calibri" pitchFamily="34" charset="-120"/>
              </a:rPr>
              <a:t>How do companies make MCP simple for a normal consumer to access?</a:t>
            </a:r>
            <a:endParaRPr lang="en-US" sz="2000" dirty="0"/>
          </a:p>
        </p:txBody>
      </p:sp>
      <p:sp>
        <p:nvSpPr>
          <p:cNvPr id="4" name="Text 2"/>
          <p:cNvSpPr/>
          <p:nvPr/>
        </p:nvSpPr>
        <p:spPr>
          <a:xfrm>
            <a:off x="365760" y="2880360"/>
            <a:ext cx="5120640" cy="1005840"/>
          </a:xfrm>
          <a:prstGeom prst="rect">
            <a:avLst/>
          </a:prstGeom>
          <a:noFill/>
          <a:ln/>
        </p:spPr>
        <p:txBody>
          <a:bodyPr wrap="square" rtlCol="0" anchor="t"/>
          <a:lstStyle/>
          <a:p>
            <a:pPr algn="l" indent="0" marL="0">
              <a:buNone/>
            </a:pPr>
            <a:r>
              <a:rPr lang="en-US" sz="5400" b="1" dirty="0">
                <a:solidFill>
                  <a:srgbClr val="D90429"/>
                </a:solidFill>
                <a:latin typeface="Cambria" pitchFamily="34" charset="0"/>
                <a:ea typeface="Cambria" pitchFamily="34" charset="-122"/>
                <a:cs typeface="Cambria" pitchFamily="34" charset="-120"/>
              </a:rPr>
              <a:t>Connectors.</a:t>
            </a:r>
            <a:endParaRPr lang="en-US" sz="5400" dirty="0"/>
          </a:p>
        </p:txBody>
      </p:sp>
      <p:sp>
        <p:nvSpPr>
          <p:cNvPr id="5" name="Shape 3"/>
          <p:cNvSpPr/>
          <p:nvPr/>
        </p:nvSpPr>
        <p:spPr>
          <a:xfrm>
            <a:off x="5989320" y="2240280"/>
            <a:ext cx="1005840" cy="1005840"/>
          </a:xfrm>
          <a:prstGeom prst="ellipse">
            <a:avLst/>
          </a:prstGeom>
          <a:solidFill>
            <a:srgbClr val="2B2D42"/>
          </a:solidFill>
          <a:ln/>
        </p:spPr>
      </p:sp>
      <p:sp>
        <p:nvSpPr>
          <p:cNvPr id="6" name="Shape 4"/>
          <p:cNvSpPr/>
          <p:nvPr/>
        </p:nvSpPr>
        <p:spPr>
          <a:xfrm>
            <a:off x="6903720" y="2596896"/>
            <a:ext cx="822960" cy="292608"/>
          </a:xfrm>
          <a:prstGeom prst="rect">
            <a:avLst/>
          </a:prstGeom>
          <a:solidFill>
            <a:srgbClr val="8D99AE"/>
          </a:solidFill>
          <a:ln/>
        </p:spPr>
      </p:sp>
      <p:sp>
        <p:nvSpPr>
          <p:cNvPr id="7" name="Shape 5"/>
          <p:cNvSpPr/>
          <p:nvPr/>
        </p:nvSpPr>
        <p:spPr>
          <a:xfrm>
            <a:off x="7635240" y="2240280"/>
            <a:ext cx="1005840" cy="1005840"/>
          </a:xfrm>
          <a:prstGeom prst="ellipse">
            <a:avLst/>
          </a:prstGeom>
          <a:solidFill>
            <a:srgbClr val="D90429"/>
          </a:solidFill>
          <a:ln/>
        </p:spPr>
      </p:sp>
      <p:sp>
        <p:nvSpPr>
          <p:cNvPr id="8" name="Shape 6"/>
          <p:cNvSpPr/>
          <p:nvPr/>
        </p:nvSpPr>
        <p:spPr>
          <a:xfrm>
            <a:off x="6446520" y="2688336"/>
            <a:ext cx="109728" cy="109728"/>
          </a:xfrm>
          <a:prstGeom prst="ellipse">
            <a:avLst/>
          </a:prstGeom>
          <a:solidFill>
            <a:srgbClr val="EDF2F4"/>
          </a:solidFill>
          <a:ln/>
        </p:spPr>
      </p:sp>
      <p:sp>
        <p:nvSpPr>
          <p:cNvPr id="9" name="Shape 7"/>
          <p:cNvSpPr/>
          <p:nvPr/>
        </p:nvSpPr>
        <p:spPr>
          <a:xfrm>
            <a:off x="7936992" y="2688336"/>
            <a:ext cx="109728" cy="109728"/>
          </a:xfrm>
          <a:prstGeom prst="ellipse">
            <a:avLst/>
          </a:prstGeom>
          <a:solidFill>
            <a:srgbClr val="EDF2F4"/>
          </a:solidFill>
          <a:ln/>
        </p:spPr>
      </p:sp>
      <p:sp>
        <p:nvSpPr>
          <p:cNvPr id="10" name="Shape 8"/>
          <p:cNvSpPr/>
          <p:nvPr/>
        </p:nvSpPr>
        <p:spPr>
          <a:xfrm>
            <a:off x="8503920" y="4663440"/>
            <a:ext cx="365760" cy="365760"/>
          </a:xfrm>
          <a:prstGeom prst="ellipse">
            <a:avLst/>
          </a:prstGeom>
          <a:solidFill>
            <a:srgbClr val="D90429"/>
          </a:solidFill>
          <a:ln/>
        </p:spPr>
      </p:sp>
      <p:sp>
        <p:nvSpPr>
          <p:cNvPr id="11" name="Text 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65760"/>
            <a:ext cx="8412480" cy="822960"/>
          </a:xfrm>
          <a:prstGeom prst="rect">
            <a:avLst/>
          </a:prstGeom>
          <a:noFill/>
          <a:ln/>
        </p:spPr>
        <p:txBody>
          <a:bodyPr wrap="square" rtlCol="0" anchor="t">
            <a:normAutofit/>
          </a:bodyPr>
          <a:lstStyle/>
          <a:p>
            <a:pPr algn="l" indent="0" marL="0">
              <a:buNone/>
            </a:pPr>
            <a:r>
              <a:rPr lang="en-US" sz="3200" b="1" dirty="0">
                <a:solidFill>
                  <a:srgbClr val="2B2D42"/>
                </a:solidFill>
                <a:latin typeface="Cambria" pitchFamily="34" charset="0"/>
                <a:ea typeface="Cambria" pitchFamily="34" charset="-122"/>
                <a:cs typeface="Cambria" pitchFamily="34" charset="-120"/>
              </a:rPr>
              <a:t>What Is a Connector — and Why It Matters</a:t>
            </a:r>
            <a:endParaRPr lang="en-US" sz="3200" dirty="0"/>
          </a:p>
        </p:txBody>
      </p:sp>
      <p:sp>
        <p:nvSpPr>
          <p:cNvPr id="3" name="Text 1"/>
          <p:cNvSpPr/>
          <p:nvPr/>
        </p:nvSpPr>
        <p:spPr>
          <a:xfrm>
            <a:off x="365760" y="1325880"/>
            <a:ext cx="4846320" cy="1280160"/>
          </a:xfrm>
          <a:prstGeom prst="rect">
            <a:avLst/>
          </a:prstGeom>
          <a:noFill/>
          <a:ln/>
        </p:spPr>
        <p:txBody>
          <a:bodyPr wrap="square" rtlCol="0" anchor="t"/>
          <a:lstStyle/>
          <a:p>
            <a:pPr algn="l" indent="0" marL="0">
              <a:buNone/>
            </a:pPr>
            <a:r>
              <a:rPr lang="en-US" sz="1600" dirty="0">
                <a:solidFill>
                  <a:srgbClr val="8D99AE"/>
                </a:solidFill>
                <a:latin typeface="Calibri" pitchFamily="34" charset="0"/>
                <a:ea typeface="Calibri" pitchFamily="34" charset="-122"/>
                <a:cs typeface="Calibri" pitchFamily="34" charset="-120"/>
              </a:rPr>
              <a:t>Connectors make it seamless to link different applications — and Claude Code lets you expand even further.</a:t>
            </a:r>
            <a:endParaRPr lang="en-US" sz="1600" dirty="0"/>
          </a:p>
        </p:txBody>
      </p:sp>
      <p:sp>
        <p:nvSpPr>
          <p:cNvPr id="4" name="Shape 2"/>
          <p:cNvSpPr/>
          <p:nvPr/>
        </p:nvSpPr>
        <p:spPr>
          <a:xfrm>
            <a:off x="365760" y="2788920"/>
            <a:ext cx="3566160" cy="457200"/>
          </a:xfrm>
          <a:prstGeom prst="roundRect">
            <a:avLst>
              <a:gd name="adj" fmla="val 50000"/>
            </a:avLst>
          </a:prstGeom>
          <a:solidFill>
            <a:srgbClr val="2B2D42"/>
          </a:solidFill>
          <a:ln/>
        </p:spPr>
      </p:sp>
      <p:sp>
        <p:nvSpPr>
          <p:cNvPr id="5" name="Shape 3"/>
          <p:cNvSpPr/>
          <p:nvPr/>
        </p:nvSpPr>
        <p:spPr>
          <a:xfrm>
            <a:off x="594360" y="2962656"/>
            <a:ext cx="109728" cy="109728"/>
          </a:xfrm>
          <a:prstGeom prst="ellipse">
            <a:avLst/>
          </a:prstGeom>
          <a:solidFill>
            <a:srgbClr val="EF233C"/>
          </a:solidFill>
          <a:ln/>
        </p:spPr>
      </p:sp>
      <p:sp>
        <p:nvSpPr>
          <p:cNvPr id="6" name="Text 4"/>
          <p:cNvSpPr/>
          <p:nvPr/>
        </p:nvSpPr>
        <p:spPr>
          <a:xfrm>
            <a:off x="822960" y="2788920"/>
            <a:ext cx="3063240" cy="457200"/>
          </a:xfrm>
          <a:prstGeom prst="rect">
            <a:avLst/>
          </a:prstGeom>
          <a:noFill/>
          <a:ln/>
        </p:spPr>
        <p:txBody>
          <a:bodyPr wrap="square" rtlCol="0" anchor="ctr"/>
          <a:lstStyle/>
          <a:p>
            <a:pPr algn="l" indent="0" marL="0">
              <a:buNone/>
            </a:pPr>
            <a:r>
              <a:rPr lang="en-US" sz="1100" b="1" spc="50" kern="0" dirty="0">
                <a:solidFill>
                  <a:srgbClr val="EDF2F4"/>
                </a:solidFill>
                <a:latin typeface="Calibri" pitchFamily="34" charset="0"/>
                <a:ea typeface="Calibri" pitchFamily="34" charset="-122"/>
                <a:cs typeface="Calibri" pitchFamily="34" charset="-120"/>
              </a:rPr>
              <a:t>LIVE EXAMPLE SHOWN IN CLAUDE CODE</a:t>
            </a:r>
            <a:endParaRPr lang="en-US" sz="1100" dirty="0"/>
          </a:p>
        </p:txBody>
      </p:sp>
      <p:sp>
        <p:nvSpPr>
          <p:cNvPr id="7" name="Shape 5"/>
          <p:cNvSpPr/>
          <p:nvPr/>
        </p:nvSpPr>
        <p:spPr>
          <a:xfrm>
            <a:off x="6446520" y="2331720"/>
            <a:ext cx="1371600" cy="457200"/>
          </a:xfrm>
          <a:prstGeom prst="rect">
            <a:avLst/>
          </a:prstGeom>
          <a:solidFill>
            <a:srgbClr val="D90429"/>
          </a:solidFill>
          <a:ln/>
        </p:spPr>
      </p:sp>
      <p:sp>
        <p:nvSpPr>
          <p:cNvPr id="8" name="Text 6"/>
          <p:cNvSpPr/>
          <p:nvPr/>
        </p:nvSpPr>
        <p:spPr>
          <a:xfrm>
            <a:off x="6446520" y="2331720"/>
            <a:ext cx="1371600" cy="457200"/>
          </a:xfrm>
          <a:prstGeom prst="rect">
            <a:avLst/>
          </a:prstGeom>
          <a:noFill/>
          <a:ln/>
        </p:spPr>
        <p:txBody>
          <a:bodyPr wrap="square" rtlCol="0" anchor="ctr"/>
          <a:lstStyle/>
          <a:p>
            <a:pPr algn="ctr" indent="0" marL="0">
              <a:buNone/>
            </a:pPr>
            <a:r>
              <a:rPr lang="en-US" sz="1200" b="1" dirty="0">
                <a:solidFill>
                  <a:srgbClr val="EDF2F4"/>
                </a:solidFill>
                <a:latin typeface="Cambria" pitchFamily="34" charset="0"/>
                <a:ea typeface="Cambria" pitchFamily="34" charset="-122"/>
                <a:cs typeface="Cambria" pitchFamily="34" charset="-120"/>
              </a:rPr>
              <a:t>Claude Code</a:t>
            </a:r>
            <a:endParaRPr lang="en-US" sz="1200" dirty="0"/>
          </a:p>
        </p:txBody>
      </p:sp>
      <p:sp>
        <p:nvSpPr>
          <p:cNvPr id="9" name="Shape 7"/>
          <p:cNvSpPr/>
          <p:nvPr/>
        </p:nvSpPr>
        <p:spPr>
          <a:xfrm>
            <a:off x="5212080" y="2103120"/>
            <a:ext cx="1234440" cy="960120"/>
          </a:xfrm>
          <a:prstGeom prst="roundRect">
            <a:avLst>
              <a:gd name="adj" fmla="val 9524"/>
            </a:avLst>
          </a:prstGeom>
          <a:solidFill>
            <a:srgbClr val="2B2D42"/>
          </a:solidFill>
          <a:ln/>
        </p:spPr>
      </p:sp>
      <p:sp>
        <p:nvSpPr>
          <p:cNvPr id="10" name="Text 8"/>
          <p:cNvSpPr/>
          <p:nvPr/>
        </p:nvSpPr>
        <p:spPr>
          <a:xfrm>
            <a:off x="5212080" y="2103120"/>
            <a:ext cx="1234440" cy="960120"/>
          </a:xfrm>
          <a:prstGeom prst="rect">
            <a:avLst/>
          </a:prstGeom>
          <a:noFill/>
          <a:ln/>
        </p:spPr>
        <p:txBody>
          <a:bodyPr wrap="square" rtlCol="0" anchor="ctr"/>
          <a:lstStyle/>
          <a:p>
            <a:pPr algn="ctr" indent="0" marL="0">
              <a:buNone/>
            </a:pPr>
            <a:r>
              <a:rPr lang="en-US" sz="1300" dirty="0">
                <a:solidFill>
                  <a:srgbClr val="EDF2F4"/>
                </a:solidFill>
                <a:latin typeface="Calibri" pitchFamily="34" charset="0"/>
                <a:ea typeface="Calibri" pitchFamily="34" charset="-122"/>
                <a:cs typeface="Calibri" pitchFamily="34" charset="-120"/>
              </a:rPr>
              <a:t>App A</a:t>
            </a:r>
            <a:endParaRPr lang="en-US" sz="1300" dirty="0"/>
          </a:p>
        </p:txBody>
      </p:sp>
      <p:sp>
        <p:nvSpPr>
          <p:cNvPr id="11" name="Shape 9"/>
          <p:cNvSpPr/>
          <p:nvPr/>
        </p:nvSpPr>
        <p:spPr>
          <a:xfrm>
            <a:off x="7818120" y="2103120"/>
            <a:ext cx="1234440" cy="960120"/>
          </a:xfrm>
          <a:prstGeom prst="roundRect">
            <a:avLst>
              <a:gd name="adj" fmla="val 9524"/>
            </a:avLst>
          </a:prstGeom>
          <a:solidFill>
            <a:srgbClr val="2B2D42"/>
          </a:solidFill>
          <a:ln/>
        </p:spPr>
      </p:sp>
      <p:sp>
        <p:nvSpPr>
          <p:cNvPr id="12" name="Text 10"/>
          <p:cNvSpPr/>
          <p:nvPr/>
        </p:nvSpPr>
        <p:spPr>
          <a:xfrm>
            <a:off x="7818120" y="2103120"/>
            <a:ext cx="1234440" cy="960120"/>
          </a:xfrm>
          <a:prstGeom prst="rect">
            <a:avLst/>
          </a:prstGeom>
          <a:noFill/>
          <a:ln/>
        </p:spPr>
        <p:txBody>
          <a:bodyPr wrap="square" rtlCol="0" anchor="ctr"/>
          <a:lstStyle/>
          <a:p>
            <a:pPr algn="ctr" indent="0" marL="0">
              <a:buNone/>
            </a:pPr>
            <a:r>
              <a:rPr lang="en-US" sz="1300" dirty="0">
                <a:solidFill>
                  <a:srgbClr val="EDF2F4"/>
                </a:solidFill>
                <a:latin typeface="Calibri" pitchFamily="34" charset="0"/>
                <a:ea typeface="Calibri" pitchFamily="34" charset="-122"/>
                <a:cs typeface="Calibri" pitchFamily="34" charset="-120"/>
              </a:rPr>
              <a:t>App B</a:t>
            </a:r>
            <a:endParaRPr lang="en-US" sz="1300" dirty="0"/>
          </a:p>
        </p:txBody>
      </p:sp>
      <p:sp>
        <p:nvSpPr>
          <p:cNvPr id="13" name="Shape 11"/>
          <p:cNvSpPr/>
          <p:nvPr/>
        </p:nvSpPr>
        <p:spPr>
          <a:xfrm>
            <a:off x="6364224" y="2478024"/>
            <a:ext cx="164592" cy="164592"/>
          </a:xfrm>
          <a:prstGeom prst="ellipse">
            <a:avLst/>
          </a:prstGeom>
          <a:solidFill>
            <a:srgbClr val="EDF2F4"/>
          </a:solidFill>
          <a:ln/>
        </p:spPr>
      </p:sp>
      <p:sp>
        <p:nvSpPr>
          <p:cNvPr id="14" name="Shape 12"/>
          <p:cNvSpPr/>
          <p:nvPr/>
        </p:nvSpPr>
        <p:spPr>
          <a:xfrm>
            <a:off x="7735824" y="2478024"/>
            <a:ext cx="164592" cy="164592"/>
          </a:xfrm>
          <a:prstGeom prst="ellipse">
            <a:avLst/>
          </a:prstGeom>
          <a:solidFill>
            <a:srgbClr val="EDF2F4"/>
          </a:solidFill>
          <a:ln/>
        </p:spPr>
      </p:sp>
      <p:sp>
        <p:nvSpPr>
          <p:cNvPr id="15" name="Text 13"/>
          <p:cNvSpPr/>
          <p:nvPr/>
        </p:nvSpPr>
        <p:spPr>
          <a:xfrm>
            <a:off x="6172200" y="2926080"/>
            <a:ext cx="1920240" cy="365760"/>
          </a:xfrm>
          <a:prstGeom prst="rect">
            <a:avLst/>
          </a:prstGeom>
          <a:noFill/>
          <a:ln/>
        </p:spPr>
        <p:txBody>
          <a:bodyPr wrap="square" rtlCol="0" anchor="t"/>
          <a:lstStyle/>
          <a:p>
            <a:pPr algn="ctr" indent="0" marL="0">
              <a:buNone/>
            </a:pPr>
            <a:r>
              <a:rPr lang="en-US" sz="1100" i="1" dirty="0">
                <a:solidFill>
                  <a:srgbClr val="8D99AE"/>
                </a:solidFill>
                <a:latin typeface="Calibri" pitchFamily="34" charset="0"/>
                <a:ea typeface="Calibri" pitchFamily="34" charset="-122"/>
                <a:cs typeface="Calibri" pitchFamily="34" charset="-120"/>
              </a:rPr>
              <a:t>+ more apps, one connector</a:t>
            </a:r>
            <a:endParaRPr lang="en-US" sz="1100" dirty="0"/>
          </a:p>
        </p:txBody>
      </p:sp>
      <p:sp>
        <p:nvSpPr>
          <p:cNvPr id="16" name="Shape 14"/>
          <p:cNvSpPr/>
          <p:nvPr/>
        </p:nvSpPr>
        <p:spPr>
          <a:xfrm>
            <a:off x="8503920" y="4663440"/>
            <a:ext cx="365760" cy="365760"/>
          </a:xfrm>
          <a:prstGeom prst="ellipse">
            <a:avLst/>
          </a:prstGeom>
          <a:solidFill>
            <a:srgbClr val="D90429"/>
          </a:solidFill>
          <a:ln/>
        </p:spPr>
      </p:sp>
      <p:sp>
        <p:nvSpPr>
          <p:cNvPr id="17" name="Text 1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65760"/>
            <a:ext cx="8412480" cy="640080"/>
          </a:xfrm>
          <a:prstGeom prst="rect">
            <a:avLst/>
          </a:prstGeom>
          <a:noFill/>
          <a:ln/>
        </p:spPr>
        <p:txBody>
          <a:bodyPr wrap="square" rtlCol="0" anchor="ctr"/>
          <a:lstStyle/>
          <a:p>
            <a:pPr algn="l" indent="0" marL="0">
              <a:buNone/>
            </a:pPr>
            <a:r>
              <a:rPr lang="en-US" sz="3600" b="1" dirty="0">
                <a:solidFill>
                  <a:srgbClr val="2B2D42"/>
                </a:solidFill>
                <a:latin typeface="Cambria" pitchFamily="34" charset="0"/>
                <a:ea typeface="Cambria" pitchFamily="34" charset="-122"/>
                <a:cs typeface="Cambria" pitchFamily="34" charset="-120"/>
              </a:rPr>
              <a:t>One Bridge, Every Tool</a:t>
            </a:r>
            <a:endParaRPr lang="en-US" sz="3600" dirty="0"/>
          </a:p>
        </p:txBody>
      </p:sp>
      <p:sp>
        <p:nvSpPr>
          <p:cNvPr id="3" name="Text 1"/>
          <p:cNvSpPr/>
          <p:nvPr/>
        </p:nvSpPr>
        <p:spPr>
          <a:xfrm>
            <a:off x="365760" y="1005840"/>
            <a:ext cx="8412480" cy="548640"/>
          </a:xfrm>
          <a:prstGeom prst="rect">
            <a:avLst/>
          </a:prstGeom>
          <a:noFill/>
          <a:ln/>
        </p:spPr>
        <p:txBody>
          <a:bodyPr wrap="square" rtlCol="0" anchor="t"/>
          <a:lstStyle/>
          <a:p>
            <a:pPr algn="l" indent="0" marL="0">
              <a:buNone/>
            </a:pPr>
            <a:r>
              <a:rPr lang="en-US" sz="1500" dirty="0">
                <a:solidFill>
                  <a:srgbClr val="8D99AE"/>
                </a:solidFill>
                <a:latin typeface="Calibri" pitchFamily="34" charset="0"/>
                <a:ea typeface="Calibri" pitchFamily="34" charset="-122"/>
                <a:cs typeface="Calibri" pitchFamily="34" charset="-120"/>
              </a:rPr>
              <a:t>You'll use this across every project — imagine a bridge built once, letting all these tools cross and reach each other.</a:t>
            </a:r>
            <a:endParaRPr lang="en-US" sz="1500" dirty="0"/>
          </a:p>
        </p:txBody>
      </p:sp>
      <p:sp>
        <p:nvSpPr>
          <p:cNvPr id="4" name="Shape 2"/>
          <p:cNvSpPr/>
          <p:nvPr/>
        </p:nvSpPr>
        <p:spPr>
          <a:xfrm>
            <a:off x="1965960" y="2057400"/>
            <a:ext cx="2606040" cy="1188720"/>
          </a:xfrm>
          <a:prstGeom prst="line">
            <a:avLst/>
          </a:prstGeom>
          <a:noFill/>
          <a:ln w="19050">
            <a:solidFill>
              <a:srgbClr val="8D99AE"/>
            </a:solidFill>
            <a:prstDash val="solid"/>
          </a:ln>
        </p:spPr>
      </p:sp>
      <p:sp>
        <p:nvSpPr>
          <p:cNvPr id="5" name="Shape 3"/>
          <p:cNvSpPr/>
          <p:nvPr/>
        </p:nvSpPr>
        <p:spPr>
          <a:xfrm flipV="1">
            <a:off x="4572000" y="2057400"/>
            <a:ext cx="2606040" cy="1188720"/>
          </a:xfrm>
          <a:prstGeom prst="line">
            <a:avLst/>
          </a:prstGeom>
          <a:noFill/>
          <a:ln w="19050">
            <a:solidFill>
              <a:srgbClr val="8D99AE"/>
            </a:solidFill>
            <a:prstDash val="solid"/>
          </a:ln>
        </p:spPr>
      </p:sp>
      <p:sp>
        <p:nvSpPr>
          <p:cNvPr id="6" name="Shape 4"/>
          <p:cNvSpPr/>
          <p:nvPr/>
        </p:nvSpPr>
        <p:spPr>
          <a:xfrm flipV="1">
            <a:off x="1097280" y="3246120"/>
            <a:ext cx="3474720" cy="457200"/>
          </a:xfrm>
          <a:prstGeom prst="line">
            <a:avLst/>
          </a:prstGeom>
          <a:noFill/>
          <a:ln w="19050">
            <a:solidFill>
              <a:srgbClr val="8D99AE"/>
            </a:solidFill>
            <a:prstDash val="solid"/>
          </a:ln>
        </p:spPr>
      </p:sp>
      <p:sp>
        <p:nvSpPr>
          <p:cNvPr id="7" name="Shape 5"/>
          <p:cNvSpPr/>
          <p:nvPr/>
        </p:nvSpPr>
        <p:spPr>
          <a:xfrm>
            <a:off x="4572000" y="3246120"/>
            <a:ext cx="3474720" cy="457200"/>
          </a:xfrm>
          <a:prstGeom prst="line">
            <a:avLst/>
          </a:prstGeom>
          <a:noFill/>
          <a:ln w="19050">
            <a:solidFill>
              <a:srgbClr val="8D99AE"/>
            </a:solidFill>
            <a:prstDash val="solid"/>
          </a:ln>
        </p:spPr>
      </p:sp>
      <p:sp>
        <p:nvSpPr>
          <p:cNvPr id="8" name="Shape 6"/>
          <p:cNvSpPr/>
          <p:nvPr/>
        </p:nvSpPr>
        <p:spPr>
          <a:xfrm flipV="1">
            <a:off x="4572000" y="3246120"/>
            <a:ext cx="0" cy="1280160"/>
          </a:xfrm>
          <a:prstGeom prst="line">
            <a:avLst/>
          </a:prstGeom>
          <a:noFill/>
          <a:ln w="19050">
            <a:solidFill>
              <a:srgbClr val="8D99AE"/>
            </a:solidFill>
            <a:prstDash val="solid"/>
          </a:ln>
        </p:spPr>
      </p:sp>
      <p:sp>
        <p:nvSpPr>
          <p:cNvPr id="9" name="Shape 7"/>
          <p:cNvSpPr/>
          <p:nvPr/>
        </p:nvSpPr>
        <p:spPr>
          <a:xfrm>
            <a:off x="1581912" y="1673352"/>
            <a:ext cx="768096" cy="768096"/>
          </a:xfrm>
          <a:prstGeom prst="ellipse">
            <a:avLst/>
          </a:prstGeom>
          <a:solidFill>
            <a:srgbClr val="8D99AE"/>
          </a:solidFill>
          <a:ln/>
        </p:spPr>
      </p:sp>
      <p:sp>
        <p:nvSpPr>
          <p:cNvPr id="10" name="Text 8"/>
          <p:cNvSpPr/>
          <p:nvPr/>
        </p:nvSpPr>
        <p:spPr>
          <a:xfrm>
            <a:off x="1581912" y="1673352"/>
            <a:ext cx="768096" cy="768096"/>
          </a:xfrm>
          <a:prstGeom prst="rect">
            <a:avLst/>
          </a:prstGeom>
          <a:noFill/>
          <a:ln/>
        </p:spPr>
        <p:txBody>
          <a:bodyPr wrap="square" lIns="0" tIns="0" rIns="0" bIns="0" rtlCol="0" anchor="ctr"/>
          <a:lstStyle/>
          <a:p>
            <a:pPr algn="ctr" indent="0" marL="0">
              <a:buNone/>
            </a:pPr>
            <a:r>
              <a:rPr lang="en-US" sz="1050" dirty="0">
                <a:solidFill>
                  <a:srgbClr val="EDF2F4"/>
                </a:solidFill>
                <a:latin typeface="Calibri" pitchFamily="34" charset="0"/>
                <a:ea typeface="Calibri" pitchFamily="34" charset="-122"/>
                <a:cs typeface="Calibri" pitchFamily="34" charset="-120"/>
              </a:rPr>
              <a:t>Email</a:t>
            </a:r>
            <a:endParaRPr lang="en-US" sz="1050" dirty="0"/>
          </a:p>
        </p:txBody>
      </p:sp>
      <p:sp>
        <p:nvSpPr>
          <p:cNvPr id="11" name="Shape 9"/>
          <p:cNvSpPr/>
          <p:nvPr/>
        </p:nvSpPr>
        <p:spPr>
          <a:xfrm>
            <a:off x="6793992" y="1673352"/>
            <a:ext cx="768096" cy="768096"/>
          </a:xfrm>
          <a:prstGeom prst="ellipse">
            <a:avLst/>
          </a:prstGeom>
          <a:solidFill>
            <a:srgbClr val="8D99AE"/>
          </a:solidFill>
          <a:ln/>
        </p:spPr>
      </p:sp>
      <p:sp>
        <p:nvSpPr>
          <p:cNvPr id="12" name="Text 10"/>
          <p:cNvSpPr/>
          <p:nvPr/>
        </p:nvSpPr>
        <p:spPr>
          <a:xfrm>
            <a:off x="6793992" y="1673352"/>
            <a:ext cx="768096" cy="768096"/>
          </a:xfrm>
          <a:prstGeom prst="rect">
            <a:avLst/>
          </a:prstGeom>
          <a:noFill/>
          <a:ln/>
        </p:spPr>
        <p:txBody>
          <a:bodyPr wrap="square" lIns="0" tIns="0" rIns="0" bIns="0" rtlCol="0" anchor="ctr"/>
          <a:lstStyle/>
          <a:p>
            <a:pPr algn="ctr" indent="0" marL="0">
              <a:buNone/>
            </a:pPr>
            <a:r>
              <a:rPr lang="en-US" sz="1050" dirty="0">
                <a:solidFill>
                  <a:srgbClr val="EDF2F4"/>
                </a:solidFill>
                <a:latin typeface="Calibri" pitchFamily="34" charset="0"/>
                <a:ea typeface="Calibri" pitchFamily="34" charset="-122"/>
                <a:cs typeface="Calibri" pitchFamily="34" charset="-120"/>
              </a:rPr>
              <a:t>Calendar</a:t>
            </a:r>
            <a:endParaRPr lang="en-US" sz="1050" dirty="0"/>
          </a:p>
        </p:txBody>
      </p:sp>
      <p:sp>
        <p:nvSpPr>
          <p:cNvPr id="13" name="Shape 11"/>
          <p:cNvSpPr/>
          <p:nvPr/>
        </p:nvSpPr>
        <p:spPr>
          <a:xfrm>
            <a:off x="713232" y="3319272"/>
            <a:ext cx="768096" cy="768096"/>
          </a:xfrm>
          <a:prstGeom prst="ellipse">
            <a:avLst/>
          </a:prstGeom>
          <a:solidFill>
            <a:srgbClr val="8D99AE"/>
          </a:solidFill>
          <a:ln/>
        </p:spPr>
      </p:sp>
      <p:sp>
        <p:nvSpPr>
          <p:cNvPr id="14" name="Text 12"/>
          <p:cNvSpPr/>
          <p:nvPr/>
        </p:nvSpPr>
        <p:spPr>
          <a:xfrm>
            <a:off x="713232" y="3319272"/>
            <a:ext cx="768096" cy="768096"/>
          </a:xfrm>
          <a:prstGeom prst="rect">
            <a:avLst/>
          </a:prstGeom>
          <a:noFill/>
          <a:ln/>
        </p:spPr>
        <p:txBody>
          <a:bodyPr wrap="square" lIns="0" tIns="0" rIns="0" bIns="0" rtlCol="0" anchor="ctr"/>
          <a:lstStyle/>
          <a:p>
            <a:pPr algn="ctr" indent="0" marL="0">
              <a:buNone/>
            </a:pPr>
            <a:r>
              <a:rPr lang="en-US" sz="1050" dirty="0">
                <a:solidFill>
                  <a:srgbClr val="EDF2F4"/>
                </a:solidFill>
                <a:latin typeface="Calibri" pitchFamily="34" charset="0"/>
                <a:ea typeface="Calibri" pitchFamily="34" charset="-122"/>
                <a:cs typeface="Calibri" pitchFamily="34" charset="-120"/>
              </a:rPr>
              <a:t>Docs</a:t>
            </a:r>
            <a:endParaRPr lang="en-US" sz="1050" dirty="0"/>
          </a:p>
        </p:txBody>
      </p:sp>
      <p:sp>
        <p:nvSpPr>
          <p:cNvPr id="15" name="Shape 13"/>
          <p:cNvSpPr/>
          <p:nvPr/>
        </p:nvSpPr>
        <p:spPr>
          <a:xfrm>
            <a:off x="7662672" y="3319272"/>
            <a:ext cx="768096" cy="768096"/>
          </a:xfrm>
          <a:prstGeom prst="ellipse">
            <a:avLst/>
          </a:prstGeom>
          <a:solidFill>
            <a:srgbClr val="8D99AE"/>
          </a:solidFill>
          <a:ln/>
        </p:spPr>
      </p:sp>
      <p:sp>
        <p:nvSpPr>
          <p:cNvPr id="16" name="Text 14"/>
          <p:cNvSpPr/>
          <p:nvPr/>
        </p:nvSpPr>
        <p:spPr>
          <a:xfrm>
            <a:off x="7662672" y="3319272"/>
            <a:ext cx="768096" cy="768096"/>
          </a:xfrm>
          <a:prstGeom prst="rect">
            <a:avLst/>
          </a:prstGeom>
          <a:noFill/>
          <a:ln/>
        </p:spPr>
        <p:txBody>
          <a:bodyPr wrap="square" lIns="0" tIns="0" rIns="0" bIns="0" rtlCol="0" anchor="ctr"/>
          <a:lstStyle/>
          <a:p>
            <a:pPr algn="ctr" indent="0" marL="0">
              <a:buNone/>
            </a:pPr>
            <a:r>
              <a:rPr lang="en-US" sz="1050" dirty="0">
                <a:solidFill>
                  <a:srgbClr val="EDF2F4"/>
                </a:solidFill>
                <a:latin typeface="Calibri" pitchFamily="34" charset="0"/>
                <a:ea typeface="Calibri" pitchFamily="34" charset="-122"/>
                <a:cs typeface="Calibri" pitchFamily="34" charset="-120"/>
              </a:rPr>
              <a:t>CRM</a:t>
            </a:r>
            <a:endParaRPr lang="en-US" sz="1050" dirty="0"/>
          </a:p>
        </p:txBody>
      </p:sp>
      <p:sp>
        <p:nvSpPr>
          <p:cNvPr id="17" name="Shape 15"/>
          <p:cNvSpPr/>
          <p:nvPr/>
        </p:nvSpPr>
        <p:spPr>
          <a:xfrm>
            <a:off x="4187952" y="4142232"/>
            <a:ext cx="768096" cy="768096"/>
          </a:xfrm>
          <a:prstGeom prst="ellipse">
            <a:avLst/>
          </a:prstGeom>
          <a:solidFill>
            <a:srgbClr val="8D99AE"/>
          </a:solidFill>
          <a:ln/>
        </p:spPr>
      </p:sp>
      <p:sp>
        <p:nvSpPr>
          <p:cNvPr id="18" name="Text 16"/>
          <p:cNvSpPr/>
          <p:nvPr/>
        </p:nvSpPr>
        <p:spPr>
          <a:xfrm>
            <a:off x="4187952" y="4142232"/>
            <a:ext cx="768096" cy="768096"/>
          </a:xfrm>
          <a:prstGeom prst="rect">
            <a:avLst/>
          </a:prstGeom>
          <a:noFill/>
          <a:ln/>
        </p:spPr>
        <p:txBody>
          <a:bodyPr wrap="square" lIns="0" tIns="0" rIns="0" bIns="0" rtlCol="0" anchor="ctr"/>
          <a:lstStyle/>
          <a:p>
            <a:pPr algn="ctr" indent="0" marL="0">
              <a:buNone/>
            </a:pPr>
            <a:r>
              <a:rPr lang="en-US" sz="1050" dirty="0">
                <a:solidFill>
                  <a:srgbClr val="EDF2F4"/>
                </a:solidFill>
                <a:latin typeface="Calibri" pitchFamily="34" charset="0"/>
                <a:ea typeface="Calibri" pitchFamily="34" charset="-122"/>
                <a:cs typeface="Calibri" pitchFamily="34" charset="-120"/>
              </a:rPr>
              <a:t>Chat</a:t>
            </a:r>
            <a:endParaRPr lang="en-US" sz="1050" dirty="0"/>
          </a:p>
        </p:txBody>
      </p:sp>
      <p:sp>
        <p:nvSpPr>
          <p:cNvPr id="19" name="Shape 17"/>
          <p:cNvSpPr/>
          <p:nvPr/>
        </p:nvSpPr>
        <p:spPr>
          <a:xfrm>
            <a:off x="4069080" y="2743200"/>
            <a:ext cx="1005840" cy="1005840"/>
          </a:xfrm>
          <a:prstGeom prst="ellipse">
            <a:avLst/>
          </a:prstGeom>
          <a:solidFill>
            <a:srgbClr val="D90429"/>
          </a:solidFill>
          <a:ln/>
        </p:spPr>
      </p:sp>
      <p:sp>
        <p:nvSpPr>
          <p:cNvPr id="20" name="Text 18"/>
          <p:cNvSpPr/>
          <p:nvPr/>
        </p:nvSpPr>
        <p:spPr>
          <a:xfrm>
            <a:off x="4069080" y="2743200"/>
            <a:ext cx="1005840" cy="1005840"/>
          </a:xfrm>
          <a:prstGeom prst="rect">
            <a:avLst/>
          </a:prstGeom>
          <a:noFill/>
          <a:ln/>
        </p:spPr>
        <p:txBody>
          <a:bodyPr wrap="square" lIns="0" tIns="0" rIns="0" bIns="0" rtlCol="0" anchor="ctr"/>
          <a:lstStyle/>
          <a:p>
            <a:pPr algn="ctr" indent="0" marL="0">
              <a:buNone/>
            </a:pPr>
            <a:r>
              <a:rPr lang="en-US" sz="1400" dirty="0">
                <a:solidFill>
                  <a:srgbClr val="EDF2F4"/>
                </a:solidFill>
                <a:latin typeface="Calibri" pitchFamily="34" charset="0"/>
                <a:ea typeface="Calibri" pitchFamily="34" charset="-122"/>
                <a:cs typeface="Calibri" pitchFamily="34" charset="-120"/>
              </a:rPr>
              <a:t>Bridge</a:t>
            </a:r>
            <a:endParaRPr lang="en-US" sz="1400" dirty="0"/>
          </a:p>
        </p:txBody>
      </p:sp>
      <p:sp>
        <p:nvSpPr>
          <p:cNvPr id="21" name="Shape 19"/>
          <p:cNvSpPr/>
          <p:nvPr/>
        </p:nvSpPr>
        <p:spPr>
          <a:xfrm>
            <a:off x="8503920" y="4663440"/>
            <a:ext cx="365760" cy="365760"/>
          </a:xfrm>
          <a:prstGeom prst="ellipse">
            <a:avLst/>
          </a:prstGeom>
          <a:solidFill>
            <a:srgbClr val="D90429"/>
          </a:solidFill>
          <a:ln/>
        </p:spPr>
      </p:sp>
      <p:sp>
        <p:nvSpPr>
          <p:cNvPr id="22" name="Text 20"/>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B2D42"/>
        </a:solidFill>
      </p:bgPr>
    </p:bg>
    <p:spTree>
      <p:nvGrpSpPr>
        <p:cNvPr id="1" name=""/>
        <p:cNvGrpSpPr/>
        <p:nvPr/>
      </p:nvGrpSpPr>
      <p:grpSpPr>
        <a:xfrm>
          <a:off x="0" y="0"/>
          <a:ext cx="0" cy="0"/>
          <a:chOff x="0" y="0"/>
          <a:chExt cx="0" cy="0"/>
        </a:xfrm>
      </p:grpSpPr>
      <p:sp>
        <p:nvSpPr>
          <p:cNvPr id="2" name="Shape 0"/>
          <p:cNvSpPr/>
          <p:nvPr/>
        </p:nvSpPr>
        <p:spPr>
          <a:xfrm>
            <a:off x="6035040" y="457200"/>
            <a:ext cx="3108960" cy="3108960"/>
          </a:xfrm>
          <a:prstGeom prst="ellipse">
            <a:avLst/>
          </a:prstGeom>
          <a:ln w="19050">
            <a:solidFill>
              <a:srgbClr val="8D99AE">
                <a:alpha val="70000"/>
              </a:srgbClr>
            </a:solidFill>
            <a:prstDash val="solid"/>
          </a:ln>
        </p:spPr>
      </p:sp>
      <p:sp>
        <p:nvSpPr>
          <p:cNvPr id="3" name="Shape 1"/>
          <p:cNvSpPr/>
          <p:nvPr/>
        </p:nvSpPr>
        <p:spPr>
          <a:xfrm>
            <a:off x="6858000" y="1280160"/>
            <a:ext cx="1554480" cy="1554480"/>
          </a:xfrm>
          <a:prstGeom prst="ellipse">
            <a:avLst/>
          </a:prstGeom>
          <a:solidFill>
            <a:srgbClr val="D90429">
              <a:alpha val="18000"/>
            </a:srgbClr>
          </a:solidFill>
          <a:ln/>
        </p:spPr>
      </p:sp>
      <p:sp>
        <p:nvSpPr>
          <p:cNvPr id="4" name="Shape 2"/>
          <p:cNvSpPr/>
          <p:nvPr/>
        </p:nvSpPr>
        <p:spPr>
          <a:xfrm>
            <a:off x="0" y="0"/>
            <a:ext cx="274320" cy="5143500"/>
          </a:xfrm>
          <a:prstGeom prst="rect">
            <a:avLst/>
          </a:prstGeom>
          <a:solidFill>
            <a:srgbClr val="D90429"/>
          </a:solidFill>
          <a:ln/>
        </p:spPr>
      </p:sp>
      <p:sp>
        <p:nvSpPr>
          <p:cNvPr id="5" name="Text 3"/>
          <p:cNvSpPr/>
          <p:nvPr/>
        </p:nvSpPr>
        <p:spPr>
          <a:xfrm>
            <a:off x="640080" y="685800"/>
            <a:ext cx="3657600" cy="1920240"/>
          </a:xfrm>
          <a:prstGeom prst="rect">
            <a:avLst/>
          </a:prstGeom>
          <a:noFill/>
          <a:ln/>
        </p:spPr>
        <p:txBody>
          <a:bodyPr wrap="square" lIns="0" tIns="0" rIns="0" bIns="0" rtlCol="0" anchor="ctr"/>
          <a:lstStyle/>
          <a:p>
            <a:pPr algn="l" indent="0" marL="0">
              <a:buNone/>
            </a:pPr>
            <a:r>
              <a:rPr lang="en-US" sz="12000" b="1" dirty="0">
                <a:solidFill>
                  <a:srgbClr val="EF233C"/>
                </a:solidFill>
                <a:latin typeface="Cambria" pitchFamily="34" charset="0"/>
                <a:ea typeface="Cambria" pitchFamily="34" charset="-122"/>
                <a:cs typeface="Cambria" pitchFamily="34" charset="-120"/>
              </a:rPr>
              <a:t>04</a:t>
            </a:r>
            <a:endParaRPr lang="en-US" sz="12000" dirty="0"/>
          </a:p>
        </p:txBody>
      </p:sp>
      <p:sp>
        <p:nvSpPr>
          <p:cNvPr id="6" name="Text 4"/>
          <p:cNvSpPr/>
          <p:nvPr/>
        </p:nvSpPr>
        <p:spPr>
          <a:xfrm>
            <a:off x="658368" y="2606040"/>
            <a:ext cx="7498080" cy="914400"/>
          </a:xfrm>
          <a:prstGeom prst="rect">
            <a:avLst/>
          </a:prstGeom>
          <a:noFill/>
          <a:ln/>
        </p:spPr>
        <p:txBody>
          <a:bodyPr wrap="square" rtlCol="0" anchor="t"/>
          <a:lstStyle/>
          <a:p>
            <a:pPr algn="l" indent="0" marL="0">
              <a:buNone/>
            </a:pPr>
            <a:r>
              <a:rPr lang="en-US" sz="4200" b="1" dirty="0">
                <a:solidFill>
                  <a:srgbClr val="EDF2F4"/>
                </a:solidFill>
                <a:latin typeface="Cambria" pitchFamily="34" charset="0"/>
                <a:ea typeface="Cambria" pitchFamily="34" charset="-122"/>
                <a:cs typeface="Cambria" pitchFamily="34" charset="-120"/>
              </a:rPr>
              <a:t>What Are AI Agents?</a:t>
            </a:r>
            <a:endParaRPr lang="en-US" sz="4200" dirty="0"/>
          </a:p>
        </p:txBody>
      </p:sp>
      <p:sp>
        <p:nvSpPr>
          <p:cNvPr id="7" name="Text 5"/>
          <p:cNvSpPr/>
          <p:nvPr/>
        </p:nvSpPr>
        <p:spPr>
          <a:xfrm>
            <a:off x="658368" y="3520440"/>
            <a:ext cx="6949440" cy="640080"/>
          </a:xfrm>
          <a:prstGeom prst="rect">
            <a:avLst/>
          </a:prstGeom>
          <a:noFill/>
          <a:ln/>
        </p:spPr>
        <p:txBody>
          <a:bodyPr wrap="square" rtlCol="0" anchor="t"/>
          <a:lstStyle/>
          <a:p>
            <a:pPr algn="l" indent="0" marL="0">
              <a:buNone/>
            </a:pPr>
            <a:r>
              <a:rPr lang="en-US" sz="1800" dirty="0">
                <a:solidFill>
                  <a:srgbClr val="8D99AE"/>
                </a:solidFill>
                <a:latin typeface="Calibri" pitchFamily="34" charset="0"/>
                <a:ea typeface="Calibri" pitchFamily="34" charset="-122"/>
                <a:cs typeface="Calibri" pitchFamily="34" charset="-120"/>
              </a:rPr>
              <a:t>Now for the fun part — and our main platform for building: Claude.</a:t>
            </a:r>
            <a:endParaRPr lang="en-US" sz="1800" dirty="0"/>
          </a:p>
        </p:txBody>
      </p:sp>
      <p:sp>
        <p:nvSpPr>
          <p:cNvPr id="8" name="Shape 6"/>
          <p:cNvSpPr/>
          <p:nvPr/>
        </p:nvSpPr>
        <p:spPr>
          <a:xfrm>
            <a:off x="8503920" y="4663440"/>
            <a:ext cx="365760" cy="365760"/>
          </a:xfrm>
          <a:prstGeom prst="ellipse">
            <a:avLst/>
          </a:prstGeom>
          <a:solidFill>
            <a:srgbClr val="D90429"/>
          </a:solidFill>
          <a:ln/>
        </p:spPr>
      </p:sp>
      <p:sp>
        <p:nvSpPr>
          <p:cNvPr id="9" name="Text 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65760"/>
            <a:ext cx="8412480" cy="685800"/>
          </a:xfrm>
          <a:prstGeom prst="rect">
            <a:avLst/>
          </a:prstGeom>
          <a:noFill/>
          <a:ln/>
        </p:spPr>
        <p:txBody>
          <a:bodyPr wrap="square" rtlCol="0" anchor="ctr"/>
          <a:lstStyle/>
          <a:p>
            <a:pPr algn="l" indent="0" marL="0">
              <a:buNone/>
            </a:pPr>
            <a:r>
              <a:rPr lang="en-US" sz="3600" b="1" dirty="0">
                <a:solidFill>
                  <a:srgbClr val="2B2D42"/>
                </a:solidFill>
                <a:latin typeface="Cambria" pitchFamily="34" charset="0"/>
                <a:ea typeface="Cambria" pitchFamily="34" charset="-122"/>
                <a:cs typeface="Cambria" pitchFamily="34" charset="-120"/>
              </a:rPr>
              <a:t>What Exactly Is an AI Agent?</a:t>
            </a:r>
            <a:endParaRPr lang="en-US" sz="3600" dirty="0"/>
          </a:p>
        </p:txBody>
      </p:sp>
      <p:sp>
        <p:nvSpPr>
          <p:cNvPr id="3" name="Shape 1"/>
          <p:cNvSpPr/>
          <p:nvPr/>
        </p:nvSpPr>
        <p:spPr>
          <a:xfrm>
            <a:off x="365760" y="1554480"/>
            <a:ext cx="82296" cy="2377440"/>
          </a:xfrm>
          <a:prstGeom prst="rect">
            <a:avLst/>
          </a:prstGeom>
          <a:solidFill>
            <a:srgbClr val="D90429"/>
          </a:solidFill>
          <a:ln/>
        </p:spPr>
      </p:sp>
      <p:sp>
        <p:nvSpPr>
          <p:cNvPr id="4" name="Text 2"/>
          <p:cNvSpPr/>
          <p:nvPr/>
        </p:nvSpPr>
        <p:spPr>
          <a:xfrm>
            <a:off x="685800" y="1554480"/>
            <a:ext cx="6035040" cy="2377440"/>
          </a:xfrm>
          <a:prstGeom prst="rect">
            <a:avLst/>
          </a:prstGeom>
          <a:noFill/>
          <a:ln/>
        </p:spPr>
        <p:txBody>
          <a:bodyPr wrap="square" rtlCol="0" anchor="t"/>
          <a:lstStyle/>
          <a:p>
            <a:pPr algn="l" indent="0" marL="0">
              <a:lnSpc>
                <a:spcPct val="125000"/>
              </a:lnSpc>
              <a:buNone/>
            </a:pPr>
            <a:r>
              <a:rPr lang="en-US" sz="2600" i="1" dirty="0">
                <a:solidFill>
                  <a:srgbClr val="2B2D42"/>
                </a:solidFill>
                <a:latin typeface="Calibri" pitchFamily="34" charset="0"/>
                <a:ea typeface="Calibri" pitchFamily="34" charset="-122"/>
                <a:cs typeface="Calibri" pitchFamily="34" charset="-120"/>
              </a:rPr>
              <a:t>A software system that uses AI to pursue a goal — perceiving information, reasoning about next steps, and taking action through tools, often in an iterative feedback loop.</a:t>
            </a:r>
            <a:endParaRPr lang="en-US" sz="2600" dirty="0"/>
          </a:p>
        </p:txBody>
      </p:sp>
      <p:sp>
        <p:nvSpPr>
          <p:cNvPr id="5" name="Shape 3"/>
          <p:cNvSpPr/>
          <p:nvPr/>
        </p:nvSpPr>
        <p:spPr>
          <a:xfrm>
            <a:off x="7086600" y="3246120"/>
            <a:ext cx="1371600" cy="1371600"/>
          </a:xfrm>
          <a:prstGeom prst="ellipse">
            <a:avLst/>
          </a:prstGeom>
          <a:solidFill>
            <a:srgbClr val="D90429">
              <a:alpha val="15000"/>
            </a:srgbClr>
          </a:solidFill>
          <a:ln/>
        </p:spPr>
      </p:sp>
      <p:sp>
        <p:nvSpPr>
          <p:cNvPr id="6" name="Shape 4"/>
          <p:cNvSpPr/>
          <p:nvPr/>
        </p:nvSpPr>
        <p:spPr>
          <a:xfrm>
            <a:off x="7406640" y="3566160"/>
            <a:ext cx="731520" cy="731520"/>
          </a:xfrm>
          <a:prstGeom prst="ellipse">
            <a:avLst/>
          </a:prstGeom>
          <a:solidFill>
            <a:srgbClr val="EF233C">
              <a:alpha val="55000"/>
            </a:srgbClr>
          </a:solidFill>
          <a:ln/>
        </p:spPr>
      </p:sp>
      <p:sp>
        <p:nvSpPr>
          <p:cNvPr id="7" name="Shape 5"/>
          <p:cNvSpPr/>
          <p:nvPr/>
        </p:nvSpPr>
        <p:spPr>
          <a:xfrm>
            <a:off x="7635240" y="3794760"/>
            <a:ext cx="274320" cy="274320"/>
          </a:xfrm>
          <a:prstGeom prst="ellipse">
            <a:avLst/>
          </a:prstGeom>
          <a:solidFill>
            <a:srgbClr val="2B2D42"/>
          </a:solidFill>
          <a:ln/>
        </p:spPr>
      </p:sp>
      <p:sp>
        <p:nvSpPr>
          <p:cNvPr id="8" name="Shape 6"/>
          <p:cNvSpPr/>
          <p:nvPr/>
        </p:nvSpPr>
        <p:spPr>
          <a:xfrm>
            <a:off x="8503920" y="4663440"/>
            <a:ext cx="365760" cy="365760"/>
          </a:xfrm>
          <a:prstGeom prst="ellipse">
            <a:avLst/>
          </a:prstGeom>
          <a:solidFill>
            <a:srgbClr val="D90429"/>
          </a:solidFill>
          <a:ln/>
        </p:spPr>
      </p:sp>
      <p:sp>
        <p:nvSpPr>
          <p:cNvPr id="9" name="Text 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65760"/>
            <a:ext cx="8412480" cy="640080"/>
          </a:xfrm>
          <a:prstGeom prst="rect">
            <a:avLst/>
          </a:prstGeom>
          <a:noFill/>
          <a:ln/>
        </p:spPr>
        <p:txBody>
          <a:bodyPr wrap="square" rtlCol="0" anchor="ctr"/>
          <a:lstStyle/>
          <a:p>
            <a:pPr algn="l" indent="0" marL="0">
              <a:buNone/>
            </a:pPr>
            <a:r>
              <a:rPr lang="en-US" sz="3600" b="1" dirty="0">
                <a:solidFill>
                  <a:srgbClr val="2B2D42"/>
                </a:solidFill>
                <a:latin typeface="Cambria" pitchFamily="34" charset="0"/>
                <a:ea typeface="Cambria" pitchFamily="34" charset="-122"/>
                <a:cs typeface="Cambria" pitchFamily="34" charset="-120"/>
              </a:rPr>
              <a:t>Every Agent Needs a Manual</a:t>
            </a:r>
            <a:endParaRPr lang="en-US" sz="3600" dirty="0"/>
          </a:p>
        </p:txBody>
      </p:sp>
      <p:sp>
        <p:nvSpPr>
          <p:cNvPr id="3" name="Text 1"/>
          <p:cNvSpPr/>
          <p:nvPr/>
        </p:nvSpPr>
        <p:spPr>
          <a:xfrm>
            <a:off x="365760" y="987552"/>
            <a:ext cx="8412480" cy="594360"/>
          </a:xfrm>
          <a:prstGeom prst="rect">
            <a:avLst/>
          </a:prstGeom>
          <a:noFill/>
          <a:ln/>
        </p:spPr>
        <p:txBody>
          <a:bodyPr wrap="square" rtlCol="0" anchor="t"/>
          <a:lstStyle/>
          <a:p>
            <a:pPr algn="l" indent="0" marL="0">
              <a:buNone/>
            </a:pPr>
            <a:r>
              <a:rPr lang="en-US" sz="1500" dirty="0">
                <a:solidFill>
                  <a:srgbClr val="8D99AE"/>
                </a:solidFill>
                <a:latin typeface="Calibri" pitchFamily="34" charset="0"/>
                <a:ea typeface="Calibri" pitchFamily="34" charset="-122"/>
                <a:cs typeface="Calibri" pitchFamily="34" charset="-120"/>
              </a:rPr>
              <a:t>Imagine Claude's logo represents an AI agent you're building right now. Each agent can carry its own manual:</a:t>
            </a:r>
            <a:endParaRPr lang="en-US" sz="1500" dirty="0"/>
          </a:p>
        </p:txBody>
      </p:sp>
      <p:sp>
        <p:nvSpPr>
          <p:cNvPr id="4" name="Shape 2"/>
          <p:cNvSpPr/>
          <p:nvPr/>
        </p:nvSpPr>
        <p:spPr>
          <a:xfrm>
            <a:off x="457200" y="1783080"/>
            <a:ext cx="3931920" cy="2834640"/>
          </a:xfrm>
          <a:prstGeom prst="roundRect">
            <a:avLst>
              <a:gd name="adj" fmla="val 3226"/>
            </a:avLst>
          </a:prstGeom>
          <a:solidFill>
            <a:srgbClr val="2B2D42"/>
          </a:solidFill>
          <a:ln/>
        </p:spPr>
      </p:sp>
      <p:sp>
        <p:nvSpPr>
          <p:cNvPr id="5" name="Shape 3"/>
          <p:cNvSpPr/>
          <p:nvPr/>
        </p:nvSpPr>
        <p:spPr>
          <a:xfrm>
            <a:off x="777240" y="2103120"/>
            <a:ext cx="548640" cy="548640"/>
          </a:xfrm>
          <a:prstGeom prst="ellipse">
            <a:avLst/>
          </a:prstGeom>
          <a:solidFill>
            <a:srgbClr val="D90429"/>
          </a:solidFill>
          <a:ln/>
        </p:spPr>
      </p:sp>
      <p:sp>
        <p:nvSpPr>
          <p:cNvPr id="6" name="Text 4"/>
          <p:cNvSpPr/>
          <p:nvPr/>
        </p:nvSpPr>
        <p:spPr>
          <a:xfrm>
            <a:off x="777240" y="2103120"/>
            <a:ext cx="548640" cy="548640"/>
          </a:xfrm>
          <a:prstGeom prst="rect">
            <a:avLst/>
          </a:prstGeom>
          <a:noFill/>
          <a:ln/>
        </p:spPr>
        <p:txBody>
          <a:bodyPr wrap="square" lIns="0" tIns="0" rIns="0" bIns="0" rtlCol="0" anchor="ctr"/>
          <a:lstStyle/>
          <a:p>
            <a:pPr algn="ctr" indent="0" marL="0">
              <a:buNone/>
            </a:pPr>
            <a:r>
              <a:rPr lang="en-US" sz="2000" b="1" dirty="0">
                <a:solidFill>
                  <a:srgbClr val="EDF2F4"/>
                </a:solidFill>
                <a:latin typeface="Cambria" pitchFamily="34" charset="0"/>
                <a:ea typeface="Cambria" pitchFamily="34" charset="-122"/>
                <a:cs typeface="Cambria" pitchFamily="34" charset="-120"/>
              </a:rPr>
              <a:t>S</a:t>
            </a:r>
            <a:endParaRPr lang="en-US" sz="2000" dirty="0"/>
          </a:p>
        </p:txBody>
      </p:sp>
      <p:sp>
        <p:nvSpPr>
          <p:cNvPr id="7" name="Text 5"/>
          <p:cNvSpPr/>
          <p:nvPr/>
        </p:nvSpPr>
        <p:spPr>
          <a:xfrm>
            <a:off x="1463040" y="2103120"/>
            <a:ext cx="2743200" cy="548640"/>
          </a:xfrm>
          <a:prstGeom prst="rect">
            <a:avLst/>
          </a:prstGeom>
          <a:noFill/>
          <a:ln/>
        </p:spPr>
        <p:txBody>
          <a:bodyPr wrap="square" rtlCol="0" anchor="ctr"/>
          <a:lstStyle/>
          <a:p>
            <a:pPr algn="l" indent="0" marL="0">
              <a:buNone/>
            </a:pPr>
            <a:r>
              <a:rPr lang="en-US" sz="2100" b="1" dirty="0">
                <a:solidFill>
                  <a:srgbClr val="EF233C"/>
                </a:solidFill>
                <a:latin typeface="Cambria" pitchFamily="34" charset="0"/>
                <a:ea typeface="Cambria" pitchFamily="34" charset="-122"/>
                <a:cs typeface="Cambria" pitchFamily="34" charset="-120"/>
              </a:rPr>
              <a:t>SKILL.md</a:t>
            </a:r>
            <a:endParaRPr lang="en-US" sz="2100" dirty="0"/>
          </a:p>
        </p:txBody>
      </p:sp>
      <p:sp>
        <p:nvSpPr>
          <p:cNvPr id="8" name="Text 6"/>
          <p:cNvSpPr/>
          <p:nvPr/>
        </p:nvSpPr>
        <p:spPr>
          <a:xfrm>
            <a:off x="777240" y="2880360"/>
            <a:ext cx="3291840" cy="1554480"/>
          </a:xfrm>
          <a:prstGeom prst="rect">
            <a:avLst/>
          </a:prstGeom>
          <a:noFill/>
          <a:ln/>
        </p:spPr>
        <p:txBody>
          <a:bodyPr wrap="square" rtlCol="0" anchor="t"/>
          <a:lstStyle/>
          <a:p>
            <a:pPr algn="l" indent="0" marL="0">
              <a:lnSpc>
                <a:spcPct val="120000"/>
              </a:lnSpc>
              <a:buNone/>
            </a:pPr>
            <a:r>
              <a:rPr lang="en-US" sz="1500" dirty="0">
                <a:solidFill>
                  <a:srgbClr val="EDF2F4"/>
                </a:solidFill>
                <a:latin typeface="Calibri" pitchFamily="34" charset="0"/>
                <a:ea typeface="Calibri" pitchFamily="34" charset="-122"/>
                <a:cs typeface="Calibri" pitchFamily="34" charset="-120"/>
              </a:rPr>
              <a:t>The toolbox: what the agent can do.</a:t>
            </a:r>
            <a:endParaRPr lang="en-US" sz="1500" dirty="0"/>
          </a:p>
        </p:txBody>
      </p:sp>
      <p:sp>
        <p:nvSpPr>
          <p:cNvPr id="9" name="Shape 7"/>
          <p:cNvSpPr/>
          <p:nvPr/>
        </p:nvSpPr>
        <p:spPr>
          <a:xfrm>
            <a:off x="4754880" y="1783080"/>
            <a:ext cx="3931920" cy="2834640"/>
          </a:xfrm>
          <a:prstGeom prst="roundRect">
            <a:avLst>
              <a:gd name="adj" fmla="val 3226"/>
            </a:avLst>
          </a:prstGeom>
          <a:solidFill>
            <a:srgbClr val="2B2D42"/>
          </a:solidFill>
          <a:ln/>
        </p:spPr>
      </p:sp>
      <p:sp>
        <p:nvSpPr>
          <p:cNvPr id="10" name="Shape 8"/>
          <p:cNvSpPr/>
          <p:nvPr/>
        </p:nvSpPr>
        <p:spPr>
          <a:xfrm>
            <a:off x="5074920" y="2103120"/>
            <a:ext cx="548640" cy="548640"/>
          </a:xfrm>
          <a:prstGeom prst="ellipse">
            <a:avLst/>
          </a:prstGeom>
          <a:solidFill>
            <a:srgbClr val="D90429"/>
          </a:solidFill>
          <a:ln/>
        </p:spPr>
      </p:sp>
      <p:sp>
        <p:nvSpPr>
          <p:cNvPr id="11" name="Text 9"/>
          <p:cNvSpPr/>
          <p:nvPr/>
        </p:nvSpPr>
        <p:spPr>
          <a:xfrm>
            <a:off x="5074920" y="2103120"/>
            <a:ext cx="548640" cy="548640"/>
          </a:xfrm>
          <a:prstGeom prst="rect">
            <a:avLst/>
          </a:prstGeom>
          <a:noFill/>
          <a:ln/>
        </p:spPr>
        <p:txBody>
          <a:bodyPr wrap="square" lIns="0" tIns="0" rIns="0" bIns="0" rtlCol="0" anchor="ctr"/>
          <a:lstStyle/>
          <a:p>
            <a:pPr algn="ctr" indent="0" marL="0">
              <a:buNone/>
            </a:pPr>
            <a:r>
              <a:rPr lang="en-US" sz="2000" b="1" dirty="0">
                <a:solidFill>
                  <a:srgbClr val="EDF2F4"/>
                </a:solidFill>
                <a:latin typeface="Cambria" pitchFamily="34" charset="0"/>
                <a:ea typeface="Cambria" pitchFamily="34" charset="-122"/>
                <a:cs typeface="Cambria" pitchFamily="34" charset="-120"/>
              </a:rPr>
              <a:t>C</a:t>
            </a:r>
            <a:endParaRPr lang="en-US" sz="2000" dirty="0"/>
          </a:p>
        </p:txBody>
      </p:sp>
      <p:sp>
        <p:nvSpPr>
          <p:cNvPr id="12" name="Text 10"/>
          <p:cNvSpPr/>
          <p:nvPr/>
        </p:nvSpPr>
        <p:spPr>
          <a:xfrm>
            <a:off x="5760720" y="2103120"/>
            <a:ext cx="2743200" cy="548640"/>
          </a:xfrm>
          <a:prstGeom prst="rect">
            <a:avLst/>
          </a:prstGeom>
          <a:noFill/>
          <a:ln/>
        </p:spPr>
        <p:txBody>
          <a:bodyPr wrap="square" rtlCol="0" anchor="ctr"/>
          <a:lstStyle/>
          <a:p>
            <a:pPr algn="l" indent="0" marL="0">
              <a:buNone/>
            </a:pPr>
            <a:r>
              <a:rPr lang="en-US" sz="2100" b="1" dirty="0">
                <a:solidFill>
                  <a:srgbClr val="EF233C"/>
                </a:solidFill>
                <a:latin typeface="Cambria" pitchFamily="34" charset="0"/>
                <a:ea typeface="Cambria" pitchFamily="34" charset="-122"/>
                <a:cs typeface="Cambria" pitchFamily="34" charset="-120"/>
              </a:rPr>
              <a:t>CLAUDE.md</a:t>
            </a:r>
            <a:endParaRPr lang="en-US" sz="2100" dirty="0"/>
          </a:p>
        </p:txBody>
      </p:sp>
      <p:sp>
        <p:nvSpPr>
          <p:cNvPr id="13" name="Text 11"/>
          <p:cNvSpPr/>
          <p:nvPr/>
        </p:nvSpPr>
        <p:spPr>
          <a:xfrm>
            <a:off x="5074920" y="2880360"/>
            <a:ext cx="3291840" cy="1554480"/>
          </a:xfrm>
          <a:prstGeom prst="rect">
            <a:avLst/>
          </a:prstGeom>
          <a:noFill/>
          <a:ln/>
        </p:spPr>
        <p:txBody>
          <a:bodyPr wrap="square" rtlCol="0" anchor="t"/>
          <a:lstStyle/>
          <a:p>
            <a:pPr algn="l" indent="0" marL="0">
              <a:lnSpc>
                <a:spcPct val="120000"/>
              </a:lnSpc>
              <a:buNone/>
            </a:pPr>
            <a:r>
              <a:rPr lang="en-US" sz="1500" dirty="0">
                <a:solidFill>
                  <a:srgbClr val="EDF2F4"/>
                </a:solidFill>
                <a:latin typeface="Calibri" pitchFamily="34" charset="0"/>
                <a:ea typeface="Calibri" pitchFamily="34" charset="-122"/>
                <a:cs typeface="Calibri" pitchFamily="34" charset="-120"/>
              </a:rPr>
              <a:t>The instructions: how the agent operates.</a:t>
            </a:r>
            <a:endParaRPr lang="en-US" sz="1500" dirty="0"/>
          </a:p>
        </p:txBody>
      </p:sp>
      <p:sp>
        <p:nvSpPr>
          <p:cNvPr id="14" name="Shape 12"/>
          <p:cNvSpPr/>
          <p:nvPr/>
        </p:nvSpPr>
        <p:spPr>
          <a:xfrm>
            <a:off x="8503920" y="4663440"/>
            <a:ext cx="365760" cy="365760"/>
          </a:xfrm>
          <a:prstGeom prst="ellipse">
            <a:avLst/>
          </a:prstGeom>
          <a:solidFill>
            <a:srgbClr val="D90429"/>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411480"/>
            <a:ext cx="8412480" cy="822960"/>
          </a:xfrm>
          <a:prstGeom prst="rect">
            <a:avLst/>
          </a:prstGeom>
          <a:noFill/>
          <a:ln/>
        </p:spPr>
        <p:txBody>
          <a:bodyPr wrap="square" rtlCol="0" anchor="ctr">
            <a:normAutofit/>
          </a:bodyPr>
          <a:lstStyle/>
          <a:p>
            <a:pPr algn="l" indent="0" marL="0">
              <a:buNone/>
            </a:pPr>
            <a:r>
              <a:rPr lang="en-US" sz="3400" b="1" dirty="0">
                <a:solidFill>
                  <a:srgbClr val="2B2D42"/>
                </a:solidFill>
                <a:latin typeface="Cambria" pitchFamily="34" charset="0"/>
                <a:ea typeface="Cambria" pitchFamily="34" charset="-122"/>
                <a:cs typeface="Cambria" pitchFamily="34" charset="-120"/>
              </a:rPr>
              <a:t>Wait — What's a .md File?</a:t>
            </a:r>
            <a:endParaRPr lang="en-US" sz="3400" dirty="0"/>
          </a:p>
        </p:txBody>
      </p:sp>
      <p:sp>
        <p:nvSpPr>
          <p:cNvPr id="3" name="Shape 1"/>
          <p:cNvSpPr/>
          <p:nvPr/>
        </p:nvSpPr>
        <p:spPr>
          <a:xfrm>
            <a:off x="1188720" y="1600200"/>
            <a:ext cx="1463040" cy="320040"/>
          </a:xfrm>
          <a:prstGeom prst="rect">
            <a:avLst/>
          </a:prstGeom>
          <a:solidFill>
            <a:srgbClr val="D90429"/>
          </a:solidFill>
          <a:ln/>
        </p:spPr>
      </p:sp>
      <p:sp>
        <p:nvSpPr>
          <p:cNvPr id="4" name="Shape 2"/>
          <p:cNvSpPr/>
          <p:nvPr/>
        </p:nvSpPr>
        <p:spPr>
          <a:xfrm>
            <a:off x="731520" y="1828800"/>
            <a:ext cx="2377440" cy="2011680"/>
          </a:xfrm>
          <a:prstGeom prst="roundRect">
            <a:avLst>
              <a:gd name="adj" fmla="val 5455"/>
            </a:avLst>
          </a:prstGeom>
          <a:solidFill>
            <a:srgbClr val="2B2D42"/>
          </a:solidFill>
          <a:ln/>
        </p:spPr>
      </p:sp>
      <p:sp>
        <p:nvSpPr>
          <p:cNvPr id="5" name="Text 3"/>
          <p:cNvSpPr/>
          <p:nvPr/>
        </p:nvSpPr>
        <p:spPr>
          <a:xfrm>
            <a:off x="731520" y="1828800"/>
            <a:ext cx="2377440" cy="2011680"/>
          </a:xfrm>
          <a:prstGeom prst="rect">
            <a:avLst/>
          </a:prstGeom>
          <a:noFill/>
          <a:ln/>
        </p:spPr>
        <p:txBody>
          <a:bodyPr wrap="square" lIns="0" tIns="0" rIns="0" bIns="0" rtlCol="0" anchor="ctr"/>
          <a:lstStyle/>
          <a:p>
            <a:pPr algn="ctr" indent="0" marL="0">
              <a:buNone/>
            </a:pPr>
            <a:r>
              <a:rPr lang="en-US" sz="5600" b="1" dirty="0">
                <a:solidFill>
                  <a:srgbClr val="EF233C"/>
                </a:solidFill>
                <a:latin typeface="Cambria" pitchFamily="34" charset="0"/>
                <a:ea typeface="Cambria" pitchFamily="34" charset="-122"/>
                <a:cs typeface="Cambria" pitchFamily="34" charset="-120"/>
              </a:rPr>
              <a:t>.md</a:t>
            </a:r>
            <a:endParaRPr lang="en-US" sz="5600" dirty="0"/>
          </a:p>
        </p:txBody>
      </p:sp>
      <p:sp>
        <p:nvSpPr>
          <p:cNvPr id="6" name="Text 4"/>
          <p:cNvSpPr/>
          <p:nvPr/>
        </p:nvSpPr>
        <p:spPr>
          <a:xfrm>
            <a:off x="3520440" y="2103120"/>
            <a:ext cx="5257800" cy="1554480"/>
          </a:xfrm>
          <a:prstGeom prst="rect">
            <a:avLst/>
          </a:prstGeom>
          <a:noFill/>
          <a:ln/>
        </p:spPr>
        <p:txBody>
          <a:bodyPr wrap="square" rtlCol="0" anchor="t"/>
          <a:lstStyle/>
          <a:p>
            <a:pPr algn="l" indent="0" marL="0">
              <a:lnSpc>
                <a:spcPct val="125000"/>
              </a:lnSpc>
              <a:buNone/>
            </a:pPr>
            <a:r>
              <a:rPr lang="en-US" sz="2000" dirty="0">
                <a:solidFill>
                  <a:srgbClr val="8D99AE"/>
                </a:solidFill>
                <a:latin typeface="Calibri" pitchFamily="34" charset="0"/>
                <a:ea typeface="Calibri" pitchFamily="34" charset="-122"/>
                <a:cs typeface="Calibri" pitchFamily="34" charset="-120"/>
              </a:rPr>
              <a:t>You'll see this file extension everywhere in agent building. Let's demystify it.</a:t>
            </a:r>
            <a:endParaRPr lang="en-US" sz="2000" dirty="0"/>
          </a:p>
        </p:txBody>
      </p:sp>
      <p:sp>
        <p:nvSpPr>
          <p:cNvPr id="7" name="Shape 5"/>
          <p:cNvSpPr/>
          <p:nvPr/>
        </p:nvSpPr>
        <p:spPr>
          <a:xfrm>
            <a:off x="8503920" y="4663440"/>
            <a:ext cx="365760" cy="365760"/>
          </a:xfrm>
          <a:prstGeom prst="ellipse">
            <a:avLst/>
          </a:prstGeom>
          <a:solidFill>
            <a:srgbClr val="D90429"/>
          </a:solidFill>
          <a:ln/>
        </p:spPr>
      </p:sp>
      <p:sp>
        <p:nvSpPr>
          <p:cNvPr id="8" name="Text 6"/>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65760"/>
            <a:ext cx="8412480" cy="640080"/>
          </a:xfrm>
          <a:prstGeom prst="rect">
            <a:avLst/>
          </a:prstGeom>
          <a:noFill/>
          <a:ln/>
        </p:spPr>
        <p:txBody>
          <a:bodyPr wrap="square" rtlCol="0" anchor="ctr"/>
          <a:lstStyle/>
          <a:p>
            <a:pPr algn="l" indent="0" marL="0">
              <a:buNone/>
            </a:pPr>
            <a:r>
              <a:rPr lang="en-US" sz="3400" b="1" dirty="0">
                <a:solidFill>
                  <a:srgbClr val="2B2D42"/>
                </a:solidFill>
                <a:latin typeface="Cambria" pitchFamily="34" charset="0"/>
                <a:ea typeface="Cambria" pitchFamily="34" charset="-122"/>
                <a:cs typeface="Cambria" pitchFamily="34" charset="-120"/>
              </a:rPr>
              <a:t>Markdown: AI's Favorite Language</a:t>
            </a:r>
            <a:endParaRPr lang="en-US" sz="3400" dirty="0"/>
          </a:p>
        </p:txBody>
      </p:sp>
      <p:sp>
        <p:nvSpPr>
          <p:cNvPr id="3" name="Text 1"/>
          <p:cNvSpPr/>
          <p:nvPr/>
        </p:nvSpPr>
        <p:spPr>
          <a:xfrm>
            <a:off x="365760" y="987552"/>
            <a:ext cx="8412480" cy="548640"/>
          </a:xfrm>
          <a:prstGeom prst="rect">
            <a:avLst/>
          </a:prstGeom>
          <a:noFill/>
          <a:ln/>
        </p:spPr>
        <p:txBody>
          <a:bodyPr wrap="square" rtlCol="0" anchor="t"/>
          <a:lstStyle/>
          <a:p>
            <a:pPr algn="l" indent="0" marL="0">
              <a:buNone/>
            </a:pPr>
            <a:r>
              <a:rPr lang="en-US" sz="1500" dirty="0">
                <a:solidFill>
                  <a:srgbClr val="8D99AE"/>
                </a:solidFill>
                <a:latin typeface="Calibri" pitchFamily="34" charset="0"/>
                <a:ea typeface="Calibri" pitchFamily="34" charset="-122"/>
                <a:cs typeface="Calibri" pitchFamily="34" charset="-120"/>
              </a:rPr>
              <a:t>It looks intimidating, but it's just structured titles — the same outline logic you already use.</a:t>
            </a:r>
            <a:endParaRPr lang="en-US" sz="1500" dirty="0"/>
          </a:p>
        </p:txBody>
      </p:sp>
      <p:sp>
        <p:nvSpPr>
          <p:cNvPr id="4" name="Shape 2"/>
          <p:cNvSpPr/>
          <p:nvPr/>
        </p:nvSpPr>
        <p:spPr>
          <a:xfrm>
            <a:off x="640080" y="1783080"/>
            <a:ext cx="4663440" cy="2514600"/>
          </a:xfrm>
          <a:prstGeom prst="roundRect">
            <a:avLst>
              <a:gd name="adj" fmla="val 2909"/>
            </a:avLst>
          </a:prstGeom>
          <a:solidFill>
            <a:srgbClr val="2B2D42"/>
          </a:solidFill>
          <a:ln/>
        </p:spPr>
      </p:sp>
      <p:sp>
        <p:nvSpPr>
          <p:cNvPr id="5" name="Shape 3"/>
          <p:cNvSpPr/>
          <p:nvPr/>
        </p:nvSpPr>
        <p:spPr>
          <a:xfrm>
            <a:off x="868680" y="1984248"/>
            <a:ext cx="128016" cy="128016"/>
          </a:xfrm>
          <a:prstGeom prst="ellipse">
            <a:avLst/>
          </a:prstGeom>
          <a:solidFill>
            <a:srgbClr val="D90429"/>
          </a:solidFill>
          <a:ln/>
        </p:spPr>
      </p:sp>
      <p:sp>
        <p:nvSpPr>
          <p:cNvPr id="6" name="Shape 4"/>
          <p:cNvSpPr/>
          <p:nvPr/>
        </p:nvSpPr>
        <p:spPr>
          <a:xfrm>
            <a:off x="1124712" y="1984248"/>
            <a:ext cx="128016" cy="128016"/>
          </a:xfrm>
          <a:prstGeom prst="ellipse">
            <a:avLst/>
          </a:prstGeom>
          <a:solidFill>
            <a:srgbClr val="EF233C"/>
          </a:solidFill>
          <a:ln/>
        </p:spPr>
      </p:sp>
      <p:sp>
        <p:nvSpPr>
          <p:cNvPr id="7" name="Shape 5"/>
          <p:cNvSpPr/>
          <p:nvPr/>
        </p:nvSpPr>
        <p:spPr>
          <a:xfrm>
            <a:off x="1380744" y="1984248"/>
            <a:ext cx="128016" cy="128016"/>
          </a:xfrm>
          <a:prstGeom prst="ellipse">
            <a:avLst/>
          </a:prstGeom>
          <a:solidFill>
            <a:srgbClr val="8D99AE"/>
          </a:solidFill>
          <a:ln/>
        </p:spPr>
      </p:sp>
      <p:sp>
        <p:nvSpPr>
          <p:cNvPr id="8" name="Text 6"/>
          <p:cNvSpPr/>
          <p:nvPr/>
        </p:nvSpPr>
        <p:spPr>
          <a:xfrm>
            <a:off x="960120" y="2377440"/>
            <a:ext cx="4023360" cy="594360"/>
          </a:xfrm>
          <a:prstGeom prst="rect">
            <a:avLst/>
          </a:prstGeom>
          <a:noFill/>
          <a:ln/>
        </p:spPr>
        <p:txBody>
          <a:bodyPr wrap="square" rtlCol="0" anchor="ctr"/>
          <a:lstStyle/>
          <a:p>
            <a:pPr algn="l" indent="0" marL="0">
              <a:buNone/>
            </a:pPr>
            <a:r>
              <a:rPr lang="en-US" sz="2200" dirty="0">
                <a:solidFill>
                  <a:srgbClr val="EF233C"/>
                </a:solidFill>
                <a:latin typeface="Consolas" pitchFamily="34" charset="0"/>
                <a:ea typeface="Consolas" pitchFamily="34" charset="-122"/>
                <a:cs typeface="Consolas" pitchFamily="34" charset="-120"/>
              </a:rPr>
              <a:t># Title</a:t>
            </a:r>
            <a:endParaRPr lang="en-US" sz="2200" dirty="0"/>
          </a:p>
        </p:txBody>
      </p:sp>
      <p:sp>
        <p:nvSpPr>
          <p:cNvPr id="9" name="Text 7"/>
          <p:cNvSpPr/>
          <p:nvPr/>
        </p:nvSpPr>
        <p:spPr>
          <a:xfrm>
            <a:off x="960120" y="2971800"/>
            <a:ext cx="4023360" cy="548640"/>
          </a:xfrm>
          <a:prstGeom prst="rect">
            <a:avLst/>
          </a:prstGeom>
          <a:noFill/>
          <a:ln/>
        </p:spPr>
        <p:txBody>
          <a:bodyPr wrap="square" rtlCol="0" anchor="ctr"/>
          <a:lstStyle/>
          <a:p>
            <a:pPr algn="l" indent="0" marL="0">
              <a:buNone/>
            </a:pPr>
            <a:r>
              <a:rPr lang="en-US" sz="1800" dirty="0">
                <a:solidFill>
                  <a:srgbClr val="EDF2F4"/>
                </a:solidFill>
                <a:latin typeface="Consolas" pitchFamily="34" charset="0"/>
                <a:ea typeface="Consolas" pitchFamily="34" charset="-122"/>
                <a:cs typeface="Consolas" pitchFamily="34" charset="-120"/>
              </a:rPr>
              <a:t>## Subtitle</a:t>
            </a:r>
            <a:endParaRPr lang="en-US" sz="1800" dirty="0"/>
          </a:p>
        </p:txBody>
      </p:sp>
      <p:sp>
        <p:nvSpPr>
          <p:cNvPr id="10" name="Text 8"/>
          <p:cNvSpPr/>
          <p:nvPr/>
        </p:nvSpPr>
        <p:spPr>
          <a:xfrm>
            <a:off x="960120" y="3520440"/>
            <a:ext cx="4023360" cy="548640"/>
          </a:xfrm>
          <a:prstGeom prst="rect">
            <a:avLst/>
          </a:prstGeom>
          <a:noFill/>
          <a:ln/>
        </p:spPr>
        <p:txBody>
          <a:bodyPr wrap="square" rtlCol="0" anchor="ctr"/>
          <a:lstStyle/>
          <a:p>
            <a:pPr algn="l" indent="0" marL="0">
              <a:buNone/>
            </a:pPr>
            <a:r>
              <a:rPr lang="en-US" sz="1500" dirty="0">
                <a:solidFill>
                  <a:srgbClr val="8D99AE"/>
                </a:solidFill>
                <a:latin typeface="Consolas" pitchFamily="34" charset="0"/>
                <a:ea typeface="Consolas" pitchFamily="34" charset="-122"/>
                <a:cs typeface="Consolas" pitchFamily="34" charset="-120"/>
              </a:rPr>
              <a:t>### Section</a:t>
            </a:r>
            <a:endParaRPr lang="en-US" sz="1500" dirty="0"/>
          </a:p>
        </p:txBody>
      </p:sp>
      <p:sp>
        <p:nvSpPr>
          <p:cNvPr id="11" name="Shape 9"/>
          <p:cNvSpPr/>
          <p:nvPr/>
        </p:nvSpPr>
        <p:spPr>
          <a:xfrm>
            <a:off x="5623560" y="1965960"/>
            <a:ext cx="256032" cy="256032"/>
          </a:xfrm>
          <a:prstGeom prst="ellipse">
            <a:avLst/>
          </a:prstGeom>
          <a:solidFill>
            <a:srgbClr val="EF233C"/>
          </a:solidFill>
          <a:ln/>
        </p:spPr>
      </p:sp>
      <p:sp>
        <p:nvSpPr>
          <p:cNvPr id="12" name="Text 10"/>
          <p:cNvSpPr/>
          <p:nvPr/>
        </p:nvSpPr>
        <p:spPr>
          <a:xfrm>
            <a:off x="5623560" y="1965960"/>
            <a:ext cx="256032" cy="256032"/>
          </a:xfrm>
          <a:prstGeom prst="rect">
            <a:avLst/>
          </a:prstGeom>
          <a:noFill/>
          <a:ln/>
        </p:spPr>
        <p:txBody>
          <a:bodyPr wrap="square" lIns="0" tIns="0" rIns="0" bIns="0" rtlCol="0" anchor="ctr"/>
          <a:lstStyle/>
          <a:p>
            <a:pPr algn="ctr" indent="0" marL="0">
              <a:buNone/>
            </a:pPr>
            <a:r>
              <a:rPr lang="en-US" sz="1000" dirty="0">
                <a:solidFill>
                  <a:srgbClr val="EDF2F4"/>
                </a:solidFill>
                <a:latin typeface="Consolas" pitchFamily="34" charset="0"/>
                <a:ea typeface="Consolas" pitchFamily="34" charset="-122"/>
                <a:cs typeface="Consolas" pitchFamily="34" charset="-120"/>
              </a:rPr>
              <a:t>#</a:t>
            </a:r>
            <a:endParaRPr lang="en-US" sz="1000" dirty="0"/>
          </a:p>
        </p:txBody>
      </p:sp>
      <p:sp>
        <p:nvSpPr>
          <p:cNvPr id="13" name="Text 11"/>
          <p:cNvSpPr/>
          <p:nvPr/>
        </p:nvSpPr>
        <p:spPr>
          <a:xfrm>
            <a:off x="6035040" y="1911096"/>
            <a:ext cx="2651760" cy="365760"/>
          </a:xfrm>
          <a:prstGeom prst="rect">
            <a:avLst/>
          </a:prstGeom>
          <a:noFill/>
          <a:ln/>
        </p:spPr>
        <p:txBody>
          <a:bodyPr wrap="square" rtlCol="0" anchor="ctr"/>
          <a:lstStyle/>
          <a:p>
            <a:pPr algn="l" indent="0" marL="0">
              <a:buNone/>
            </a:pPr>
            <a:r>
              <a:rPr lang="en-US" sz="1300" dirty="0">
                <a:solidFill>
                  <a:srgbClr val="2B2D42"/>
                </a:solidFill>
                <a:latin typeface="Calibri" pitchFamily="34" charset="0"/>
                <a:ea typeface="Calibri" pitchFamily="34" charset="-122"/>
                <a:cs typeface="Calibri" pitchFamily="34" charset="-120"/>
              </a:rPr>
              <a:t>→  Heading 1 (H1)</a:t>
            </a:r>
            <a:endParaRPr lang="en-US" sz="1300" dirty="0"/>
          </a:p>
        </p:txBody>
      </p:sp>
      <p:sp>
        <p:nvSpPr>
          <p:cNvPr id="14" name="Shape 12"/>
          <p:cNvSpPr/>
          <p:nvPr/>
        </p:nvSpPr>
        <p:spPr>
          <a:xfrm>
            <a:off x="5623560" y="2651760"/>
            <a:ext cx="256032" cy="256032"/>
          </a:xfrm>
          <a:prstGeom prst="ellipse">
            <a:avLst/>
          </a:prstGeom>
          <a:solidFill>
            <a:srgbClr val="D90429"/>
          </a:solidFill>
          <a:ln/>
        </p:spPr>
      </p:sp>
      <p:sp>
        <p:nvSpPr>
          <p:cNvPr id="15" name="Text 13"/>
          <p:cNvSpPr/>
          <p:nvPr/>
        </p:nvSpPr>
        <p:spPr>
          <a:xfrm>
            <a:off x="5623560" y="2651760"/>
            <a:ext cx="256032" cy="256032"/>
          </a:xfrm>
          <a:prstGeom prst="rect">
            <a:avLst/>
          </a:prstGeom>
          <a:noFill/>
          <a:ln/>
        </p:spPr>
        <p:txBody>
          <a:bodyPr wrap="square" lIns="0" tIns="0" rIns="0" bIns="0" rtlCol="0" anchor="ctr"/>
          <a:lstStyle/>
          <a:p>
            <a:pPr algn="ctr" indent="0" marL="0">
              <a:buNone/>
            </a:pPr>
            <a:r>
              <a:rPr lang="en-US" sz="1000" dirty="0">
                <a:solidFill>
                  <a:srgbClr val="EDF2F4"/>
                </a:solidFill>
                <a:latin typeface="Consolas" pitchFamily="34" charset="0"/>
                <a:ea typeface="Consolas" pitchFamily="34" charset="-122"/>
                <a:cs typeface="Consolas" pitchFamily="34" charset="-120"/>
              </a:rPr>
              <a:t>##</a:t>
            </a:r>
            <a:endParaRPr lang="en-US" sz="1000" dirty="0"/>
          </a:p>
        </p:txBody>
      </p:sp>
      <p:sp>
        <p:nvSpPr>
          <p:cNvPr id="16" name="Text 14"/>
          <p:cNvSpPr/>
          <p:nvPr/>
        </p:nvSpPr>
        <p:spPr>
          <a:xfrm>
            <a:off x="6035040" y="2596896"/>
            <a:ext cx="2651760" cy="365760"/>
          </a:xfrm>
          <a:prstGeom prst="rect">
            <a:avLst/>
          </a:prstGeom>
          <a:noFill/>
          <a:ln/>
        </p:spPr>
        <p:txBody>
          <a:bodyPr wrap="square" rtlCol="0" anchor="ctr"/>
          <a:lstStyle/>
          <a:p>
            <a:pPr algn="l" indent="0" marL="0">
              <a:buNone/>
            </a:pPr>
            <a:r>
              <a:rPr lang="en-US" sz="1300" dirty="0">
                <a:solidFill>
                  <a:srgbClr val="2B2D42"/>
                </a:solidFill>
                <a:latin typeface="Calibri" pitchFamily="34" charset="0"/>
                <a:ea typeface="Calibri" pitchFamily="34" charset="-122"/>
                <a:cs typeface="Calibri" pitchFamily="34" charset="-120"/>
              </a:rPr>
              <a:t>→  Heading 2 (H2)</a:t>
            </a:r>
            <a:endParaRPr lang="en-US" sz="1300" dirty="0"/>
          </a:p>
        </p:txBody>
      </p:sp>
      <p:sp>
        <p:nvSpPr>
          <p:cNvPr id="17" name="Shape 15"/>
          <p:cNvSpPr/>
          <p:nvPr/>
        </p:nvSpPr>
        <p:spPr>
          <a:xfrm>
            <a:off x="5623560" y="3337560"/>
            <a:ext cx="256032" cy="256032"/>
          </a:xfrm>
          <a:prstGeom prst="ellipse">
            <a:avLst/>
          </a:prstGeom>
          <a:solidFill>
            <a:srgbClr val="8D99AE"/>
          </a:solidFill>
          <a:ln/>
        </p:spPr>
      </p:sp>
      <p:sp>
        <p:nvSpPr>
          <p:cNvPr id="18" name="Text 16"/>
          <p:cNvSpPr/>
          <p:nvPr/>
        </p:nvSpPr>
        <p:spPr>
          <a:xfrm>
            <a:off x="5623560" y="3337560"/>
            <a:ext cx="256032" cy="256032"/>
          </a:xfrm>
          <a:prstGeom prst="rect">
            <a:avLst/>
          </a:prstGeom>
          <a:noFill/>
          <a:ln/>
        </p:spPr>
        <p:txBody>
          <a:bodyPr wrap="square" lIns="0" tIns="0" rIns="0" bIns="0" rtlCol="0" anchor="ctr"/>
          <a:lstStyle/>
          <a:p>
            <a:pPr algn="ctr" indent="0" marL="0">
              <a:buNone/>
            </a:pPr>
            <a:r>
              <a:rPr lang="en-US" sz="1000" dirty="0">
                <a:solidFill>
                  <a:srgbClr val="EDF2F4"/>
                </a:solidFill>
                <a:latin typeface="Consolas" pitchFamily="34" charset="0"/>
                <a:ea typeface="Consolas" pitchFamily="34" charset="-122"/>
                <a:cs typeface="Consolas" pitchFamily="34" charset="-120"/>
              </a:rPr>
              <a:t>###</a:t>
            </a:r>
            <a:endParaRPr lang="en-US" sz="1000" dirty="0"/>
          </a:p>
        </p:txBody>
      </p:sp>
      <p:sp>
        <p:nvSpPr>
          <p:cNvPr id="19" name="Text 17"/>
          <p:cNvSpPr/>
          <p:nvPr/>
        </p:nvSpPr>
        <p:spPr>
          <a:xfrm>
            <a:off x="6035040" y="3282696"/>
            <a:ext cx="2651760" cy="365760"/>
          </a:xfrm>
          <a:prstGeom prst="rect">
            <a:avLst/>
          </a:prstGeom>
          <a:noFill/>
          <a:ln/>
        </p:spPr>
        <p:txBody>
          <a:bodyPr wrap="square" rtlCol="0" anchor="ctr"/>
          <a:lstStyle/>
          <a:p>
            <a:pPr algn="l" indent="0" marL="0">
              <a:buNone/>
            </a:pPr>
            <a:r>
              <a:rPr lang="en-US" sz="1300" dirty="0">
                <a:solidFill>
                  <a:srgbClr val="2B2D42"/>
                </a:solidFill>
                <a:latin typeface="Calibri" pitchFamily="34" charset="0"/>
                <a:ea typeface="Calibri" pitchFamily="34" charset="-122"/>
                <a:cs typeface="Calibri" pitchFamily="34" charset="-120"/>
              </a:rPr>
              <a:t>→  Heading 3 (H3)</a:t>
            </a:r>
            <a:endParaRPr lang="en-US" sz="1300" dirty="0"/>
          </a:p>
        </p:txBody>
      </p:sp>
      <p:sp>
        <p:nvSpPr>
          <p:cNvPr id="20" name="Shape 18"/>
          <p:cNvSpPr/>
          <p:nvPr/>
        </p:nvSpPr>
        <p:spPr>
          <a:xfrm>
            <a:off x="8503920" y="4663440"/>
            <a:ext cx="365760" cy="365760"/>
          </a:xfrm>
          <a:prstGeom prst="ellipse">
            <a:avLst/>
          </a:prstGeom>
          <a:solidFill>
            <a:srgbClr val="D90429"/>
          </a:solidFill>
          <a:ln/>
        </p:spPr>
      </p:sp>
      <p:sp>
        <p:nvSpPr>
          <p:cNvPr id="21" name="Text 1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65760"/>
            <a:ext cx="8412480" cy="731520"/>
          </a:xfrm>
          <a:prstGeom prst="rect">
            <a:avLst/>
          </a:prstGeom>
          <a:noFill/>
          <a:ln/>
        </p:spPr>
        <p:txBody>
          <a:bodyPr wrap="square" rtlCol="0" anchor="ctr">
            <a:normAutofit/>
          </a:bodyPr>
          <a:lstStyle/>
          <a:p>
            <a:pPr algn="l" indent="0" marL="0">
              <a:buNone/>
            </a:pPr>
            <a:r>
              <a:rPr lang="en-US" sz="3000" b="1" dirty="0">
                <a:solidFill>
                  <a:srgbClr val="2B2D42"/>
                </a:solidFill>
                <a:latin typeface="Cambria" pitchFamily="34" charset="0"/>
                <a:ea typeface="Cambria" pitchFamily="34" charset="-122"/>
                <a:cs typeface="Cambria" pitchFamily="34" charset="-120"/>
              </a:rPr>
              <a:t>Which Format Works Best — GPT, Claude, Gemini?</a:t>
            </a:r>
            <a:endParaRPr lang="en-US" sz="3000" dirty="0"/>
          </a:p>
        </p:txBody>
      </p:sp>
      <p:sp>
        <p:nvSpPr>
          <p:cNvPr id="3" name="Shape 1"/>
          <p:cNvSpPr/>
          <p:nvPr/>
        </p:nvSpPr>
        <p:spPr>
          <a:xfrm>
            <a:off x="548640" y="1737360"/>
            <a:ext cx="2560320" cy="2331720"/>
          </a:xfrm>
          <a:prstGeom prst="roundRect">
            <a:avLst>
              <a:gd name="adj" fmla="val 3922"/>
            </a:avLst>
          </a:prstGeom>
          <a:solidFill>
            <a:srgbClr val="2B2D42"/>
          </a:solidFill>
          <a:ln/>
        </p:spPr>
      </p:sp>
      <p:sp>
        <p:nvSpPr>
          <p:cNvPr id="4" name="Shape 2"/>
          <p:cNvSpPr/>
          <p:nvPr/>
        </p:nvSpPr>
        <p:spPr>
          <a:xfrm>
            <a:off x="1554480" y="2011680"/>
            <a:ext cx="548640" cy="548640"/>
          </a:xfrm>
          <a:prstGeom prst="ellipse">
            <a:avLst/>
          </a:prstGeom>
          <a:solidFill>
            <a:srgbClr val="D90429"/>
          </a:solidFill>
          <a:ln/>
        </p:spPr>
      </p:sp>
      <p:sp>
        <p:nvSpPr>
          <p:cNvPr id="5" name="Text 3"/>
          <p:cNvSpPr/>
          <p:nvPr/>
        </p:nvSpPr>
        <p:spPr>
          <a:xfrm>
            <a:off x="1554480" y="2011680"/>
            <a:ext cx="548640" cy="548640"/>
          </a:xfrm>
          <a:prstGeom prst="rect">
            <a:avLst/>
          </a:prstGeom>
          <a:noFill/>
          <a:ln/>
        </p:spPr>
        <p:txBody>
          <a:bodyPr wrap="square" lIns="0" tIns="0" rIns="0" bIns="0" rtlCol="0" anchor="ctr"/>
          <a:lstStyle/>
          <a:p>
            <a:pPr algn="ctr" indent="0" marL="0">
              <a:buNone/>
            </a:pPr>
            <a:r>
              <a:rPr lang="en-US" sz="2000" b="1" dirty="0">
                <a:solidFill>
                  <a:srgbClr val="EDF2F4"/>
                </a:solidFill>
                <a:latin typeface="Cambria" pitchFamily="34" charset="0"/>
                <a:ea typeface="Cambria" pitchFamily="34" charset="-122"/>
                <a:cs typeface="Cambria" pitchFamily="34" charset="-120"/>
              </a:rPr>
              <a:t>G</a:t>
            </a:r>
            <a:endParaRPr lang="en-US" sz="2000" dirty="0"/>
          </a:p>
        </p:txBody>
      </p:sp>
      <p:sp>
        <p:nvSpPr>
          <p:cNvPr id="6" name="Text 4"/>
          <p:cNvSpPr/>
          <p:nvPr/>
        </p:nvSpPr>
        <p:spPr>
          <a:xfrm>
            <a:off x="685800" y="2697480"/>
            <a:ext cx="2286000" cy="457200"/>
          </a:xfrm>
          <a:prstGeom prst="rect">
            <a:avLst/>
          </a:prstGeom>
          <a:noFill/>
          <a:ln/>
        </p:spPr>
        <p:txBody>
          <a:bodyPr wrap="square" rtlCol="0" anchor="ctr"/>
          <a:lstStyle/>
          <a:p>
            <a:pPr algn="ctr" indent="0" marL="0">
              <a:buNone/>
            </a:pPr>
            <a:r>
              <a:rPr lang="en-US" sz="2200" b="1" dirty="0">
                <a:solidFill>
                  <a:srgbClr val="EF233C"/>
                </a:solidFill>
                <a:latin typeface="Cambria" pitchFamily="34" charset="0"/>
                <a:ea typeface="Cambria" pitchFamily="34" charset="-122"/>
                <a:cs typeface="Cambria" pitchFamily="34" charset="-120"/>
              </a:rPr>
              <a:t>GPT</a:t>
            </a:r>
            <a:endParaRPr lang="en-US" sz="2200" dirty="0"/>
          </a:p>
        </p:txBody>
      </p:sp>
      <p:sp>
        <p:nvSpPr>
          <p:cNvPr id="7" name="Text 5"/>
          <p:cNvSpPr/>
          <p:nvPr/>
        </p:nvSpPr>
        <p:spPr>
          <a:xfrm>
            <a:off x="731520" y="3200400"/>
            <a:ext cx="2194560" cy="731520"/>
          </a:xfrm>
          <a:prstGeom prst="rect">
            <a:avLst/>
          </a:prstGeom>
          <a:noFill/>
          <a:ln/>
        </p:spPr>
        <p:txBody>
          <a:bodyPr wrap="square" rtlCol="0" anchor="t"/>
          <a:lstStyle/>
          <a:p>
            <a:pPr algn="ctr" indent="0" marL="0">
              <a:buNone/>
            </a:pPr>
            <a:r>
              <a:rPr lang="en-US" sz="1400" dirty="0">
                <a:solidFill>
                  <a:srgbClr val="EDF2F4"/>
                </a:solidFill>
                <a:latin typeface="Calibri" pitchFamily="34" charset="0"/>
                <a:ea typeface="Calibri" pitchFamily="34" charset="-122"/>
                <a:cs typeface="Calibri" pitchFamily="34" charset="-120"/>
              </a:rPr>
              <a:t>Reads Markdown natively.</a:t>
            </a:r>
            <a:endParaRPr lang="en-US" sz="1400" dirty="0"/>
          </a:p>
        </p:txBody>
      </p:sp>
      <p:sp>
        <p:nvSpPr>
          <p:cNvPr id="8" name="Shape 6"/>
          <p:cNvSpPr/>
          <p:nvPr/>
        </p:nvSpPr>
        <p:spPr>
          <a:xfrm>
            <a:off x="3291840" y="1737360"/>
            <a:ext cx="2560320" cy="2331720"/>
          </a:xfrm>
          <a:prstGeom prst="roundRect">
            <a:avLst>
              <a:gd name="adj" fmla="val 3922"/>
            </a:avLst>
          </a:prstGeom>
          <a:solidFill>
            <a:srgbClr val="2B2D42"/>
          </a:solidFill>
          <a:ln/>
        </p:spPr>
      </p:sp>
      <p:sp>
        <p:nvSpPr>
          <p:cNvPr id="9" name="Shape 7"/>
          <p:cNvSpPr/>
          <p:nvPr/>
        </p:nvSpPr>
        <p:spPr>
          <a:xfrm>
            <a:off x="4297680" y="2011680"/>
            <a:ext cx="548640" cy="548640"/>
          </a:xfrm>
          <a:prstGeom prst="ellipse">
            <a:avLst/>
          </a:prstGeom>
          <a:solidFill>
            <a:srgbClr val="D90429"/>
          </a:solidFill>
          <a:ln/>
        </p:spPr>
      </p:sp>
      <p:sp>
        <p:nvSpPr>
          <p:cNvPr id="10" name="Text 8"/>
          <p:cNvSpPr/>
          <p:nvPr/>
        </p:nvSpPr>
        <p:spPr>
          <a:xfrm>
            <a:off x="4297680" y="2011680"/>
            <a:ext cx="548640" cy="548640"/>
          </a:xfrm>
          <a:prstGeom prst="rect">
            <a:avLst/>
          </a:prstGeom>
          <a:noFill/>
          <a:ln/>
        </p:spPr>
        <p:txBody>
          <a:bodyPr wrap="square" lIns="0" tIns="0" rIns="0" bIns="0" rtlCol="0" anchor="ctr"/>
          <a:lstStyle/>
          <a:p>
            <a:pPr algn="ctr" indent="0" marL="0">
              <a:buNone/>
            </a:pPr>
            <a:r>
              <a:rPr lang="en-US" sz="2000" b="1" dirty="0">
                <a:solidFill>
                  <a:srgbClr val="EDF2F4"/>
                </a:solidFill>
                <a:latin typeface="Cambria" pitchFamily="34" charset="0"/>
                <a:ea typeface="Cambria" pitchFamily="34" charset="-122"/>
                <a:cs typeface="Cambria" pitchFamily="34" charset="-120"/>
              </a:rPr>
              <a:t>C</a:t>
            </a:r>
            <a:endParaRPr lang="en-US" sz="2000" dirty="0"/>
          </a:p>
        </p:txBody>
      </p:sp>
      <p:sp>
        <p:nvSpPr>
          <p:cNvPr id="11" name="Text 9"/>
          <p:cNvSpPr/>
          <p:nvPr/>
        </p:nvSpPr>
        <p:spPr>
          <a:xfrm>
            <a:off x="3429000" y="2697480"/>
            <a:ext cx="2286000" cy="457200"/>
          </a:xfrm>
          <a:prstGeom prst="rect">
            <a:avLst/>
          </a:prstGeom>
          <a:noFill/>
          <a:ln/>
        </p:spPr>
        <p:txBody>
          <a:bodyPr wrap="square" rtlCol="0" anchor="ctr"/>
          <a:lstStyle/>
          <a:p>
            <a:pPr algn="ctr" indent="0" marL="0">
              <a:buNone/>
            </a:pPr>
            <a:r>
              <a:rPr lang="en-US" sz="2200" b="1" dirty="0">
                <a:solidFill>
                  <a:srgbClr val="EF233C"/>
                </a:solidFill>
                <a:latin typeface="Cambria" pitchFamily="34" charset="0"/>
                <a:ea typeface="Cambria" pitchFamily="34" charset="-122"/>
                <a:cs typeface="Cambria" pitchFamily="34" charset="-120"/>
              </a:rPr>
              <a:t>Claude</a:t>
            </a:r>
            <a:endParaRPr lang="en-US" sz="2200" dirty="0"/>
          </a:p>
        </p:txBody>
      </p:sp>
      <p:sp>
        <p:nvSpPr>
          <p:cNvPr id="12" name="Text 10"/>
          <p:cNvSpPr/>
          <p:nvPr/>
        </p:nvSpPr>
        <p:spPr>
          <a:xfrm>
            <a:off x="3474720" y="3200400"/>
            <a:ext cx="2194560" cy="731520"/>
          </a:xfrm>
          <a:prstGeom prst="rect">
            <a:avLst/>
          </a:prstGeom>
          <a:noFill/>
          <a:ln/>
        </p:spPr>
        <p:txBody>
          <a:bodyPr wrap="square" rtlCol="0" anchor="t"/>
          <a:lstStyle/>
          <a:p>
            <a:pPr algn="ctr" indent="0" marL="0">
              <a:buNone/>
            </a:pPr>
            <a:r>
              <a:rPr lang="en-US" sz="1400" dirty="0">
                <a:solidFill>
                  <a:srgbClr val="EDF2F4"/>
                </a:solidFill>
                <a:latin typeface="Calibri" pitchFamily="34" charset="0"/>
                <a:ea typeface="Calibri" pitchFamily="34" charset="-122"/>
                <a:cs typeface="Calibri" pitchFamily="34" charset="-120"/>
              </a:rPr>
              <a:t>Reads Markdown natively.</a:t>
            </a:r>
            <a:endParaRPr lang="en-US" sz="1400" dirty="0"/>
          </a:p>
        </p:txBody>
      </p:sp>
      <p:sp>
        <p:nvSpPr>
          <p:cNvPr id="13" name="Shape 11"/>
          <p:cNvSpPr/>
          <p:nvPr/>
        </p:nvSpPr>
        <p:spPr>
          <a:xfrm>
            <a:off x="6035040" y="1737360"/>
            <a:ext cx="2560320" cy="2331720"/>
          </a:xfrm>
          <a:prstGeom prst="roundRect">
            <a:avLst>
              <a:gd name="adj" fmla="val 3922"/>
            </a:avLst>
          </a:prstGeom>
          <a:solidFill>
            <a:srgbClr val="2B2D42"/>
          </a:solidFill>
          <a:ln/>
        </p:spPr>
      </p:sp>
      <p:sp>
        <p:nvSpPr>
          <p:cNvPr id="14" name="Shape 12"/>
          <p:cNvSpPr/>
          <p:nvPr/>
        </p:nvSpPr>
        <p:spPr>
          <a:xfrm>
            <a:off x="7040880" y="2011680"/>
            <a:ext cx="548640" cy="548640"/>
          </a:xfrm>
          <a:prstGeom prst="ellipse">
            <a:avLst/>
          </a:prstGeom>
          <a:solidFill>
            <a:srgbClr val="D90429"/>
          </a:solidFill>
          <a:ln/>
        </p:spPr>
      </p:sp>
      <p:sp>
        <p:nvSpPr>
          <p:cNvPr id="15" name="Text 13"/>
          <p:cNvSpPr/>
          <p:nvPr/>
        </p:nvSpPr>
        <p:spPr>
          <a:xfrm>
            <a:off x="7040880" y="2011680"/>
            <a:ext cx="548640" cy="548640"/>
          </a:xfrm>
          <a:prstGeom prst="rect">
            <a:avLst/>
          </a:prstGeom>
          <a:noFill/>
          <a:ln/>
        </p:spPr>
        <p:txBody>
          <a:bodyPr wrap="square" lIns="0" tIns="0" rIns="0" bIns="0" rtlCol="0" anchor="ctr"/>
          <a:lstStyle/>
          <a:p>
            <a:pPr algn="ctr" indent="0" marL="0">
              <a:buNone/>
            </a:pPr>
            <a:r>
              <a:rPr lang="en-US" sz="2000" b="1" dirty="0">
                <a:solidFill>
                  <a:srgbClr val="EDF2F4"/>
                </a:solidFill>
                <a:latin typeface="Cambria" pitchFamily="34" charset="0"/>
                <a:ea typeface="Cambria" pitchFamily="34" charset="-122"/>
                <a:cs typeface="Cambria" pitchFamily="34" charset="-120"/>
              </a:rPr>
              <a:t>G</a:t>
            </a:r>
            <a:endParaRPr lang="en-US" sz="2000" dirty="0"/>
          </a:p>
        </p:txBody>
      </p:sp>
      <p:sp>
        <p:nvSpPr>
          <p:cNvPr id="16" name="Text 14"/>
          <p:cNvSpPr/>
          <p:nvPr/>
        </p:nvSpPr>
        <p:spPr>
          <a:xfrm>
            <a:off x="6172200" y="2697480"/>
            <a:ext cx="2286000" cy="457200"/>
          </a:xfrm>
          <a:prstGeom prst="rect">
            <a:avLst/>
          </a:prstGeom>
          <a:noFill/>
          <a:ln/>
        </p:spPr>
        <p:txBody>
          <a:bodyPr wrap="square" rtlCol="0" anchor="ctr"/>
          <a:lstStyle/>
          <a:p>
            <a:pPr algn="ctr" indent="0" marL="0">
              <a:buNone/>
            </a:pPr>
            <a:r>
              <a:rPr lang="en-US" sz="2200" b="1" dirty="0">
                <a:solidFill>
                  <a:srgbClr val="EF233C"/>
                </a:solidFill>
                <a:latin typeface="Cambria" pitchFamily="34" charset="0"/>
                <a:ea typeface="Cambria" pitchFamily="34" charset="-122"/>
                <a:cs typeface="Cambria" pitchFamily="34" charset="-120"/>
              </a:rPr>
              <a:t>Gemini</a:t>
            </a:r>
            <a:endParaRPr lang="en-US" sz="2200" dirty="0"/>
          </a:p>
        </p:txBody>
      </p:sp>
      <p:sp>
        <p:nvSpPr>
          <p:cNvPr id="17" name="Text 15"/>
          <p:cNvSpPr/>
          <p:nvPr/>
        </p:nvSpPr>
        <p:spPr>
          <a:xfrm>
            <a:off x="6217920" y="3200400"/>
            <a:ext cx="2194560" cy="731520"/>
          </a:xfrm>
          <a:prstGeom prst="rect">
            <a:avLst/>
          </a:prstGeom>
          <a:noFill/>
          <a:ln/>
        </p:spPr>
        <p:txBody>
          <a:bodyPr wrap="square" rtlCol="0" anchor="t"/>
          <a:lstStyle/>
          <a:p>
            <a:pPr algn="ctr" indent="0" marL="0">
              <a:buNone/>
            </a:pPr>
            <a:r>
              <a:rPr lang="en-US" sz="1400" dirty="0">
                <a:solidFill>
                  <a:srgbClr val="EDF2F4"/>
                </a:solidFill>
                <a:latin typeface="Calibri" pitchFamily="34" charset="0"/>
                <a:ea typeface="Calibri" pitchFamily="34" charset="-122"/>
                <a:cs typeface="Calibri" pitchFamily="34" charset="-120"/>
              </a:rPr>
              <a:t>Reads Markdown natively.</a:t>
            </a:r>
            <a:endParaRPr lang="en-US" sz="1400" dirty="0"/>
          </a:p>
        </p:txBody>
      </p:sp>
      <p:sp>
        <p:nvSpPr>
          <p:cNvPr id="18" name="Text 16"/>
          <p:cNvSpPr/>
          <p:nvPr/>
        </p:nvSpPr>
        <p:spPr>
          <a:xfrm>
            <a:off x="548640" y="4206240"/>
            <a:ext cx="8046720" cy="365760"/>
          </a:xfrm>
          <a:prstGeom prst="rect">
            <a:avLst/>
          </a:prstGeom>
          <a:noFill/>
          <a:ln/>
        </p:spPr>
        <p:txBody>
          <a:bodyPr wrap="square" rtlCol="0" anchor="t"/>
          <a:lstStyle/>
          <a:p>
            <a:pPr algn="l" indent="0" marL="0">
              <a:buNone/>
            </a:pPr>
            <a:r>
              <a:rPr lang="en-US" sz="1500" i="1" dirty="0">
                <a:solidFill>
                  <a:srgbClr val="D90429"/>
                </a:solidFill>
                <a:latin typeface="Calibri" pitchFamily="34" charset="0"/>
                <a:ea typeface="Calibri" pitchFamily="34" charset="-122"/>
                <a:cs typeface="Calibri" pitchFamily="34" charset="-120"/>
              </a:rPr>
              <a:t>Markdown remains the most universally understood format across all major models.</a:t>
            </a:r>
            <a:endParaRPr lang="en-US" sz="1500" dirty="0"/>
          </a:p>
        </p:txBody>
      </p:sp>
      <p:sp>
        <p:nvSpPr>
          <p:cNvPr id="19" name="Shape 17"/>
          <p:cNvSpPr/>
          <p:nvPr/>
        </p:nvSpPr>
        <p:spPr>
          <a:xfrm>
            <a:off x="8503920" y="4663440"/>
            <a:ext cx="365760" cy="365760"/>
          </a:xfrm>
          <a:prstGeom prst="ellipse">
            <a:avLst/>
          </a:prstGeom>
          <a:solidFill>
            <a:srgbClr val="D90429"/>
          </a:solidFill>
          <a:ln/>
        </p:spPr>
      </p:sp>
      <p:sp>
        <p:nvSpPr>
          <p:cNvPr id="20" name="Text 18"/>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65760"/>
            <a:ext cx="8412480" cy="731520"/>
          </a:xfrm>
          <a:prstGeom prst="rect">
            <a:avLst/>
          </a:prstGeom>
          <a:noFill/>
          <a:ln/>
        </p:spPr>
        <p:txBody>
          <a:bodyPr wrap="square" rtlCol="0" anchor="ctr"/>
          <a:lstStyle/>
          <a:p>
            <a:pPr algn="l" indent="0" marL="0">
              <a:buNone/>
            </a:pPr>
            <a:r>
              <a:rPr lang="en-US" sz="3600" b="1" dirty="0">
                <a:solidFill>
                  <a:srgbClr val="2B2D42"/>
                </a:solidFill>
                <a:latin typeface="Cambria" pitchFamily="34" charset="0"/>
                <a:ea typeface="Cambria" pitchFamily="34" charset="-122"/>
                <a:cs typeface="Cambria" pitchFamily="34" charset="-120"/>
              </a:rPr>
              <a:t>Quick Primer: What Is a Token?</a:t>
            </a:r>
            <a:endParaRPr lang="en-US" sz="3600" dirty="0"/>
          </a:p>
        </p:txBody>
      </p:sp>
      <p:sp>
        <p:nvSpPr>
          <p:cNvPr id="3" name="Text 1"/>
          <p:cNvSpPr/>
          <p:nvPr/>
        </p:nvSpPr>
        <p:spPr>
          <a:xfrm>
            <a:off x="365760" y="1463040"/>
            <a:ext cx="4206240" cy="2743200"/>
          </a:xfrm>
          <a:prstGeom prst="rect">
            <a:avLst/>
          </a:prstGeom>
          <a:noFill/>
          <a:ln/>
        </p:spPr>
        <p:txBody>
          <a:bodyPr wrap="square" rtlCol="0" anchor="t"/>
          <a:lstStyle/>
          <a:p>
            <a:pPr algn="l" indent="0" marL="0">
              <a:lnSpc>
                <a:spcPct val="130000"/>
              </a:lnSpc>
              <a:buNone/>
            </a:pPr>
            <a:r>
              <a:rPr lang="en-US" sz="1600" dirty="0">
                <a:solidFill>
                  <a:srgbClr val="2B2D42"/>
                </a:solidFill>
                <a:latin typeface="Calibri" pitchFamily="34" charset="0"/>
                <a:ea typeface="Calibri" pitchFamily="34" charset="-122"/>
                <a:cs typeface="Calibri" pitchFamily="34" charset="-120"/>
              </a:rPr>
              <a:t>Tokens are the small pieces of text an AI processes instead of whole words or sentences. Every prompt, document, code file, and response is converted into tokens before the model reads or writes.</a:t>
            </a:r>
            <a:endParaRPr lang="en-US" sz="1600" dirty="0"/>
          </a:p>
        </p:txBody>
      </p:sp>
      <p:sp>
        <p:nvSpPr>
          <p:cNvPr id="4" name="Shape 2"/>
          <p:cNvSpPr/>
          <p:nvPr/>
        </p:nvSpPr>
        <p:spPr>
          <a:xfrm>
            <a:off x="4892040" y="1463040"/>
            <a:ext cx="2971800" cy="640080"/>
          </a:xfrm>
          <a:prstGeom prst="roundRect">
            <a:avLst>
              <a:gd name="adj" fmla="val 11429"/>
            </a:avLst>
          </a:prstGeom>
          <a:solidFill>
            <a:srgbClr val="2B2D42"/>
          </a:solidFill>
          <a:ln/>
        </p:spPr>
      </p:sp>
      <p:sp>
        <p:nvSpPr>
          <p:cNvPr id="5" name="Text 3"/>
          <p:cNvSpPr/>
          <p:nvPr/>
        </p:nvSpPr>
        <p:spPr>
          <a:xfrm>
            <a:off x="4983480" y="1463040"/>
            <a:ext cx="2788920" cy="640080"/>
          </a:xfrm>
          <a:prstGeom prst="rect">
            <a:avLst/>
          </a:prstGeom>
          <a:noFill/>
          <a:ln/>
        </p:spPr>
        <p:txBody>
          <a:bodyPr wrap="square"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"AI Agent Building 101"</a:t>
            </a:r>
            <a:endParaRPr lang="en-US" sz="1300" dirty="0"/>
          </a:p>
        </p:txBody>
      </p:sp>
      <p:sp>
        <p:nvSpPr>
          <p:cNvPr id="6" name="Text 4"/>
          <p:cNvSpPr/>
          <p:nvPr/>
        </p:nvSpPr>
        <p:spPr>
          <a:xfrm>
            <a:off x="4892040" y="2176272"/>
            <a:ext cx="2971800" cy="320040"/>
          </a:xfrm>
          <a:prstGeom prst="rect">
            <a:avLst/>
          </a:prstGeom>
          <a:noFill/>
          <a:ln/>
        </p:spPr>
        <p:txBody>
          <a:bodyPr wrap="square" rtlCol="0" anchor="ctr"/>
          <a:lstStyle/>
          <a:p>
            <a:pPr algn="ctr" indent="0" marL="0">
              <a:buNone/>
            </a:pPr>
            <a:r>
              <a:rPr lang="en-US" sz="1100" dirty="0">
                <a:solidFill>
                  <a:srgbClr val="8D99AE"/>
                </a:solidFill>
                <a:latin typeface="Calibri" pitchFamily="34" charset="0"/>
                <a:ea typeface="Calibri" pitchFamily="34" charset="-122"/>
                <a:cs typeface="Calibri" pitchFamily="34" charset="-120"/>
              </a:rPr>
              <a:t>splits into tokens ↓</a:t>
            </a:r>
            <a:endParaRPr lang="en-US" sz="1100" dirty="0"/>
          </a:p>
        </p:txBody>
      </p:sp>
      <p:sp>
        <p:nvSpPr>
          <p:cNvPr id="7" name="Shape 5"/>
          <p:cNvSpPr/>
          <p:nvPr/>
        </p:nvSpPr>
        <p:spPr>
          <a:xfrm>
            <a:off x="4892040" y="2606040"/>
            <a:ext cx="535838" cy="502920"/>
          </a:xfrm>
          <a:prstGeom prst="roundRect">
            <a:avLst>
              <a:gd name="adj" fmla="val 9091"/>
            </a:avLst>
          </a:prstGeom>
          <a:solidFill>
            <a:srgbClr val="D90429"/>
          </a:solidFill>
          <a:ln/>
        </p:spPr>
      </p:sp>
      <p:sp>
        <p:nvSpPr>
          <p:cNvPr id="8" name="Text 6"/>
          <p:cNvSpPr/>
          <p:nvPr/>
        </p:nvSpPr>
        <p:spPr>
          <a:xfrm>
            <a:off x="4892040" y="2606040"/>
            <a:ext cx="535838" cy="50292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AI</a:t>
            </a:r>
            <a:endParaRPr lang="en-US" sz="1100" dirty="0"/>
          </a:p>
        </p:txBody>
      </p:sp>
      <p:sp>
        <p:nvSpPr>
          <p:cNvPr id="9" name="Shape 7"/>
          <p:cNvSpPr/>
          <p:nvPr/>
        </p:nvSpPr>
        <p:spPr>
          <a:xfrm>
            <a:off x="5501030" y="2606040"/>
            <a:ext cx="535838" cy="502920"/>
          </a:xfrm>
          <a:prstGeom prst="roundRect">
            <a:avLst>
              <a:gd name="adj" fmla="val 9091"/>
            </a:avLst>
          </a:prstGeom>
          <a:solidFill>
            <a:srgbClr val="EF233C"/>
          </a:solidFill>
          <a:ln/>
        </p:spPr>
      </p:sp>
      <p:sp>
        <p:nvSpPr>
          <p:cNvPr id="10" name="Text 8"/>
          <p:cNvSpPr/>
          <p:nvPr/>
        </p:nvSpPr>
        <p:spPr>
          <a:xfrm>
            <a:off x="5501030" y="2606040"/>
            <a:ext cx="535838" cy="50292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Agent</a:t>
            </a:r>
            <a:endParaRPr lang="en-US" sz="1100" dirty="0"/>
          </a:p>
        </p:txBody>
      </p:sp>
      <p:sp>
        <p:nvSpPr>
          <p:cNvPr id="11" name="Shape 9"/>
          <p:cNvSpPr/>
          <p:nvPr/>
        </p:nvSpPr>
        <p:spPr>
          <a:xfrm>
            <a:off x="6110021" y="2606040"/>
            <a:ext cx="535838" cy="502920"/>
          </a:xfrm>
          <a:prstGeom prst="roundRect">
            <a:avLst>
              <a:gd name="adj" fmla="val 9091"/>
            </a:avLst>
          </a:prstGeom>
          <a:solidFill>
            <a:srgbClr val="8D99AE"/>
          </a:solidFill>
          <a:ln/>
        </p:spPr>
      </p:sp>
      <p:sp>
        <p:nvSpPr>
          <p:cNvPr id="12" name="Text 10"/>
          <p:cNvSpPr/>
          <p:nvPr/>
        </p:nvSpPr>
        <p:spPr>
          <a:xfrm>
            <a:off x="6110021" y="2606040"/>
            <a:ext cx="535838" cy="50292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Build</a:t>
            </a:r>
            <a:endParaRPr lang="en-US" sz="1100" dirty="0"/>
          </a:p>
        </p:txBody>
      </p:sp>
      <p:sp>
        <p:nvSpPr>
          <p:cNvPr id="13" name="Shape 11"/>
          <p:cNvSpPr/>
          <p:nvPr/>
        </p:nvSpPr>
        <p:spPr>
          <a:xfrm>
            <a:off x="6719011" y="2606040"/>
            <a:ext cx="535838" cy="502920"/>
          </a:xfrm>
          <a:prstGeom prst="roundRect">
            <a:avLst>
              <a:gd name="adj" fmla="val 9091"/>
            </a:avLst>
          </a:prstGeom>
          <a:solidFill>
            <a:srgbClr val="2B2D42"/>
          </a:solidFill>
          <a:ln/>
        </p:spPr>
      </p:sp>
      <p:sp>
        <p:nvSpPr>
          <p:cNvPr id="14" name="Text 12"/>
          <p:cNvSpPr/>
          <p:nvPr/>
        </p:nvSpPr>
        <p:spPr>
          <a:xfrm>
            <a:off x="6719011" y="2606040"/>
            <a:ext cx="535838" cy="50292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ing</a:t>
            </a:r>
            <a:endParaRPr lang="en-US" sz="1100" dirty="0"/>
          </a:p>
        </p:txBody>
      </p:sp>
      <p:sp>
        <p:nvSpPr>
          <p:cNvPr id="15" name="Shape 13"/>
          <p:cNvSpPr/>
          <p:nvPr/>
        </p:nvSpPr>
        <p:spPr>
          <a:xfrm>
            <a:off x="7328002" y="2606040"/>
            <a:ext cx="535838" cy="502920"/>
          </a:xfrm>
          <a:prstGeom prst="roundRect">
            <a:avLst>
              <a:gd name="adj" fmla="val 9091"/>
            </a:avLst>
          </a:prstGeom>
          <a:solidFill>
            <a:srgbClr val="D90429"/>
          </a:solidFill>
          <a:ln/>
        </p:spPr>
      </p:sp>
      <p:sp>
        <p:nvSpPr>
          <p:cNvPr id="16" name="Text 14"/>
          <p:cNvSpPr/>
          <p:nvPr/>
        </p:nvSpPr>
        <p:spPr>
          <a:xfrm>
            <a:off x="7328002" y="2606040"/>
            <a:ext cx="535838" cy="50292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101</a:t>
            </a:r>
            <a:endParaRPr lang="en-US" sz="1100" dirty="0"/>
          </a:p>
        </p:txBody>
      </p:sp>
      <p:sp>
        <p:nvSpPr>
          <p:cNvPr id="17" name="Text 15"/>
          <p:cNvSpPr/>
          <p:nvPr/>
        </p:nvSpPr>
        <p:spPr>
          <a:xfrm>
            <a:off x="4892040" y="3246120"/>
            <a:ext cx="2971800" cy="320040"/>
          </a:xfrm>
          <a:prstGeom prst="rect">
            <a:avLst/>
          </a:prstGeom>
          <a:noFill/>
          <a:ln/>
        </p:spPr>
        <p:txBody>
          <a:bodyPr wrap="square" rtlCol="0" anchor="t"/>
          <a:lstStyle/>
          <a:p>
            <a:pPr algn="ctr" indent="0" marL="0">
              <a:buNone/>
            </a:pPr>
            <a:r>
              <a:rPr lang="en-US" sz="1000" i="1" dirty="0">
                <a:solidFill>
                  <a:srgbClr val="8D99AE"/>
                </a:solidFill>
                <a:latin typeface="Calibri" pitchFamily="34" charset="0"/>
                <a:ea typeface="Calibri" pitchFamily="34" charset="-122"/>
                <a:cs typeface="Calibri" pitchFamily="34" charset="-120"/>
              </a:rPr>
              <a:t>Each colored piece represents one token</a:t>
            </a:r>
            <a:endParaRPr lang="en-US" sz="1000" dirty="0"/>
          </a:p>
        </p:txBody>
      </p:sp>
      <p:sp>
        <p:nvSpPr>
          <p:cNvPr id="18" name="Shape 16"/>
          <p:cNvSpPr/>
          <p:nvPr/>
        </p:nvSpPr>
        <p:spPr>
          <a:xfrm>
            <a:off x="8503920" y="4663440"/>
            <a:ext cx="365760" cy="365760"/>
          </a:xfrm>
          <a:prstGeom prst="ellipse">
            <a:avLst/>
          </a:prstGeom>
          <a:solidFill>
            <a:srgbClr val="D90429"/>
          </a:solidFill>
          <a:ln/>
        </p:spPr>
      </p:sp>
      <p:sp>
        <p:nvSpPr>
          <p:cNvPr id="19" name="Text 17"/>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65760"/>
            <a:ext cx="8412480" cy="731520"/>
          </a:xfrm>
          <a:prstGeom prst="rect">
            <a:avLst/>
          </a:prstGeom>
          <a:noFill/>
          <a:ln/>
        </p:spPr>
        <p:txBody>
          <a:bodyPr wrap="square" rtlCol="0" anchor="ctr"/>
          <a:lstStyle/>
          <a:p>
            <a:pPr algn="l" indent="0" marL="0">
              <a:buNone/>
            </a:pPr>
            <a:r>
              <a:rPr lang="en-US" sz="3600" b="1" dirty="0">
                <a:solidFill>
                  <a:srgbClr val="2B2D42"/>
                </a:solidFill>
                <a:latin typeface="Cambria" pitchFamily="34" charset="0"/>
                <a:ea typeface="Cambria" pitchFamily="34" charset="-122"/>
                <a:cs typeface="Cambria" pitchFamily="34" charset="-120"/>
              </a:rPr>
              <a:t>Token Usage Varies by Task</a:t>
            </a:r>
            <a:endParaRPr lang="en-US" sz="3600" dirty="0"/>
          </a:p>
        </p:txBody>
      </p:sp>
      <p:sp>
        <p:nvSpPr>
          <p:cNvPr id="3" name="Text 1"/>
          <p:cNvSpPr/>
          <p:nvPr/>
        </p:nvSpPr>
        <p:spPr>
          <a:xfrm>
            <a:off x="365760" y="1463040"/>
            <a:ext cx="1828800" cy="457200"/>
          </a:xfrm>
          <a:prstGeom prst="rect">
            <a:avLst/>
          </a:prstGeom>
          <a:noFill/>
          <a:ln/>
        </p:spPr>
        <p:txBody>
          <a:bodyPr wrap="square" rtlCol="0" anchor="ctr"/>
          <a:lstStyle/>
          <a:p>
            <a:pPr algn="l" indent="0" marL="0">
              <a:buNone/>
            </a:pPr>
            <a:r>
              <a:rPr lang="en-US" sz="1400" dirty="0">
                <a:solidFill>
                  <a:srgbClr val="2B2D42"/>
                </a:solidFill>
                <a:latin typeface="Calibri" pitchFamily="34" charset="0"/>
                <a:ea typeface="Calibri" pitchFamily="34" charset="-122"/>
                <a:cs typeface="Calibri" pitchFamily="34" charset="-120"/>
              </a:rPr>
              <a:t>Short Prompt</a:t>
            </a:r>
            <a:endParaRPr lang="en-US" sz="1400" dirty="0"/>
          </a:p>
        </p:txBody>
      </p:sp>
      <p:sp>
        <p:nvSpPr>
          <p:cNvPr id="4" name="Shape 2"/>
          <p:cNvSpPr/>
          <p:nvPr/>
        </p:nvSpPr>
        <p:spPr>
          <a:xfrm>
            <a:off x="2377440" y="1463040"/>
            <a:ext cx="5669280" cy="457200"/>
          </a:xfrm>
          <a:prstGeom prst="roundRect">
            <a:avLst>
              <a:gd name="adj" fmla="val 10000"/>
            </a:avLst>
          </a:prstGeom>
          <a:solidFill>
            <a:srgbClr val="8D99AE">
              <a:alpha val="15000"/>
            </a:srgbClr>
          </a:solidFill>
          <a:ln/>
        </p:spPr>
      </p:sp>
      <p:sp>
        <p:nvSpPr>
          <p:cNvPr id="5" name="Shape 3"/>
          <p:cNvSpPr/>
          <p:nvPr/>
        </p:nvSpPr>
        <p:spPr>
          <a:xfrm>
            <a:off x="2377440" y="1463040"/>
            <a:ext cx="1097280" cy="457200"/>
          </a:xfrm>
          <a:prstGeom prst="roundRect">
            <a:avLst>
              <a:gd name="adj" fmla="val 10000"/>
            </a:avLst>
          </a:prstGeom>
          <a:solidFill>
            <a:srgbClr val="D90429">
              <a:alpha val="25000"/>
            </a:srgbClr>
          </a:solidFill>
          <a:ln/>
        </p:spPr>
      </p:sp>
      <p:sp>
        <p:nvSpPr>
          <p:cNvPr id="6" name="Text 4"/>
          <p:cNvSpPr/>
          <p:nvPr/>
        </p:nvSpPr>
        <p:spPr>
          <a:xfrm>
            <a:off x="365760" y="2240280"/>
            <a:ext cx="1828800" cy="457200"/>
          </a:xfrm>
          <a:prstGeom prst="rect">
            <a:avLst/>
          </a:prstGeom>
          <a:noFill/>
          <a:ln/>
        </p:spPr>
        <p:txBody>
          <a:bodyPr wrap="square" rtlCol="0" anchor="ctr"/>
          <a:lstStyle/>
          <a:p>
            <a:pPr algn="l" indent="0" marL="0">
              <a:buNone/>
            </a:pPr>
            <a:r>
              <a:rPr lang="en-US" sz="1400" dirty="0">
                <a:solidFill>
                  <a:srgbClr val="2B2D42"/>
                </a:solidFill>
                <a:latin typeface="Calibri" pitchFamily="34" charset="0"/>
                <a:ea typeface="Calibri" pitchFamily="34" charset="-122"/>
                <a:cs typeface="Calibri" pitchFamily="34" charset="-120"/>
              </a:rPr>
              <a:t>Email Draft</a:t>
            </a:r>
            <a:endParaRPr lang="en-US" sz="1400" dirty="0"/>
          </a:p>
        </p:txBody>
      </p:sp>
      <p:sp>
        <p:nvSpPr>
          <p:cNvPr id="7" name="Shape 5"/>
          <p:cNvSpPr/>
          <p:nvPr/>
        </p:nvSpPr>
        <p:spPr>
          <a:xfrm>
            <a:off x="2377440" y="2240280"/>
            <a:ext cx="5669280" cy="457200"/>
          </a:xfrm>
          <a:prstGeom prst="roundRect">
            <a:avLst>
              <a:gd name="adj" fmla="val 10000"/>
            </a:avLst>
          </a:prstGeom>
          <a:solidFill>
            <a:srgbClr val="8D99AE">
              <a:alpha val="15000"/>
            </a:srgbClr>
          </a:solidFill>
          <a:ln/>
        </p:spPr>
      </p:sp>
      <p:sp>
        <p:nvSpPr>
          <p:cNvPr id="8" name="Shape 6"/>
          <p:cNvSpPr/>
          <p:nvPr/>
        </p:nvSpPr>
        <p:spPr>
          <a:xfrm>
            <a:off x="2377440" y="2240280"/>
            <a:ext cx="2377440" cy="457200"/>
          </a:xfrm>
          <a:prstGeom prst="roundRect">
            <a:avLst>
              <a:gd name="adj" fmla="val 10000"/>
            </a:avLst>
          </a:prstGeom>
          <a:solidFill>
            <a:srgbClr val="D90429">
              <a:alpha val="45000"/>
            </a:srgbClr>
          </a:solidFill>
          <a:ln/>
        </p:spPr>
      </p:sp>
      <p:sp>
        <p:nvSpPr>
          <p:cNvPr id="9" name="Text 7"/>
          <p:cNvSpPr/>
          <p:nvPr/>
        </p:nvSpPr>
        <p:spPr>
          <a:xfrm>
            <a:off x="365760" y="3017520"/>
            <a:ext cx="1828800" cy="457200"/>
          </a:xfrm>
          <a:prstGeom prst="rect">
            <a:avLst/>
          </a:prstGeom>
          <a:noFill/>
          <a:ln/>
        </p:spPr>
        <p:txBody>
          <a:bodyPr wrap="square" rtlCol="0" anchor="ctr"/>
          <a:lstStyle/>
          <a:p>
            <a:pPr algn="l" indent="0" marL="0">
              <a:buNone/>
            </a:pPr>
            <a:r>
              <a:rPr lang="en-US" sz="1400" dirty="0">
                <a:solidFill>
                  <a:srgbClr val="2B2D42"/>
                </a:solidFill>
                <a:latin typeface="Calibri" pitchFamily="34" charset="0"/>
                <a:ea typeface="Calibri" pitchFamily="34" charset="-122"/>
                <a:cs typeface="Calibri" pitchFamily="34" charset="-120"/>
              </a:rPr>
              <a:t>Code File</a:t>
            </a:r>
            <a:endParaRPr lang="en-US" sz="1400" dirty="0"/>
          </a:p>
        </p:txBody>
      </p:sp>
      <p:sp>
        <p:nvSpPr>
          <p:cNvPr id="10" name="Shape 8"/>
          <p:cNvSpPr/>
          <p:nvPr/>
        </p:nvSpPr>
        <p:spPr>
          <a:xfrm>
            <a:off x="2377440" y="3017520"/>
            <a:ext cx="5669280" cy="457200"/>
          </a:xfrm>
          <a:prstGeom prst="roundRect">
            <a:avLst>
              <a:gd name="adj" fmla="val 10000"/>
            </a:avLst>
          </a:prstGeom>
          <a:solidFill>
            <a:srgbClr val="8D99AE">
              <a:alpha val="15000"/>
            </a:srgbClr>
          </a:solidFill>
          <a:ln/>
        </p:spPr>
      </p:sp>
      <p:sp>
        <p:nvSpPr>
          <p:cNvPr id="11" name="Shape 9"/>
          <p:cNvSpPr/>
          <p:nvPr/>
        </p:nvSpPr>
        <p:spPr>
          <a:xfrm>
            <a:off x="2377440" y="3017520"/>
            <a:ext cx="3931920" cy="457200"/>
          </a:xfrm>
          <a:prstGeom prst="roundRect">
            <a:avLst>
              <a:gd name="adj" fmla="val 10000"/>
            </a:avLst>
          </a:prstGeom>
          <a:solidFill>
            <a:srgbClr val="D90429">
              <a:alpha val="70000"/>
            </a:srgbClr>
          </a:solidFill>
          <a:ln/>
        </p:spPr>
      </p:sp>
      <p:sp>
        <p:nvSpPr>
          <p:cNvPr id="12" name="Text 10"/>
          <p:cNvSpPr/>
          <p:nvPr/>
        </p:nvSpPr>
        <p:spPr>
          <a:xfrm>
            <a:off x="365760" y="3794760"/>
            <a:ext cx="1828800" cy="457200"/>
          </a:xfrm>
          <a:prstGeom prst="rect">
            <a:avLst/>
          </a:prstGeom>
          <a:noFill/>
          <a:ln/>
        </p:spPr>
        <p:txBody>
          <a:bodyPr wrap="square" rtlCol="0" anchor="ctr"/>
          <a:lstStyle/>
          <a:p>
            <a:pPr algn="l" indent="0" marL="0">
              <a:buNone/>
            </a:pPr>
            <a:r>
              <a:rPr lang="en-US" sz="1400" dirty="0">
                <a:solidFill>
                  <a:srgbClr val="2B2D42"/>
                </a:solidFill>
                <a:latin typeface="Calibri" pitchFamily="34" charset="0"/>
                <a:ea typeface="Calibri" pitchFamily="34" charset="-122"/>
                <a:cs typeface="Calibri" pitchFamily="34" charset="-120"/>
              </a:rPr>
              <a:t>Full Document</a:t>
            </a:r>
            <a:endParaRPr lang="en-US" sz="1400" dirty="0"/>
          </a:p>
        </p:txBody>
      </p:sp>
      <p:sp>
        <p:nvSpPr>
          <p:cNvPr id="13" name="Shape 11"/>
          <p:cNvSpPr/>
          <p:nvPr/>
        </p:nvSpPr>
        <p:spPr>
          <a:xfrm>
            <a:off x="2377440" y="3794760"/>
            <a:ext cx="5669280" cy="457200"/>
          </a:xfrm>
          <a:prstGeom prst="roundRect">
            <a:avLst>
              <a:gd name="adj" fmla="val 10000"/>
            </a:avLst>
          </a:prstGeom>
          <a:solidFill>
            <a:srgbClr val="8D99AE">
              <a:alpha val="15000"/>
            </a:srgbClr>
          </a:solidFill>
          <a:ln/>
        </p:spPr>
      </p:sp>
      <p:sp>
        <p:nvSpPr>
          <p:cNvPr id="14" name="Shape 12"/>
          <p:cNvSpPr/>
          <p:nvPr/>
        </p:nvSpPr>
        <p:spPr>
          <a:xfrm>
            <a:off x="2377440" y="3794760"/>
            <a:ext cx="5669280" cy="457200"/>
          </a:xfrm>
          <a:prstGeom prst="roundRect">
            <a:avLst>
              <a:gd name="adj" fmla="val 10000"/>
            </a:avLst>
          </a:prstGeom>
          <a:solidFill>
            <a:srgbClr val="D90429"/>
          </a:solidFill>
          <a:ln/>
        </p:spPr>
      </p:sp>
      <p:sp>
        <p:nvSpPr>
          <p:cNvPr id="15" name="Text 13"/>
          <p:cNvSpPr/>
          <p:nvPr/>
        </p:nvSpPr>
        <p:spPr>
          <a:xfrm>
            <a:off x="365760" y="4434840"/>
            <a:ext cx="8412480" cy="365760"/>
          </a:xfrm>
          <a:prstGeom prst="rect">
            <a:avLst/>
          </a:prstGeom>
          <a:noFill/>
          <a:ln/>
        </p:spPr>
        <p:txBody>
          <a:bodyPr wrap="square" rtlCol="0" anchor="t"/>
          <a:lstStyle/>
          <a:p>
            <a:pPr algn="l" indent="0" marL="0">
              <a:buNone/>
            </a:pPr>
            <a:r>
              <a:rPr lang="en-US" sz="1100" i="1" dirty="0">
                <a:solidFill>
                  <a:srgbClr val="8D99AE"/>
                </a:solidFill>
                <a:latin typeface="Calibri" pitchFamily="34" charset="0"/>
                <a:ea typeface="Calibri" pitchFamily="34" charset="-122"/>
                <a:cs typeface="Calibri" pitchFamily="34" charset="-120"/>
              </a:rPr>
              <a:t>Illustrative comparison only — actual token counts vary by content and model tokenizer.</a:t>
            </a:r>
            <a:endParaRPr lang="en-US" sz="1100" dirty="0"/>
          </a:p>
        </p:txBody>
      </p:sp>
      <p:sp>
        <p:nvSpPr>
          <p:cNvPr id="16" name="Shape 14"/>
          <p:cNvSpPr/>
          <p:nvPr/>
        </p:nvSpPr>
        <p:spPr>
          <a:xfrm>
            <a:off x="8503920" y="4663440"/>
            <a:ext cx="365760" cy="365760"/>
          </a:xfrm>
          <a:prstGeom prst="ellipse">
            <a:avLst/>
          </a:prstGeom>
          <a:solidFill>
            <a:srgbClr val="D90429"/>
          </a:solidFill>
          <a:ln/>
        </p:spPr>
      </p:sp>
      <p:sp>
        <p:nvSpPr>
          <p:cNvPr id="17" name="Text 15"/>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65760"/>
            <a:ext cx="8412480" cy="731520"/>
          </a:xfrm>
          <a:prstGeom prst="rect">
            <a:avLst/>
          </a:prstGeom>
          <a:noFill/>
          <a:ln/>
        </p:spPr>
        <p:txBody>
          <a:bodyPr wrap="square" rtlCol="0" anchor="ctr">
            <a:normAutofit/>
          </a:bodyPr>
          <a:lstStyle/>
          <a:p>
            <a:pPr algn="l" indent="0" marL="0">
              <a:buNone/>
            </a:pPr>
            <a:r>
              <a:rPr lang="en-US" sz="3200" b="1" dirty="0">
                <a:solidFill>
                  <a:srgbClr val="2B2D42"/>
                </a:solidFill>
                <a:latin typeface="Cambria" pitchFamily="34" charset="0"/>
                <a:ea typeface="Cambria" pitchFamily="34" charset="-122"/>
                <a:cs typeface="Cambria" pitchFamily="34" charset="-120"/>
              </a:rPr>
              <a:t>Context Windows: Claude App vs. Claude Code</a:t>
            </a:r>
            <a:endParaRPr lang="en-US" sz="3200" dirty="0"/>
          </a:p>
        </p:txBody>
      </p:sp>
      <p:sp>
        <p:nvSpPr>
          <p:cNvPr id="3" name="Shape 1"/>
          <p:cNvSpPr/>
          <p:nvPr/>
        </p:nvSpPr>
        <p:spPr>
          <a:xfrm>
            <a:off x="457200" y="1417320"/>
            <a:ext cx="3840480" cy="2651760"/>
          </a:xfrm>
          <a:prstGeom prst="roundRect">
            <a:avLst>
              <a:gd name="adj" fmla="val 4138"/>
            </a:avLst>
          </a:prstGeom>
          <a:solidFill>
            <a:srgbClr val="FFFFFF"/>
          </a:solidFill>
          <a:ln w="12700">
            <a:solidFill>
              <a:srgbClr val="8D99AE"/>
            </a:solidFill>
            <a:prstDash val="solid"/>
          </a:ln>
        </p:spPr>
      </p:sp>
      <p:sp>
        <p:nvSpPr>
          <p:cNvPr id="4" name="Shape 2"/>
          <p:cNvSpPr/>
          <p:nvPr/>
        </p:nvSpPr>
        <p:spPr>
          <a:xfrm>
            <a:off x="457200" y="1417320"/>
            <a:ext cx="3840480" cy="109728"/>
          </a:xfrm>
          <a:prstGeom prst="rect">
            <a:avLst/>
          </a:prstGeom>
          <a:solidFill>
            <a:srgbClr val="D90429"/>
          </a:solidFill>
          <a:ln/>
        </p:spPr>
      </p:sp>
      <p:sp>
        <p:nvSpPr>
          <p:cNvPr id="5" name="Text 3"/>
          <p:cNvSpPr/>
          <p:nvPr/>
        </p:nvSpPr>
        <p:spPr>
          <a:xfrm>
            <a:off x="640080" y="1920240"/>
            <a:ext cx="3474720" cy="1188720"/>
          </a:xfrm>
          <a:prstGeom prst="rect">
            <a:avLst/>
          </a:prstGeom>
          <a:noFill/>
          <a:ln/>
        </p:spPr>
        <p:txBody>
          <a:bodyPr wrap="square" rtlCol="0" anchor="ctr">
            <a:normAutofit/>
          </a:bodyPr>
          <a:lstStyle/>
          <a:p>
            <a:pPr algn="ctr" indent="0" marL="0">
              <a:buNone/>
            </a:pPr>
            <a:r>
              <a:rPr lang="en-US" sz="6000" b="1" dirty="0">
                <a:solidFill>
                  <a:srgbClr val="D90429"/>
                </a:solidFill>
                <a:latin typeface="Cambria" pitchFamily="34" charset="0"/>
                <a:ea typeface="Cambria" pitchFamily="34" charset="-122"/>
                <a:cs typeface="Cambria" pitchFamily="34" charset="-120"/>
              </a:rPr>
              <a:t>200K tokens</a:t>
            </a:r>
            <a:endParaRPr lang="en-US" sz="6000" dirty="0"/>
          </a:p>
        </p:txBody>
      </p:sp>
      <p:sp>
        <p:nvSpPr>
          <p:cNvPr id="6" name="Text 4"/>
          <p:cNvSpPr/>
          <p:nvPr/>
        </p:nvSpPr>
        <p:spPr>
          <a:xfrm>
            <a:off x="640080" y="3200400"/>
            <a:ext cx="3474720" cy="365760"/>
          </a:xfrm>
          <a:prstGeom prst="rect">
            <a:avLst/>
          </a:prstGeom>
          <a:noFill/>
          <a:ln/>
        </p:spPr>
        <p:txBody>
          <a:bodyPr wrap="square" rtlCol="0" anchor="ctr"/>
          <a:lstStyle/>
          <a:p>
            <a:pPr algn="ctr" indent="0" marL="0">
              <a:buNone/>
            </a:pPr>
            <a:r>
              <a:rPr lang="en-US" sz="1800" dirty="0">
                <a:solidFill>
                  <a:srgbClr val="2B2D42"/>
                </a:solidFill>
                <a:latin typeface="Calibri" pitchFamily="34" charset="0"/>
                <a:ea typeface="Calibri" pitchFamily="34" charset="-122"/>
                <a:cs typeface="Calibri" pitchFamily="34" charset="-120"/>
              </a:rPr>
              <a:t>Claude App / Browser</a:t>
            </a:r>
            <a:endParaRPr lang="en-US" sz="1800" dirty="0"/>
          </a:p>
        </p:txBody>
      </p:sp>
      <p:sp>
        <p:nvSpPr>
          <p:cNvPr id="7" name="Text 5"/>
          <p:cNvSpPr/>
          <p:nvPr/>
        </p:nvSpPr>
        <p:spPr>
          <a:xfrm>
            <a:off x="640080" y="3566160"/>
            <a:ext cx="3474720" cy="320040"/>
          </a:xfrm>
          <a:prstGeom prst="rect">
            <a:avLst/>
          </a:prstGeom>
          <a:noFill/>
          <a:ln/>
        </p:spPr>
        <p:txBody>
          <a:bodyPr wrap="square" rtlCol="0" anchor="ctr"/>
          <a:lstStyle/>
          <a:p>
            <a:pPr algn="ctr" indent="0" marL="0">
              <a:buNone/>
            </a:pPr>
            <a:r>
              <a:rPr lang="en-US" sz="1300" dirty="0">
                <a:solidFill>
                  <a:srgbClr val="8D99AE"/>
                </a:solidFill>
                <a:latin typeface="Calibri" pitchFamily="34" charset="0"/>
                <a:ea typeface="Calibri" pitchFamily="34" charset="-122"/>
                <a:cs typeface="Calibri" pitchFamily="34" charset="-120"/>
              </a:rPr>
              <a:t>(per chat)</a:t>
            </a:r>
            <a:endParaRPr lang="en-US" sz="1300" dirty="0"/>
          </a:p>
        </p:txBody>
      </p:sp>
      <p:sp>
        <p:nvSpPr>
          <p:cNvPr id="8" name="Shape 6"/>
          <p:cNvSpPr/>
          <p:nvPr/>
        </p:nvSpPr>
        <p:spPr>
          <a:xfrm>
            <a:off x="4663440" y="1417320"/>
            <a:ext cx="3840480" cy="2651760"/>
          </a:xfrm>
          <a:prstGeom prst="roundRect">
            <a:avLst>
              <a:gd name="adj" fmla="val 4138"/>
            </a:avLst>
          </a:prstGeom>
          <a:solidFill>
            <a:srgbClr val="FFFFFF"/>
          </a:solidFill>
          <a:ln w="12700">
            <a:solidFill>
              <a:srgbClr val="8D99AE"/>
            </a:solidFill>
            <a:prstDash val="solid"/>
          </a:ln>
        </p:spPr>
      </p:sp>
      <p:sp>
        <p:nvSpPr>
          <p:cNvPr id="9" name="Shape 7"/>
          <p:cNvSpPr/>
          <p:nvPr/>
        </p:nvSpPr>
        <p:spPr>
          <a:xfrm>
            <a:off x="4663440" y="1417320"/>
            <a:ext cx="3840480" cy="109728"/>
          </a:xfrm>
          <a:prstGeom prst="rect">
            <a:avLst/>
          </a:prstGeom>
          <a:solidFill>
            <a:srgbClr val="D90429"/>
          </a:solidFill>
          <a:ln/>
        </p:spPr>
      </p:sp>
      <p:sp>
        <p:nvSpPr>
          <p:cNvPr id="10" name="Text 8"/>
          <p:cNvSpPr/>
          <p:nvPr/>
        </p:nvSpPr>
        <p:spPr>
          <a:xfrm>
            <a:off x="4846320" y="1920240"/>
            <a:ext cx="3474720" cy="1188720"/>
          </a:xfrm>
          <a:prstGeom prst="rect">
            <a:avLst/>
          </a:prstGeom>
          <a:noFill/>
          <a:ln/>
        </p:spPr>
        <p:txBody>
          <a:bodyPr wrap="square" rtlCol="0" anchor="ctr">
            <a:normAutofit/>
          </a:bodyPr>
          <a:lstStyle/>
          <a:p>
            <a:pPr algn="ctr" indent="0" marL="0">
              <a:buNone/>
            </a:pPr>
            <a:r>
              <a:rPr lang="en-US" sz="4400" b="1" dirty="0">
                <a:solidFill>
                  <a:srgbClr val="D90429"/>
                </a:solidFill>
                <a:latin typeface="Cambria" pitchFamily="34" charset="0"/>
                <a:ea typeface="Cambria" pitchFamily="34" charset="-122"/>
                <a:cs typeface="Cambria" pitchFamily="34" charset="-120"/>
              </a:rPr>
              <a:t>1,000K (1M) tokens</a:t>
            </a:r>
            <a:endParaRPr lang="en-US" sz="4400" dirty="0"/>
          </a:p>
        </p:txBody>
      </p:sp>
      <p:sp>
        <p:nvSpPr>
          <p:cNvPr id="11" name="Text 9"/>
          <p:cNvSpPr/>
          <p:nvPr/>
        </p:nvSpPr>
        <p:spPr>
          <a:xfrm>
            <a:off x="4846320" y="3200400"/>
            <a:ext cx="3474720" cy="365760"/>
          </a:xfrm>
          <a:prstGeom prst="rect">
            <a:avLst/>
          </a:prstGeom>
          <a:noFill/>
          <a:ln/>
        </p:spPr>
        <p:txBody>
          <a:bodyPr wrap="square" rtlCol="0" anchor="ctr"/>
          <a:lstStyle/>
          <a:p>
            <a:pPr algn="ctr" indent="0" marL="0">
              <a:buNone/>
            </a:pPr>
            <a:r>
              <a:rPr lang="en-US" sz="1800" dirty="0">
                <a:solidFill>
                  <a:srgbClr val="2B2D42"/>
                </a:solidFill>
                <a:latin typeface="Calibri" pitchFamily="34" charset="0"/>
                <a:ea typeface="Calibri" pitchFamily="34" charset="-122"/>
                <a:cs typeface="Calibri" pitchFamily="34" charset="-120"/>
              </a:rPr>
              <a:t>Claude Code</a:t>
            </a:r>
            <a:endParaRPr lang="en-US" sz="1800" dirty="0"/>
          </a:p>
        </p:txBody>
      </p:sp>
      <p:sp>
        <p:nvSpPr>
          <p:cNvPr id="12" name="Text 10"/>
          <p:cNvSpPr/>
          <p:nvPr/>
        </p:nvSpPr>
        <p:spPr>
          <a:xfrm>
            <a:off x="4846320" y="3566160"/>
            <a:ext cx="3474720" cy="320040"/>
          </a:xfrm>
          <a:prstGeom prst="rect">
            <a:avLst/>
          </a:prstGeom>
          <a:noFill/>
          <a:ln/>
        </p:spPr>
        <p:txBody>
          <a:bodyPr wrap="square" rtlCol="0" anchor="ctr"/>
          <a:lstStyle/>
          <a:p>
            <a:pPr algn="ctr" indent="0" marL="0">
              <a:buNone/>
            </a:pPr>
            <a:r>
              <a:rPr lang="en-US" sz="1300" dirty="0">
                <a:solidFill>
                  <a:srgbClr val="8D99AE"/>
                </a:solidFill>
                <a:latin typeface="Calibri" pitchFamily="34" charset="0"/>
                <a:ea typeface="Calibri" pitchFamily="34" charset="-122"/>
                <a:cs typeface="Calibri" pitchFamily="34" charset="-120"/>
              </a:rPr>
              <a:t>(per chat)</a:t>
            </a:r>
            <a:endParaRPr lang="en-US" sz="1300" dirty="0"/>
          </a:p>
        </p:txBody>
      </p:sp>
      <p:sp>
        <p:nvSpPr>
          <p:cNvPr id="13" name="Text 11"/>
          <p:cNvSpPr/>
          <p:nvPr/>
        </p:nvSpPr>
        <p:spPr>
          <a:xfrm>
            <a:off x="365760" y="4434840"/>
            <a:ext cx="8412480" cy="365760"/>
          </a:xfrm>
          <a:prstGeom prst="rect">
            <a:avLst/>
          </a:prstGeom>
          <a:noFill/>
          <a:ln/>
        </p:spPr>
        <p:txBody>
          <a:bodyPr wrap="square" rtlCol="0" anchor="t"/>
          <a:lstStyle/>
          <a:p>
            <a:pPr algn="l" indent="0" marL="0">
              <a:buNone/>
            </a:pPr>
            <a:r>
              <a:rPr lang="en-US" sz="1100" i="1" dirty="0">
                <a:solidFill>
                  <a:srgbClr val="8D99AE"/>
                </a:solidFill>
                <a:latin typeface="Calibri" pitchFamily="34" charset="0"/>
                <a:ea typeface="Calibri" pitchFamily="34" charset="-122"/>
                <a:cs typeface="Calibri" pitchFamily="34" charset="-120"/>
              </a:rPr>
              <a:t>Figures reflect Anthropic's published context limits at time of writing — confirm current limits before presenting.</a:t>
            </a:r>
            <a:endParaRPr lang="en-US" sz="1100" dirty="0"/>
          </a:p>
        </p:txBody>
      </p:sp>
      <p:sp>
        <p:nvSpPr>
          <p:cNvPr id="14" name="Shape 12"/>
          <p:cNvSpPr/>
          <p:nvPr/>
        </p:nvSpPr>
        <p:spPr>
          <a:xfrm>
            <a:off x="8503920" y="4663440"/>
            <a:ext cx="365760" cy="365760"/>
          </a:xfrm>
          <a:prstGeom prst="ellipse">
            <a:avLst/>
          </a:prstGeom>
          <a:solidFill>
            <a:srgbClr val="D90429"/>
          </a:solidFill>
          <a:ln/>
        </p:spPr>
      </p:sp>
      <p:sp>
        <p:nvSpPr>
          <p:cNvPr id="15" name="Text 13"/>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640080"/>
            <a:ext cx="5486400" cy="1097280"/>
          </a:xfrm>
          <a:prstGeom prst="rect">
            <a:avLst/>
          </a:prstGeom>
          <a:noFill/>
          <a:ln/>
        </p:spPr>
        <p:txBody>
          <a:bodyPr wrap="square" rtlCol="0" anchor="t">
            <a:normAutofit/>
          </a:bodyPr>
          <a:lstStyle/>
          <a:p>
            <a:pPr algn="l" indent="0" marL="0">
              <a:buNone/>
            </a:pPr>
            <a:r>
              <a:rPr lang="en-US" sz="4000" b="1" dirty="0">
                <a:solidFill>
                  <a:srgbClr val="2B2D42"/>
                </a:solidFill>
                <a:latin typeface="Cambria" pitchFamily="34" charset="0"/>
                <a:ea typeface="Cambria" pitchFamily="34" charset="-122"/>
                <a:cs typeface="Cambria" pitchFamily="34" charset="-120"/>
              </a:rPr>
              <a:t>That's a Lot of Context to Work With</a:t>
            </a:r>
            <a:endParaRPr lang="en-US" sz="4000" dirty="0"/>
          </a:p>
        </p:txBody>
      </p:sp>
      <p:sp>
        <p:nvSpPr>
          <p:cNvPr id="3" name="Text 1"/>
          <p:cNvSpPr/>
          <p:nvPr/>
        </p:nvSpPr>
        <p:spPr>
          <a:xfrm>
            <a:off x="365760" y="1965960"/>
            <a:ext cx="5303520" cy="1463040"/>
          </a:xfrm>
          <a:prstGeom prst="rect">
            <a:avLst/>
          </a:prstGeom>
          <a:noFill/>
          <a:ln/>
        </p:spPr>
        <p:txBody>
          <a:bodyPr wrap="square" rtlCol="0" anchor="t"/>
          <a:lstStyle/>
          <a:p>
            <a:pPr algn="l" indent="0" marL="0">
              <a:lnSpc>
                <a:spcPct val="130000"/>
              </a:lnSpc>
              <a:buNone/>
            </a:pPr>
            <a:r>
              <a:rPr lang="en-US" sz="1800" dirty="0">
                <a:solidFill>
                  <a:srgbClr val="8D99AE"/>
                </a:solidFill>
                <a:latin typeface="Calibri" pitchFamily="34" charset="0"/>
                <a:ea typeface="Calibri" pitchFamily="34" charset="-122"/>
                <a:cs typeface="Calibri" pitchFamily="34" charset="-120"/>
              </a:rPr>
              <a:t>As project managers and business analysts, that's an enormous amount of context and information we can hand to an agent.</a:t>
            </a:r>
            <a:endParaRPr lang="en-US" sz="1800" dirty="0"/>
          </a:p>
        </p:txBody>
      </p:sp>
      <p:sp>
        <p:nvSpPr>
          <p:cNvPr id="4" name="Shape 2"/>
          <p:cNvSpPr/>
          <p:nvPr/>
        </p:nvSpPr>
        <p:spPr>
          <a:xfrm>
            <a:off x="6766560" y="3246120"/>
            <a:ext cx="1920240" cy="1371600"/>
          </a:xfrm>
          <a:prstGeom prst="roundRect">
            <a:avLst>
              <a:gd name="adj" fmla="val 6667"/>
            </a:avLst>
          </a:prstGeom>
          <a:solidFill>
            <a:srgbClr val="8D99AE">
              <a:alpha val="75000"/>
            </a:srgbClr>
          </a:solidFill>
          <a:ln w="19050">
            <a:solidFill>
              <a:srgbClr val="EDF2F4"/>
            </a:solidFill>
            <a:prstDash val="solid"/>
          </a:ln>
        </p:spPr>
      </p:sp>
      <p:sp>
        <p:nvSpPr>
          <p:cNvPr id="5" name="Shape 3"/>
          <p:cNvSpPr/>
          <p:nvPr/>
        </p:nvSpPr>
        <p:spPr>
          <a:xfrm>
            <a:off x="6583680" y="3017520"/>
            <a:ext cx="1920240" cy="1371600"/>
          </a:xfrm>
          <a:prstGeom prst="roundRect">
            <a:avLst>
              <a:gd name="adj" fmla="val 6667"/>
            </a:avLst>
          </a:prstGeom>
          <a:solidFill>
            <a:srgbClr val="EF233C">
              <a:alpha val="85000"/>
            </a:srgbClr>
          </a:solidFill>
          <a:ln w="19050">
            <a:solidFill>
              <a:srgbClr val="EDF2F4"/>
            </a:solidFill>
            <a:prstDash val="solid"/>
          </a:ln>
        </p:spPr>
      </p:sp>
      <p:sp>
        <p:nvSpPr>
          <p:cNvPr id="6" name="Shape 4"/>
          <p:cNvSpPr/>
          <p:nvPr/>
        </p:nvSpPr>
        <p:spPr>
          <a:xfrm>
            <a:off x="6400800" y="2788920"/>
            <a:ext cx="1920240" cy="1371600"/>
          </a:xfrm>
          <a:prstGeom prst="roundRect">
            <a:avLst>
              <a:gd name="adj" fmla="val 6667"/>
            </a:avLst>
          </a:prstGeom>
          <a:solidFill>
            <a:srgbClr val="D90429"/>
          </a:solidFill>
          <a:ln w="19050">
            <a:solidFill>
              <a:srgbClr val="EDF2F4"/>
            </a:solidFill>
            <a:prstDash val="solid"/>
          </a:ln>
        </p:spPr>
      </p:sp>
      <p:sp>
        <p:nvSpPr>
          <p:cNvPr id="7" name="Shape 5"/>
          <p:cNvSpPr/>
          <p:nvPr/>
        </p:nvSpPr>
        <p:spPr>
          <a:xfrm>
            <a:off x="6217920" y="2560320"/>
            <a:ext cx="1920240" cy="1371600"/>
          </a:xfrm>
          <a:prstGeom prst="roundRect">
            <a:avLst>
              <a:gd name="adj" fmla="val 6667"/>
            </a:avLst>
          </a:prstGeom>
          <a:solidFill>
            <a:srgbClr val="2B2D42"/>
          </a:solidFill>
          <a:ln w="19050">
            <a:solidFill>
              <a:srgbClr val="EDF2F4"/>
            </a:solidFill>
            <a:prstDash val="solid"/>
          </a:ln>
        </p:spPr>
      </p:sp>
      <p:sp>
        <p:nvSpPr>
          <p:cNvPr id="8" name="Shape 6"/>
          <p:cNvSpPr/>
          <p:nvPr/>
        </p:nvSpPr>
        <p:spPr>
          <a:xfrm>
            <a:off x="6400800" y="2788920"/>
            <a:ext cx="1554480" cy="73152"/>
          </a:xfrm>
          <a:prstGeom prst="rect">
            <a:avLst/>
          </a:prstGeom>
          <a:solidFill>
            <a:srgbClr val="FFFFFF"/>
          </a:solidFill>
          <a:ln/>
        </p:spPr>
      </p:sp>
      <p:sp>
        <p:nvSpPr>
          <p:cNvPr id="9" name="Shape 7"/>
          <p:cNvSpPr/>
          <p:nvPr/>
        </p:nvSpPr>
        <p:spPr>
          <a:xfrm>
            <a:off x="6400800" y="3017520"/>
            <a:ext cx="1554480" cy="73152"/>
          </a:xfrm>
          <a:prstGeom prst="rect">
            <a:avLst/>
          </a:prstGeom>
          <a:solidFill>
            <a:srgbClr val="FFFFFF"/>
          </a:solidFill>
          <a:ln/>
        </p:spPr>
      </p:sp>
      <p:sp>
        <p:nvSpPr>
          <p:cNvPr id="10" name="Shape 8"/>
          <p:cNvSpPr/>
          <p:nvPr/>
        </p:nvSpPr>
        <p:spPr>
          <a:xfrm>
            <a:off x="6400800" y="3246120"/>
            <a:ext cx="1554480" cy="73152"/>
          </a:xfrm>
          <a:prstGeom prst="rect">
            <a:avLst/>
          </a:prstGeom>
          <a:solidFill>
            <a:srgbClr val="FFFFFF"/>
          </a:solidFill>
          <a:ln/>
        </p:spPr>
      </p:sp>
      <p:sp>
        <p:nvSpPr>
          <p:cNvPr id="11" name="Shape 9"/>
          <p:cNvSpPr/>
          <p:nvPr/>
        </p:nvSpPr>
        <p:spPr>
          <a:xfrm>
            <a:off x="6400800" y="3474720"/>
            <a:ext cx="1005840" cy="73152"/>
          </a:xfrm>
          <a:prstGeom prst="rect">
            <a:avLst/>
          </a:prstGeom>
          <a:solidFill>
            <a:srgbClr val="FFFFFF"/>
          </a:solidFill>
          <a:ln/>
        </p:spPr>
      </p:sp>
      <p:sp>
        <p:nvSpPr>
          <p:cNvPr id="12" name="Shape 10"/>
          <p:cNvSpPr/>
          <p:nvPr/>
        </p:nvSpPr>
        <p:spPr>
          <a:xfrm>
            <a:off x="8503920" y="4663440"/>
            <a:ext cx="365760" cy="365760"/>
          </a:xfrm>
          <a:prstGeom prst="ellipse">
            <a:avLst/>
          </a:prstGeom>
          <a:solidFill>
            <a:srgbClr val="D90429"/>
          </a:solidFill>
          <a:ln/>
        </p:spPr>
      </p:sp>
      <p:sp>
        <p:nvSpPr>
          <p:cNvPr id="13" name="Text 11"/>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65760"/>
            <a:ext cx="8412480" cy="731520"/>
          </a:xfrm>
          <a:prstGeom prst="rect">
            <a:avLst/>
          </a:prstGeom>
          <a:noFill/>
          <a:ln/>
        </p:spPr>
        <p:txBody>
          <a:bodyPr wrap="square" rtlCol="0" anchor="ctr"/>
          <a:lstStyle/>
          <a:p>
            <a:pPr algn="l" indent="0" marL="0">
              <a:buNone/>
            </a:pPr>
            <a:r>
              <a:rPr lang="en-US" sz="3600" b="1" dirty="0">
                <a:solidFill>
                  <a:srgbClr val="2B2D42"/>
                </a:solidFill>
                <a:latin typeface="Cambria" pitchFamily="34" charset="0"/>
                <a:ea typeface="Cambria" pitchFamily="34" charset="-122"/>
                <a:cs typeface="Cambria" pitchFamily="34" charset="-120"/>
              </a:rPr>
              <a:t>Why We Build in Claude Code</a:t>
            </a:r>
            <a:endParaRPr lang="en-US" sz="3600" dirty="0"/>
          </a:p>
        </p:txBody>
      </p:sp>
      <p:sp>
        <p:nvSpPr>
          <p:cNvPr id="3" name="Shape 1"/>
          <p:cNvSpPr/>
          <p:nvPr/>
        </p:nvSpPr>
        <p:spPr>
          <a:xfrm>
            <a:off x="365760" y="1600200"/>
            <a:ext cx="640080" cy="640080"/>
          </a:xfrm>
          <a:prstGeom prst="ellipse">
            <a:avLst/>
          </a:prstGeom>
          <a:solidFill>
            <a:srgbClr val="D90429"/>
          </a:solidFill>
          <a:ln/>
        </p:spPr>
      </p:sp>
      <p:sp>
        <p:nvSpPr>
          <p:cNvPr id="4" name="Shape 2"/>
          <p:cNvSpPr/>
          <p:nvPr/>
        </p:nvSpPr>
        <p:spPr>
          <a:xfrm>
            <a:off x="512064" y="1746504"/>
            <a:ext cx="82296" cy="347472"/>
          </a:xfrm>
          <a:prstGeom prst="rect">
            <a:avLst/>
          </a:prstGeom>
          <a:solidFill>
            <a:srgbClr val="FFFFFF"/>
          </a:solidFill>
          <a:ln/>
        </p:spPr>
      </p:sp>
      <p:sp>
        <p:nvSpPr>
          <p:cNvPr id="5" name="Shape 3"/>
          <p:cNvSpPr/>
          <p:nvPr/>
        </p:nvSpPr>
        <p:spPr>
          <a:xfrm>
            <a:off x="777240" y="1746504"/>
            <a:ext cx="82296" cy="347472"/>
          </a:xfrm>
          <a:prstGeom prst="rect">
            <a:avLst/>
          </a:prstGeom>
          <a:solidFill>
            <a:srgbClr val="FFFFFF"/>
          </a:solidFill>
          <a:ln/>
        </p:spPr>
      </p:sp>
      <p:sp>
        <p:nvSpPr>
          <p:cNvPr id="6" name="Shape 4"/>
          <p:cNvSpPr/>
          <p:nvPr/>
        </p:nvSpPr>
        <p:spPr>
          <a:xfrm>
            <a:off x="566928" y="1879092"/>
            <a:ext cx="237744" cy="82296"/>
          </a:xfrm>
          <a:prstGeom prst="rect">
            <a:avLst/>
          </a:prstGeom>
          <a:solidFill>
            <a:srgbClr val="FFFFFF"/>
          </a:solidFill>
          <a:ln/>
        </p:spPr>
      </p:sp>
      <p:sp>
        <p:nvSpPr>
          <p:cNvPr id="7" name="Text 5"/>
          <p:cNvSpPr/>
          <p:nvPr/>
        </p:nvSpPr>
        <p:spPr>
          <a:xfrm>
            <a:off x="1325880" y="1600200"/>
            <a:ext cx="7452360" cy="640080"/>
          </a:xfrm>
          <a:prstGeom prst="rect">
            <a:avLst/>
          </a:prstGeom>
          <a:noFill/>
          <a:ln/>
        </p:spPr>
        <p:txBody>
          <a:bodyPr wrap="square" rtlCol="0" anchor="ctr"/>
          <a:lstStyle/>
          <a:p>
            <a:pPr algn="l" indent="0" marL="0">
              <a:buNone/>
            </a:pPr>
            <a:r>
              <a:rPr lang="en-US" sz="2000" dirty="0">
                <a:solidFill>
                  <a:srgbClr val="2B2D42"/>
                </a:solidFill>
                <a:latin typeface="Calibri" pitchFamily="34" charset="0"/>
                <a:ea typeface="Calibri" pitchFamily="34" charset="-122"/>
                <a:cs typeface="Calibri" pitchFamily="34" charset="-120"/>
              </a:rPr>
              <a:t>A 1-million-token context window.</a:t>
            </a:r>
            <a:endParaRPr lang="en-US" sz="2000" dirty="0"/>
          </a:p>
        </p:txBody>
      </p:sp>
      <p:sp>
        <p:nvSpPr>
          <p:cNvPr id="8" name="Shape 6"/>
          <p:cNvSpPr/>
          <p:nvPr/>
        </p:nvSpPr>
        <p:spPr>
          <a:xfrm>
            <a:off x="365760" y="2788920"/>
            <a:ext cx="640080" cy="640080"/>
          </a:xfrm>
          <a:prstGeom prst="ellipse">
            <a:avLst/>
          </a:prstGeom>
          <a:solidFill>
            <a:srgbClr val="D90429"/>
          </a:solidFill>
          <a:ln/>
        </p:spPr>
      </p:sp>
      <p:sp>
        <p:nvSpPr>
          <p:cNvPr id="9" name="Shape 7"/>
          <p:cNvSpPr/>
          <p:nvPr/>
        </p:nvSpPr>
        <p:spPr>
          <a:xfrm>
            <a:off x="502920" y="2926080"/>
            <a:ext cx="365760" cy="365760"/>
          </a:xfrm>
          <a:prstGeom prst="ellipse">
            <a:avLst/>
          </a:prstGeom>
          <a:solidFill>
            <a:srgbClr val="D90429"/>
          </a:solidFill>
          <a:ln w="25400">
            <a:solidFill>
              <a:srgbClr val="FFFFFF"/>
            </a:solidFill>
            <a:prstDash val="solid"/>
          </a:ln>
        </p:spPr>
      </p:sp>
      <p:sp>
        <p:nvSpPr>
          <p:cNvPr id="10" name="Shape 8"/>
          <p:cNvSpPr/>
          <p:nvPr/>
        </p:nvSpPr>
        <p:spPr>
          <a:xfrm>
            <a:off x="603504" y="3026664"/>
            <a:ext cx="164592" cy="164592"/>
          </a:xfrm>
          <a:prstGeom prst="ellipse">
            <a:avLst/>
          </a:prstGeom>
          <a:solidFill>
            <a:srgbClr val="FFFFFF"/>
          </a:solidFill>
          <a:ln/>
        </p:spPr>
      </p:sp>
      <p:sp>
        <p:nvSpPr>
          <p:cNvPr id="11" name="Text 9"/>
          <p:cNvSpPr/>
          <p:nvPr/>
        </p:nvSpPr>
        <p:spPr>
          <a:xfrm>
            <a:off x="1325880" y="2788920"/>
            <a:ext cx="7452360" cy="640080"/>
          </a:xfrm>
          <a:prstGeom prst="rect">
            <a:avLst/>
          </a:prstGeom>
          <a:noFill/>
          <a:ln/>
        </p:spPr>
        <p:txBody>
          <a:bodyPr wrap="square" rtlCol="0" anchor="ctr"/>
          <a:lstStyle/>
          <a:p>
            <a:pPr algn="l" indent="0" marL="0">
              <a:buNone/>
            </a:pPr>
            <a:r>
              <a:rPr lang="en-US" sz="2000" dirty="0">
                <a:solidFill>
                  <a:srgbClr val="2B2D42"/>
                </a:solidFill>
                <a:latin typeface="Calibri" pitchFamily="34" charset="0"/>
                <a:ea typeface="Calibri" pitchFamily="34" charset="-122"/>
                <a:cs typeface="Calibri" pitchFamily="34" charset="-120"/>
              </a:rPr>
              <a:t>Full visibility into every file and folder, right beside you as you work.</a:t>
            </a:r>
            <a:endParaRPr lang="en-US" sz="2000" dirty="0"/>
          </a:p>
        </p:txBody>
      </p:sp>
      <p:sp>
        <p:nvSpPr>
          <p:cNvPr id="12" name="Shape 10"/>
          <p:cNvSpPr/>
          <p:nvPr/>
        </p:nvSpPr>
        <p:spPr>
          <a:xfrm>
            <a:off x="8503920" y="4663440"/>
            <a:ext cx="365760" cy="365760"/>
          </a:xfrm>
          <a:prstGeom prst="ellipse">
            <a:avLst/>
          </a:prstGeom>
          <a:solidFill>
            <a:srgbClr val="D90429"/>
          </a:solidFill>
          <a:ln/>
        </p:spPr>
      </p:sp>
      <p:sp>
        <p:nvSpPr>
          <p:cNvPr id="13" name="Text 11"/>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EDF2F4"/>
        </a:solidFill>
      </p:bgPr>
    </p:bg>
    <p:spTree>
      <p:nvGrpSpPr>
        <p:cNvPr id="1" name=""/>
        <p:cNvGrpSpPr/>
        <p:nvPr/>
      </p:nvGrpSpPr>
      <p:grpSpPr>
        <a:xfrm>
          <a:off x="0" y="0"/>
          <a:ext cx="0" cy="0"/>
          <a:chOff x="0" y="0"/>
          <a:chExt cx="0" cy="0"/>
        </a:xfrm>
      </p:grpSpPr>
      <p:sp>
        <p:nvSpPr>
          <p:cNvPr id="2" name="Text 0"/>
          <p:cNvSpPr/>
          <p:nvPr/>
        </p:nvSpPr>
        <p:spPr>
          <a:xfrm>
            <a:off x="365760" y="320040"/>
            <a:ext cx="8412480" cy="594360"/>
          </a:xfrm>
          <a:prstGeom prst="rect">
            <a:avLst/>
          </a:prstGeom>
          <a:noFill/>
          <a:ln/>
        </p:spPr>
        <p:txBody>
          <a:bodyPr wrap="square" rtlCol="0" anchor="ctr"/>
          <a:lstStyle/>
          <a:p>
            <a:pPr algn="l" indent="0" marL="0">
              <a:buNone/>
            </a:pPr>
            <a:r>
              <a:rPr lang="en-US" sz="3200" b="1" dirty="0">
                <a:solidFill>
                  <a:srgbClr val="2B2D42"/>
                </a:solidFill>
                <a:latin typeface="Cambria" pitchFamily="34" charset="0"/>
                <a:ea typeface="Cambria" pitchFamily="34" charset="-122"/>
                <a:cs typeface="Cambria" pitchFamily="34" charset="-120"/>
              </a:rPr>
              <a:t>Anatomy of a Proper Agent</a:t>
            </a:r>
            <a:endParaRPr lang="en-US" sz="3200" dirty="0"/>
          </a:p>
        </p:txBody>
      </p:sp>
      <p:sp>
        <p:nvSpPr>
          <p:cNvPr id="3" name="Text 1"/>
          <p:cNvSpPr/>
          <p:nvPr/>
        </p:nvSpPr>
        <p:spPr>
          <a:xfrm>
            <a:off x="365760" y="914400"/>
            <a:ext cx="8412480" cy="411480"/>
          </a:xfrm>
          <a:prstGeom prst="rect">
            <a:avLst/>
          </a:prstGeom>
          <a:noFill/>
          <a:ln/>
        </p:spPr>
        <p:txBody>
          <a:bodyPr wrap="square" rtlCol="0" anchor="t"/>
          <a:lstStyle/>
          <a:p>
            <a:pPr algn="l" indent="0" marL="0">
              <a:buNone/>
            </a:pPr>
            <a:r>
              <a:rPr lang="en-US" sz="1400" dirty="0">
                <a:solidFill>
                  <a:srgbClr val="8D99AE"/>
                </a:solidFill>
                <a:latin typeface="Calibri" pitchFamily="34" charset="0"/>
                <a:ea typeface="Calibri" pitchFamily="34" charset="-122"/>
                <a:cs typeface="Calibri" pitchFamily="34" charset="-120"/>
              </a:rPr>
              <a:t>Let's apply everything we just learned, at a high level — then build one live.</a:t>
            </a:r>
            <a:endParaRPr lang="en-US" sz="1400" dirty="0"/>
          </a:p>
        </p:txBody>
      </p:sp>
      <p:sp>
        <p:nvSpPr>
          <p:cNvPr id="4" name="Shape 2"/>
          <p:cNvSpPr/>
          <p:nvPr/>
        </p:nvSpPr>
        <p:spPr>
          <a:xfrm>
            <a:off x="365760" y="1965960"/>
            <a:ext cx="1371600" cy="1371600"/>
          </a:xfrm>
          <a:prstGeom prst="roundRect">
            <a:avLst>
              <a:gd name="adj" fmla="val 6667"/>
            </a:avLst>
          </a:prstGeom>
          <a:solidFill>
            <a:srgbClr val="2B2D42"/>
          </a:solidFill>
          <a:ln/>
        </p:spPr>
      </p:sp>
      <p:sp>
        <p:nvSpPr>
          <p:cNvPr id="5" name="Shape 3"/>
          <p:cNvSpPr/>
          <p:nvPr/>
        </p:nvSpPr>
        <p:spPr>
          <a:xfrm>
            <a:off x="256032" y="1856232"/>
            <a:ext cx="320040" cy="320040"/>
          </a:xfrm>
          <a:prstGeom prst="ellipse">
            <a:avLst/>
          </a:prstGeom>
          <a:solidFill>
            <a:srgbClr val="EF233C"/>
          </a:solidFill>
          <a:ln w="19050">
            <a:solidFill>
              <a:srgbClr val="EDF2F4"/>
            </a:solidFill>
            <a:prstDash val="solid"/>
          </a:ln>
        </p:spPr>
      </p:sp>
      <p:sp>
        <p:nvSpPr>
          <p:cNvPr id="6" name="Text 4"/>
          <p:cNvSpPr/>
          <p:nvPr/>
        </p:nvSpPr>
        <p:spPr>
          <a:xfrm>
            <a:off x="256032" y="1856232"/>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438912" y="1965960"/>
            <a:ext cx="1225296" cy="137160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Project Folder</a:t>
            </a:r>
            <a:endParaRPr lang="en-US" sz="1300" dirty="0"/>
          </a:p>
        </p:txBody>
      </p:sp>
      <p:sp>
        <p:nvSpPr>
          <p:cNvPr id="8" name="Text 6"/>
          <p:cNvSpPr/>
          <p:nvPr/>
        </p:nvSpPr>
        <p:spPr>
          <a:xfrm>
            <a:off x="1737360" y="1965960"/>
            <a:ext cx="274320" cy="1371600"/>
          </a:xfrm>
          <a:prstGeom prst="rect">
            <a:avLst/>
          </a:prstGeom>
          <a:noFill/>
          <a:ln/>
        </p:spPr>
        <p:txBody>
          <a:bodyPr wrap="square" rtlCol="0" anchor="ctr"/>
          <a:lstStyle/>
          <a:p>
            <a:pPr algn="ctr" indent="0" marL="0">
              <a:buNone/>
            </a:pPr>
            <a:r>
              <a:rPr lang="en-US" sz="2000" dirty="0">
                <a:solidFill>
                  <a:srgbClr val="8D99AE"/>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2011680" y="1965960"/>
            <a:ext cx="1371600" cy="1371600"/>
          </a:xfrm>
          <a:prstGeom prst="roundRect">
            <a:avLst>
              <a:gd name="adj" fmla="val 6667"/>
            </a:avLst>
          </a:prstGeom>
          <a:solidFill>
            <a:srgbClr val="2B2D42"/>
          </a:solidFill>
          <a:ln/>
        </p:spPr>
      </p:sp>
      <p:sp>
        <p:nvSpPr>
          <p:cNvPr id="10" name="Shape 8"/>
          <p:cNvSpPr/>
          <p:nvPr/>
        </p:nvSpPr>
        <p:spPr>
          <a:xfrm>
            <a:off x="1901952" y="1856232"/>
            <a:ext cx="320040" cy="320040"/>
          </a:xfrm>
          <a:prstGeom prst="ellipse">
            <a:avLst/>
          </a:prstGeom>
          <a:solidFill>
            <a:srgbClr val="EF233C"/>
          </a:solidFill>
          <a:ln w="19050">
            <a:solidFill>
              <a:srgbClr val="EDF2F4"/>
            </a:solidFill>
            <a:prstDash val="solid"/>
          </a:ln>
        </p:spPr>
      </p:sp>
      <p:sp>
        <p:nvSpPr>
          <p:cNvPr id="11" name="Text 9"/>
          <p:cNvSpPr/>
          <p:nvPr/>
        </p:nvSpPr>
        <p:spPr>
          <a:xfrm>
            <a:off x="1901952" y="1856232"/>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2084832" y="1965960"/>
            <a:ext cx="1225296" cy="137160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CLAUDE.md</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(instructions)</a:t>
            </a:r>
            <a:endParaRPr lang="en-US" sz="1300" dirty="0"/>
          </a:p>
        </p:txBody>
      </p:sp>
      <p:sp>
        <p:nvSpPr>
          <p:cNvPr id="13" name="Text 11"/>
          <p:cNvSpPr/>
          <p:nvPr/>
        </p:nvSpPr>
        <p:spPr>
          <a:xfrm>
            <a:off x="3383280" y="1965960"/>
            <a:ext cx="274320" cy="1371600"/>
          </a:xfrm>
          <a:prstGeom prst="rect">
            <a:avLst/>
          </a:prstGeom>
          <a:noFill/>
          <a:ln/>
        </p:spPr>
        <p:txBody>
          <a:bodyPr wrap="square" rtlCol="0" anchor="ctr"/>
          <a:lstStyle/>
          <a:p>
            <a:pPr algn="ctr" indent="0" marL="0">
              <a:buNone/>
            </a:pPr>
            <a:r>
              <a:rPr lang="en-US" sz="2000" dirty="0">
                <a:solidFill>
                  <a:srgbClr val="8D99AE"/>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3657600" y="1965960"/>
            <a:ext cx="1371600" cy="1371600"/>
          </a:xfrm>
          <a:prstGeom prst="roundRect">
            <a:avLst>
              <a:gd name="adj" fmla="val 6667"/>
            </a:avLst>
          </a:prstGeom>
          <a:solidFill>
            <a:srgbClr val="2B2D42"/>
          </a:solidFill>
          <a:ln/>
        </p:spPr>
      </p:sp>
      <p:sp>
        <p:nvSpPr>
          <p:cNvPr id="15" name="Shape 13"/>
          <p:cNvSpPr/>
          <p:nvPr/>
        </p:nvSpPr>
        <p:spPr>
          <a:xfrm>
            <a:off x="3547872" y="1856232"/>
            <a:ext cx="320040" cy="320040"/>
          </a:xfrm>
          <a:prstGeom prst="ellipse">
            <a:avLst/>
          </a:prstGeom>
          <a:solidFill>
            <a:srgbClr val="EF233C"/>
          </a:solidFill>
          <a:ln w="19050">
            <a:solidFill>
              <a:srgbClr val="EDF2F4"/>
            </a:solidFill>
            <a:prstDash val="solid"/>
          </a:ln>
        </p:spPr>
      </p:sp>
      <p:sp>
        <p:nvSpPr>
          <p:cNvPr id="16" name="Text 14"/>
          <p:cNvSpPr/>
          <p:nvPr/>
        </p:nvSpPr>
        <p:spPr>
          <a:xfrm>
            <a:off x="3547872" y="1856232"/>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3730752" y="1965960"/>
            <a:ext cx="1225296" cy="137160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SKILL.md</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(skills)</a:t>
            </a:r>
            <a:endParaRPr lang="en-US" sz="1300" dirty="0"/>
          </a:p>
        </p:txBody>
      </p:sp>
      <p:sp>
        <p:nvSpPr>
          <p:cNvPr id="18" name="Text 16"/>
          <p:cNvSpPr/>
          <p:nvPr/>
        </p:nvSpPr>
        <p:spPr>
          <a:xfrm>
            <a:off x="5029200" y="1965960"/>
            <a:ext cx="274320" cy="1371600"/>
          </a:xfrm>
          <a:prstGeom prst="rect">
            <a:avLst/>
          </a:prstGeom>
          <a:noFill/>
          <a:ln/>
        </p:spPr>
        <p:txBody>
          <a:bodyPr wrap="square" rtlCol="0" anchor="ctr"/>
          <a:lstStyle/>
          <a:p>
            <a:pPr algn="ctr" indent="0" marL="0">
              <a:buNone/>
            </a:pPr>
            <a:r>
              <a:rPr lang="en-US" sz="2000" dirty="0">
                <a:solidFill>
                  <a:srgbClr val="8D99AE"/>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5303520" y="1965960"/>
            <a:ext cx="1371600" cy="1371600"/>
          </a:xfrm>
          <a:prstGeom prst="roundRect">
            <a:avLst>
              <a:gd name="adj" fmla="val 6667"/>
            </a:avLst>
          </a:prstGeom>
          <a:solidFill>
            <a:srgbClr val="2B2D42"/>
          </a:solidFill>
          <a:ln/>
        </p:spPr>
      </p:sp>
      <p:sp>
        <p:nvSpPr>
          <p:cNvPr id="20" name="Shape 18"/>
          <p:cNvSpPr/>
          <p:nvPr/>
        </p:nvSpPr>
        <p:spPr>
          <a:xfrm>
            <a:off x="5193792" y="1856232"/>
            <a:ext cx="320040" cy="320040"/>
          </a:xfrm>
          <a:prstGeom prst="ellipse">
            <a:avLst/>
          </a:prstGeom>
          <a:solidFill>
            <a:srgbClr val="EF233C"/>
          </a:solidFill>
          <a:ln w="19050">
            <a:solidFill>
              <a:srgbClr val="EDF2F4"/>
            </a:solidFill>
            <a:prstDash val="solid"/>
          </a:ln>
        </p:spPr>
      </p:sp>
      <p:sp>
        <p:nvSpPr>
          <p:cNvPr id="21" name="Text 19"/>
          <p:cNvSpPr/>
          <p:nvPr/>
        </p:nvSpPr>
        <p:spPr>
          <a:xfrm>
            <a:off x="5193792" y="1856232"/>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5376672" y="1965960"/>
            <a:ext cx="1225296" cy="137160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Reference Files</a:t>
            </a:r>
            <a:endParaRPr lang="en-US" sz="1300" dirty="0"/>
          </a:p>
        </p:txBody>
      </p:sp>
      <p:sp>
        <p:nvSpPr>
          <p:cNvPr id="23" name="Text 21"/>
          <p:cNvSpPr/>
          <p:nvPr/>
        </p:nvSpPr>
        <p:spPr>
          <a:xfrm>
            <a:off x="6675120" y="1965960"/>
            <a:ext cx="274320" cy="1371600"/>
          </a:xfrm>
          <a:prstGeom prst="rect">
            <a:avLst/>
          </a:prstGeom>
          <a:noFill/>
          <a:ln/>
        </p:spPr>
        <p:txBody>
          <a:bodyPr wrap="square" rtlCol="0" anchor="ctr"/>
          <a:lstStyle/>
          <a:p>
            <a:pPr algn="ctr" indent="0" marL="0">
              <a:buNone/>
            </a:pPr>
            <a:r>
              <a:rPr lang="en-US" sz="2000" dirty="0">
                <a:solidFill>
                  <a:srgbClr val="8D99AE"/>
                </a:solidFill>
                <a:latin typeface="Calibri" pitchFamily="34" charset="0"/>
                <a:ea typeface="Calibri" pitchFamily="34" charset="-122"/>
                <a:cs typeface="Calibri" pitchFamily="34" charset="-120"/>
              </a:rPr>
              <a:t>→</a:t>
            </a:r>
            <a:endParaRPr lang="en-US" sz="2000" dirty="0"/>
          </a:p>
        </p:txBody>
      </p:sp>
      <p:sp>
        <p:nvSpPr>
          <p:cNvPr id="24" name="Shape 22"/>
          <p:cNvSpPr/>
          <p:nvPr/>
        </p:nvSpPr>
        <p:spPr>
          <a:xfrm>
            <a:off x="6949440" y="1965960"/>
            <a:ext cx="1371600" cy="1371600"/>
          </a:xfrm>
          <a:prstGeom prst="roundRect">
            <a:avLst>
              <a:gd name="adj" fmla="val 6667"/>
            </a:avLst>
          </a:prstGeom>
          <a:solidFill>
            <a:srgbClr val="D90429"/>
          </a:solidFill>
          <a:ln/>
        </p:spPr>
      </p:sp>
      <p:sp>
        <p:nvSpPr>
          <p:cNvPr id="25" name="Shape 23"/>
          <p:cNvSpPr/>
          <p:nvPr/>
        </p:nvSpPr>
        <p:spPr>
          <a:xfrm>
            <a:off x="6839712" y="1856232"/>
            <a:ext cx="320040" cy="320040"/>
          </a:xfrm>
          <a:prstGeom prst="ellipse">
            <a:avLst/>
          </a:prstGeom>
          <a:solidFill>
            <a:srgbClr val="EF233C"/>
          </a:solidFill>
          <a:ln w="19050">
            <a:solidFill>
              <a:srgbClr val="EDF2F4"/>
            </a:solidFill>
            <a:prstDash val="solid"/>
          </a:ln>
        </p:spPr>
      </p:sp>
      <p:sp>
        <p:nvSpPr>
          <p:cNvPr id="26" name="Text 24"/>
          <p:cNvSpPr/>
          <p:nvPr/>
        </p:nvSpPr>
        <p:spPr>
          <a:xfrm>
            <a:off x="6839712" y="1856232"/>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7022592" y="1965960"/>
            <a:ext cx="1225296" cy="137160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Output</a:t>
            </a:r>
            <a:endParaRPr lang="en-US" sz="1300" dirty="0"/>
          </a:p>
        </p:txBody>
      </p:sp>
      <p:sp>
        <p:nvSpPr>
          <p:cNvPr id="28" name="Shape 26"/>
          <p:cNvSpPr/>
          <p:nvPr/>
        </p:nvSpPr>
        <p:spPr>
          <a:xfrm>
            <a:off x="3200400" y="3794760"/>
            <a:ext cx="2743200" cy="457200"/>
          </a:xfrm>
          <a:prstGeom prst="roundRect">
            <a:avLst>
              <a:gd name="adj" fmla="val 50000"/>
            </a:avLst>
          </a:prstGeom>
          <a:solidFill>
            <a:srgbClr val="EF233C"/>
          </a:solidFill>
          <a:ln/>
        </p:spPr>
      </p:sp>
      <p:sp>
        <p:nvSpPr>
          <p:cNvPr id="29" name="Text 27"/>
          <p:cNvSpPr/>
          <p:nvPr/>
        </p:nvSpPr>
        <p:spPr>
          <a:xfrm>
            <a:off x="3200400" y="3794760"/>
            <a:ext cx="2743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Live demo starts here</a:t>
            </a:r>
            <a:endParaRPr lang="en-US" sz="1400" dirty="0"/>
          </a:p>
        </p:txBody>
      </p:sp>
      <p:sp>
        <p:nvSpPr>
          <p:cNvPr id="30" name="Shape 28"/>
          <p:cNvSpPr/>
          <p:nvPr/>
        </p:nvSpPr>
        <p:spPr>
          <a:xfrm>
            <a:off x="8503920" y="4663440"/>
            <a:ext cx="365760" cy="365760"/>
          </a:xfrm>
          <a:prstGeom prst="ellipse">
            <a:avLst/>
          </a:prstGeom>
          <a:solidFill>
            <a:srgbClr val="D90429"/>
          </a:solidFill>
          <a:ln/>
        </p:spPr>
      </p:sp>
      <p:sp>
        <p:nvSpPr>
          <p:cNvPr id="31" name="Text 2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2B2D42"/>
        </a:solidFill>
      </p:bgPr>
    </p:bg>
    <p:spTree>
      <p:nvGrpSpPr>
        <p:cNvPr id="1" name=""/>
        <p:cNvGrpSpPr/>
        <p:nvPr/>
      </p:nvGrpSpPr>
      <p:grpSpPr>
        <a:xfrm>
          <a:off x="0" y="0"/>
          <a:ext cx="0" cy="0"/>
          <a:chOff x="0" y="0"/>
          <a:chExt cx="0" cy="0"/>
        </a:xfrm>
      </p:grpSpPr>
      <p:sp>
        <p:nvSpPr>
          <p:cNvPr id="2" name="Shape 0"/>
          <p:cNvSpPr/>
          <p:nvPr/>
        </p:nvSpPr>
        <p:spPr>
          <a:xfrm>
            <a:off x="-1188720" y="-1280160"/>
            <a:ext cx="3108960" cy="3108960"/>
          </a:xfrm>
          <a:prstGeom prst="ellipse">
            <a:avLst/>
          </a:prstGeom>
          <a:solidFill>
            <a:srgbClr val="8D99AE">
              <a:alpha val="30000"/>
            </a:srgbClr>
          </a:solidFill>
          <a:ln/>
        </p:spPr>
      </p:sp>
      <p:sp>
        <p:nvSpPr>
          <p:cNvPr id="3" name="Shape 1"/>
          <p:cNvSpPr/>
          <p:nvPr/>
        </p:nvSpPr>
        <p:spPr>
          <a:xfrm>
            <a:off x="7589520" y="3291840"/>
            <a:ext cx="2743200" cy="2743200"/>
          </a:xfrm>
          <a:prstGeom prst="ellipse">
            <a:avLst/>
          </a:prstGeom>
          <a:solidFill>
            <a:srgbClr val="D90429">
              <a:alpha val="45000"/>
            </a:srgbClr>
          </a:solidFill>
          <a:ln/>
        </p:spPr>
      </p:sp>
      <p:sp>
        <p:nvSpPr>
          <p:cNvPr id="4" name="Shape 2"/>
          <p:cNvSpPr/>
          <p:nvPr/>
        </p:nvSpPr>
        <p:spPr>
          <a:xfrm>
            <a:off x="0" y="4892040"/>
            <a:ext cx="9144000" cy="251460"/>
          </a:xfrm>
          <a:prstGeom prst="rect">
            <a:avLst/>
          </a:prstGeom>
          <a:solidFill>
            <a:srgbClr val="EF233C">
              <a:alpha val="60000"/>
            </a:srgbClr>
          </a:solidFill>
          <a:ln/>
        </p:spPr>
      </p:sp>
      <p:sp>
        <p:nvSpPr>
          <p:cNvPr id="5" name="Text 3"/>
          <p:cNvSpPr/>
          <p:nvPr/>
        </p:nvSpPr>
        <p:spPr>
          <a:xfrm>
            <a:off x="457200" y="1051560"/>
            <a:ext cx="8229600" cy="1188720"/>
          </a:xfrm>
          <a:prstGeom prst="rect">
            <a:avLst/>
          </a:prstGeom>
          <a:noFill/>
          <a:ln/>
        </p:spPr>
        <p:txBody>
          <a:bodyPr wrap="square" rtlCol="0" anchor="ctr"/>
          <a:lstStyle/>
          <a:p>
            <a:pPr algn="ctr" indent="0" marL="0">
              <a:buNone/>
            </a:pPr>
            <a:r>
              <a:rPr lang="en-US" sz="6400" b="1" dirty="0">
                <a:solidFill>
                  <a:srgbClr val="FFFFFF"/>
                </a:solidFill>
                <a:latin typeface="Cambria" pitchFamily="34" charset="0"/>
                <a:ea typeface="Cambria" pitchFamily="34" charset="-122"/>
                <a:cs typeface="Cambria" pitchFamily="34" charset="-120"/>
              </a:rPr>
              <a:t>Thank You</a:t>
            </a:r>
            <a:endParaRPr lang="en-US" sz="6400" dirty="0"/>
          </a:p>
        </p:txBody>
      </p:sp>
      <p:sp>
        <p:nvSpPr>
          <p:cNvPr id="6" name="Text 4"/>
          <p:cNvSpPr/>
          <p:nvPr/>
        </p:nvSpPr>
        <p:spPr>
          <a:xfrm>
            <a:off x="457200" y="2331720"/>
            <a:ext cx="8229600" cy="411480"/>
          </a:xfrm>
          <a:prstGeom prst="rect">
            <a:avLst/>
          </a:prstGeom>
          <a:noFill/>
          <a:ln/>
        </p:spPr>
        <p:txBody>
          <a:bodyPr wrap="square"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Simas Bandzevicius</a:t>
            </a:r>
            <a:endParaRPr lang="en-US" sz="2000" dirty="0"/>
          </a:p>
        </p:txBody>
      </p:sp>
      <p:sp>
        <p:nvSpPr>
          <p:cNvPr id="7" name="Text 5"/>
          <p:cNvSpPr/>
          <p:nvPr/>
        </p:nvSpPr>
        <p:spPr>
          <a:xfrm>
            <a:off x="457200" y="2743200"/>
            <a:ext cx="8229600" cy="365760"/>
          </a:xfrm>
          <a:prstGeom prst="rect">
            <a:avLst/>
          </a:prstGeom>
          <a:noFill/>
          <a:ln/>
        </p:spPr>
        <p:txBody>
          <a:bodyPr wrap="square" rtlCol="0" anchor="ctr"/>
          <a:lstStyle/>
          <a:p>
            <a:pPr algn="ctr" indent="0" marL="0">
              <a:buNone/>
            </a:pPr>
            <a:r>
              <a:rPr lang="en-US" sz="1600" dirty="0">
                <a:solidFill>
                  <a:srgbClr val="EF233C"/>
                </a:solidFill>
                <a:latin typeface="Calibri" pitchFamily="34" charset="0"/>
                <a:ea typeface="Calibri" pitchFamily="34" charset="-122"/>
                <a:cs typeface="Calibri" pitchFamily="34" charset="-120"/>
              </a:rPr>
              <a:t>Scaling This  ·  LearnWithSQL.com</a:t>
            </a:r>
            <a:endParaRPr lang="en-US" sz="1600" dirty="0"/>
          </a:p>
        </p:txBody>
      </p:sp>
      <p:sp>
        <p:nvSpPr>
          <p:cNvPr id="8" name="Text 6"/>
          <p:cNvSpPr/>
          <p:nvPr/>
        </p:nvSpPr>
        <p:spPr>
          <a:xfrm>
            <a:off x="457200" y="3108960"/>
            <a:ext cx="8229600" cy="365760"/>
          </a:xfrm>
          <a:prstGeom prst="rect">
            <a:avLst/>
          </a:prstGeom>
          <a:noFill/>
          <a:ln/>
        </p:spPr>
        <p:txBody>
          <a:bodyPr wrap="square" rtlCol="0" anchor="ctr"/>
          <a:lstStyle/>
          <a:p>
            <a:pPr algn="ctr" indent="0" marL="0">
              <a:buNone/>
            </a:pPr>
            <a:r>
              <a:rPr lang="en-US" sz="1600" dirty="0">
                <a:solidFill>
                  <a:srgbClr val="EF233C"/>
                </a:solidFill>
                <a:latin typeface="Calibri" pitchFamily="34" charset="0"/>
                <a:ea typeface="Calibri" pitchFamily="34" charset="-122"/>
                <a:cs typeface="Calibri" pitchFamily="34" charset="-120"/>
              </a:rPr>
              <a:t>AI Automation Hub — 800+ members</a:t>
            </a:r>
            <a:endParaRPr lang="en-US" sz="1600" dirty="0"/>
          </a:p>
        </p:txBody>
      </p:sp>
      <p:sp>
        <p:nvSpPr>
          <p:cNvPr id="9" name="Text 7"/>
          <p:cNvSpPr/>
          <p:nvPr/>
        </p:nvSpPr>
        <p:spPr>
          <a:xfrm>
            <a:off x="457200" y="3749040"/>
            <a:ext cx="8229600" cy="411480"/>
          </a:xfrm>
          <a:prstGeom prst="rect">
            <a:avLst/>
          </a:prstGeom>
          <a:noFill/>
          <a:ln/>
        </p:spPr>
        <p:txBody>
          <a:bodyPr wrap="square" rtlCol="0" anchor="ctr"/>
          <a:lstStyle/>
          <a:p>
            <a:pPr algn="ctr" indent="0" marL="0">
              <a:buNone/>
            </a:pPr>
            <a:r>
              <a:rPr lang="en-US" sz="1500" i="1" dirty="0">
                <a:solidFill>
                  <a:srgbClr val="8D99AE"/>
                </a:solidFill>
                <a:latin typeface="Calibri" pitchFamily="34" charset="0"/>
                <a:ea typeface="Calibri" pitchFamily="34" charset="-122"/>
                <a:cs typeface="Calibri" pitchFamily="34" charset="-120"/>
              </a:rPr>
              <a:t>Let's keep building — reach out anytime.</a:t>
            </a:r>
            <a:endParaRPr lang="en-US" sz="1500" dirty="0"/>
          </a:p>
        </p:txBody>
      </p:sp>
      <p:sp>
        <p:nvSpPr>
          <p:cNvPr id="10" name="Shape 8"/>
          <p:cNvSpPr/>
          <p:nvPr/>
        </p:nvSpPr>
        <p:spPr>
          <a:xfrm>
            <a:off x="8503920" y="4663440"/>
            <a:ext cx="365760" cy="365760"/>
          </a:xfrm>
          <a:prstGeom prst="ellipse">
            <a:avLst/>
          </a:prstGeom>
          <a:solidFill>
            <a:srgbClr val="D90429"/>
          </a:solidFill>
          <a:ln/>
        </p:spPr>
      </p:sp>
      <p:sp>
        <p:nvSpPr>
          <p:cNvPr id="11" name="Text 9"/>
          <p:cNvSpPr/>
          <p:nvPr/>
        </p:nvSpPr>
        <p:spPr>
          <a:xfrm>
            <a:off x="8503920" y="46634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 Building 101: From Concept to Working Prototype</dc:title>
  <dc:subject>Suncoast PMI Chapter — July 14, 2026</dc:subject>
  <dc:creator>Simas Bandzevicius</dc:creator>
  <cp:lastModifiedBy>Simas Bandzevicius</cp:lastModifiedBy>
  <cp:revision>1</cp:revision>
  <dcterms:created xsi:type="dcterms:W3CDTF">2026-07-12T19:02:46Z</dcterms:created>
  <dcterms:modified xsi:type="dcterms:W3CDTF">2026-07-12T19:02:46Z</dcterms:modified>
</cp:coreProperties>
</file>