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open — high energy, don't ease into this. Welcome the room, then say straight out: this is a talk, not a lecture, and not a coding workshop. Ninety minutes, and by the end they'll have watched a real agent get built live and know enough to start their own. Quotable line: "In the next 90 minutes, you're going to watch something get built, not just hear about it." Then move fast into the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contract right away: this is a foundations talk, not a build session — nobody needs a laptop open yet. Walk the five sections quickly, don't over-explain each one, just let the room see the shape of the night. Say what "done" looks like: by 7:45 they'll have watched a real agent get built and know the vocabulary to keep learning on their own. Keep this under two minutes — it's a map, not a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under sixty seconds — the bio is on the slide so you don't have to recite it. Point at the four cards, name the throughline yourself: every one of these roles is really the same job — finding the hour that shouldn't take a human. Quotable line: "Four different titles, one repeated decision: automate it or keep doing it by hand." Then move straight into the thesis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title line as a flat declarative statement, then actually pause — let the room sit with it for a beat before moving on. Don't rush to justify it; the constraint framing does the explaining for you. Quotable line: "If a slide in this deck doesn't trace back to an hour saved, it doesn't belong in the deck." Then move into the enabler-role reframe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reframe that makes the rest of the talk land as career advice, not a tech demo. Say it plainly: nobody gets promoted for saving time, they get promoted for what they do with the time they saved. Quotable line: "Saving an hour is not the achievement — what you do with it is." Let that sit for a beat, then move into the interactive show-of-hands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Actually stop and look at the room — don't rush past this like a rhetorical aside. Ask the question, then wait in real silence for hands to go up; silence here is fine, don't fill it. Count the hands if you want a concrete number to reference later in the talk ("about a third of the room" lands better than guessing cold). Whatever the count, say it out loud before moving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as a genuine question, not rhetorical filler — make eye contact with a few people while you say it, and actually let a couple seconds of quiet follow it. This is the emotional hinge before you pivot into the case study proof point, so don't rush the landing. Quotable line: "I'm not asking that to be clever — I mean it literally. What if today is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proof-of-concept, not theory — ground the next twenty minutes in a real outcome before diving into definitions. Walk the room through the before card first: a real team, manually pulling data and writing release notes by hand, every single cycle. Then land on the after card and let the contrast do the work.
Say the closing line slowly: "The team didn't get faster at querying data. They stopped being the ones who had to." That's the whole thesis in one sentence — pause there before moving into the foundations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high-energy transition — you're about nine minutes in, so keep the pace up here, don't linger. Say the section number and title out loud as a marker: "Section two, how AI actually works."
This is a breath for the room as much as for you — one beat, then move straight into the LLM field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the list out loud — let it sit on screen for a second as visual proof of how crowded this field has gotten. Ten logos, ten labs, all racing toward the same core capability.
Then pivot: the point of this slide isn't to memorize names, it's to set up the next slide's real argument — that for tonight's purposes, it barely matters which one you pick.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caveat caption out loud — own the fact that this ranking is directional, not a citation from a study. That honesty is the same move the reference deck makes elsewhere, and it builds trust rather than costing it.
Move through the list quickly; the point isn't the exact order, it's that three or four names dominate mindshare right now and the rest are a long 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load-bearing slide in the foundations section — slow down here, don't rush the three labels. Point at each card as you name it: the brain, the interface, the worker.
Land the closing line deliberately: "Confuse these three and you either over-trust a chatbot or under-build an agent." That's the mistake you're steering the whole room away from for the rest of the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abstraction in a name they already know — ChatGPT — before naming the layer they probably haven't heard of yet: the agent. Walk left to right on the diagram: application, then the LLM underneath it, then the agent layer wrapped around both.
Keep this conversational — this slide is a bridge, not new content. The three bullets on the left are the whole idea; the diagram on the right is just the picture version of the same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Name-drop up front that this section demystifies jargon they've all heard — API, MCP, connector — but maybe never had explained plainly. That promise is what earns their attention for the next fifteen minutes.
Keep energy up, same as the last divider — this is a pace-setting slide, not a content slide. Say the section title, then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talking and actually look at the room here — don't rush past this like a rhetorical beat. Count the hands if you want a number to reference later ("okay, about a third of the room") — that number becomes useful context for how much explaining to do next. If almost no hands go up, say so out loud: "cool, so almost nobody — that's exactly why we're spending the next few minutes here." That honesty earns you the room's attention for the definition slide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roles at a normal pace — You, Waiter, Kitchen — and let the icons carry it visually instead of over-narrating each box. The line to actually land, with a beat of silence after it: "The API is the waiter." Then point at the boundary: you never walk into the kitchen yourself, and that restriction is not a limitation of APIs, it's the entire feature. Same idea applies to every system they'll connect an agent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one brief — it's a visual anchor for what you already explained with the waiter, not new information. Trace the loop with your hand: request goes out, response comes back, every single time. If you have a live example ready, this is a good spot to flash it; otherwise the diagram alone does the job — don't linger.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a dozen API flavors — GraphQL, SOAP, gRPC, webhooks — and you're deliberately not covering them. Don't defend that narrowing or apologize for it; just state it as the practical scope for tonight: REST because it's what almost every business tool already speaks, MCP because it's what makes AI agents able to speak to all of them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analogy is the one line from the whole section they'll actually repeat to a colleague tomorrow, so say it slowly and don't rush into the next slide behind it: an API is a phone line to one number, MCP is a directory that dials the right one for you. Let the split panel do the compare-and-contrast work visually so you're not reading both descriptions verbatim — point at API, point at MCP, then land the phone-line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beat here — this is the bridge slide, not a destination. The honest answer to "how does a regular person use MCP" is a single word: connectors. Say the word, let it sit large on screen for a second, then move straight into the next slide where you actually define what a connector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cue to actually flip over to Claude Code and show the connectors panel live if the room's setup allows it — walk through adding one and point out how many services show up as one-click options. If you can't switch windows, narrate it instead: describe the panel, name two or three connectors they'd recognize, and land on the same point either way — one connector, not one custom integration per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whole APIs/MCP/connectors section on this image, not on the REST-vs-MCP taxonomy from a few slides back — this picture is the one they should still remember tomorrow morning. Walk your finger from each outer tool to the center hub as you talk: email, calendar, CRM, chat, docs — different vendors, different auth, different data shapes, all reachable through one bridge you build once. Quotable line: "You don't rebuild the bridge for every new tool — you just plug into it." Keep the pace brisk; this is a recap image, not new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high-energy transition — you're roughly 35 minutes in, keep the pace up rather than re-explaining anything from the APIs section. This is the section they showed up for, so let your own energy visibly step up here. Quotable line: "Everything so far was plumbing — now we talk about what actually flows through it." Move into the next slide within about ten seconds; don't linger on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mental model the entire rest of the section hangs on, so slow down. Read the definition once straight, then point at each word in the loop chip row as you say it out loud: perceive, reason, act, repeat. Quotable line: "An agent isn't one clever answer — it's this loop, running until the goal is done." Let the chip row sit on screen a beat before advancing; you'll refer back to these four words for the rest of the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from "agent" as an abstract idea to "agent" as a folder they could actually open tonight. Point at each card as you name it — the toolbox versus the instructions is a distinction that sounds obvious once said out loud but isn't obvious until someone says it. Quotable line: "One file says what it can do, the other says how it should behave — every agent needs both." Keep moving; the punchline about .md files themselves is two slides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almost a joke beat — let the room's mild unfamiliarity with .md be the setup, not something to over-explain here. A show of hands on "who's opened one of these before" works well as a quick temperature check. Quotable line: "If you've never opened one, don't worry — that's exactly why this slide exists." Move fast into the payoff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 ##, ### mapping out loud once, slowly, straight down the legend — it's genuinely all there is to it, and saying that plainly is more reassuring to the room than any amount of extra explanation. Quotable line: "Three symbols. That's the entire syntax that intimidated you a minute ago." Let the code panel visually do the work — don't read the sample title/subtitle/section text itself, just the symbol-to-meaning mapping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overclaim here — the honest answer is "markdown works everywhere," not "one model handles it best." If someone asks which model you'd pick, redirect to the fact that the format choice, not the model choice, is what actually matters for this workflow. Quotable line: "Pick your model on merit — don't pick it because of a rumor about markdown support." This closes the definitional half of the section; context and tokens are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practical and quick — you're not teaching tokenization, you're planting one fact they need for the next few slides. Point at the phrase breaking into chips and say: "This is all a token is — a chunk of text, nothing mystical."
Land the real point before moving on: "The only reason context windows have a limit at all is because everything gets counted in these." That's the bridge into the next few slides on scale and window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caption caveat out loud, same honesty pattern as the LLM adoption slide earlier — these bars are directional, not measured. Say plainly: "I'm not going to hand you fake precision here, this is illustrative."
Then walk the takeaway column: short prompts are cheap, full documents and code are expensive, and that's exactly why the size of an agent's context window becomes a real design constraint, not a footnote.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two numbers sit on screen for a second before you say anything — the gap between 200K and 1M is the whole point of the slide. Say it plainly: "That's roughly five times the room to work with."
Then read the confirm-before-presenting caption out loud too — model the same rigor you're asking them to bring to their own agents. Numbers like these age fast; owning that in front of the room builds trust instead of costing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bridge line, don't linger — you're setting up why Claude Code specifically is the tool for tonight's build. Gesture at the stacked documents and say: "That's not an abstraction, that's the actual size of the folder you could hand an agent."
Move fast into the next slide — this one is a transition, not a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pitch for the tool they're about to watch live — keep it to exactly these two reasons, don't pad it. Tap the first card: "A million tokens means the agent isn't forgetting what you told it five minutes ago."
Tap the second: "And you're not trusting a black box — you watch it work." Then move straight into the live build, this slide has done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signpost slide, not content — don't linger reading the boxes out loud. Say "Let's build one live" and go straight into Claude Code.
If anyone glances at the clock, the tag under the timeline does that job for you — thirty-two minutes, start to finish, ending at 7:45. Trust the slide,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follow-through explicitly — tell them exactly where to find you afterward: Scaling This or LearnWithSQL.com. Don't let the talk trail off; land it.
Quotable close: "You just watched an agent get built in real time — now go build the one that buys you back an hour this week." Then stop talking. Never end on silence with nothing on screen — this slide is the last thing they see, let it 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4.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2.png"/><Relationship Id="rId4" Type="http://schemas.openxmlformats.org/officeDocument/2006/relationships/image" Target="../media/image-24-2.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1.png"/><Relationship Id="rId3" Type="http://schemas.openxmlformats.org/officeDocument/2006/relationships/image" Target="../media/image-28-1.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2.png"/><Relationship Id="rId5" Type="http://schemas.openxmlformats.org/officeDocument/2006/relationships/image" Target="../media/image-34-5.png"/><Relationship Id="rId6" Type="http://schemas.openxmlformats.org/officeDocument/2006/relationships/image" Target="../media/image-34-2.png"/><Relationship Id="rId7" Type="http://schemas.openxmlformats.org/officeDocument/2006/relationships/image" Target="../media/image-34-7.png"/><Relationship Id="rId8" Type="http://schemas.openxmlformats.org/officeDocument/2006/relationships/image" Target="../media/image-34-2.png"/><Relationship Id="rId9" Type="http://schemas.openxmlformats.org/officeDocument/2006/relationships/image" Target="../media/image-34-9.png"/><Relationship Id="rId10" Type="http://schemas.openxmlformats.org/officeDocument/2006/relationships/slideLayout" Target="../slideLayouts/slideLayout1.xml"/><Relationship Id="rId11"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8778240" y="-2103120"/>
            <a:ext cx="5120640" cy="5120640"/>
          </a:xfrm>
          <a:prstGeom prst="ellipse">
            <a:avLst/>
          </a:prstGeom>
          <a:solidFill>
            <a:srgbClr val="0066FF">
              <a:alpha val="14000"/>
            </a:srgbClr>
          </a:solidFill>
          <a:ln/>
        </p:spPr>
      </p:sp>
      <p:sp>
        <p:nvSpPr>
          <p:cNvPr id="3" name="Shape 1"/>
          <p:cNvSpPr/>
          <p:nvPr/>
        </p:nvSpPr>
        <p:spPr>
          <a:xfrm>
            <a:off x="-1920240" y="4206240"/>
            <a:ext cx="3931920" cy="3931920"/>
          </a:xfrm>
          <a:prstGeom prst="ellipse">
            <a:avLst/>
          </a:prstGeom>
          <a:solidFill>
            <a:srgbClr val="D5DDEA">
              <a:alpha val="12000"/>
            </a:srgbClr>
          </a:solidFill>
          <a:ln/>
        </p:spPr>
      </p:sp>
      <p:sp>
        <p:nvSpPr>
          <p:cNvPr id="4" name="Shape 2"/>
          <p:cNvSpPr/>
          <p:nvPr/>
        </p:nvSpPr>
        <p:spPr>
          <a:xfrm>
            <a:off x="0" y="5166360"/>
            <a:ext cx="12191695" cy="41148"/>
          </a:xfrm>
          <a:prstGeom prst="rect">
            <a:avLst/>
          </a:prstGeom>
          <a:solidFill>
            <a:srgbClr val="0066FF">
              <a:alpha val="45000"/>
            </a:srgbClr>
          </a:solidFill>
          <a:ln/>
        </p:spPr>
      </p:sp>
      <p:sp>
        <p:nvSpPr>
          <p:cNvPr id="5" name="Shape 3"/>
          <p:cNvSpPr/>
          <p:nvPr/>
        </p:nvSpPr>
        <p:spPr>
          <a:xfrm>
            <a:off x="822960" y="1051560"/>
            <a:ext cx="457200" cy="73152"/>
          </a:xfrm>
          <a:prstGeom prst="rect">
            <a:avLst/>
          </a:prstGeom>
          <a:solidFill>
            <a:srgbClr val="0066FF"/>
          </a:solidFill>
          <a:ln/>
        </p:spPr>
      </p:sp>
      <p:sp>
        <p:nvSpPr>
          <p:cNvPr id="6" name="Text 4"/>
          <p:cNvSpPr/>
          <p:nvPr/>
        </p:nvSpPr>
        <p:spPr>
          <a:xfrm>
            <a:off x="822960" y="1188720"/>
            <a:ext cx="10515600" cy="365760"/>
          </a:xfrm>
          <a:prstGeom prst="rect">
            <a:avLst/>
          </a:prstGeom>
          <a:noFill/>
          <a:ln/>
        </p:spPr>
        <p:txBody>
          <a:bodyPr wrap="square"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A TALK FOR PROJECT MANAGERS &amp; BUSINESS ANALYSTS  ·  PMI SUNCOAST</a:t>
            </a:r>
            <a:endParaRPr lang="en-US" sz="1400" dirty="0"/>
          </a:p>
        </p:txBody>
      </p:sp>
      <p:sp>
        <p:nvSpPr>
          <p:cNvPr id="7" name="Text 5"/>
          <p:cNvSpPr/>
          <p:nvPr/>
        </p:nvSpPr>
        <p:spPr>
          <a:xfrm>
            <a:off x="777240" y="2148840"/>
            <a:ext cx="10607040" cy="1737360"/>
          </a:xfrm>
          <a:prstGeom prst="rect">
            <a:avLst/>
          </a:prstGeom>
          <a:noFill/>
          <a:ln/>
        </p:spPr>
        <p:txBody>
          <a:bodyPr wrap="square" rtlCol="0" anchor="ctr">
            <a:normAutofit/>
          </a:bodyPr>
          <a:lstStyle/>
          <a:p>
            <a:pPr algn="l" indent="0" marL="0">
              <a:buNone/>
            </a:pPr>
            <a:r>
              <a:rPr lang="en-US" sz="7600" b="1" dirty="0">
                <a:solidFill>
                  <a:srgbClr val="FFFFFF"/>
                </a:solidFill>
                <a:latin typeface="Oswald" pitchFamily="34" charset="0"/>
                <a:ea typeface="Oswald" pitchFamily="34" charset="-122"/>
                <a:cs typeface="Oswald" pitchFamily="34" charset="-120"/>
              </a:rPr>
              <a:t>AI Agent Building 101</a:t>
            </a:r>
            <a:endParaRPr lang="en-US" sz="7600" dirty="0"/>
          </a:p>
        </p:txBody>
      </p:sp>
      <p:sp>
        <p:nvSpPr>
          <p:cNvPr id="8" name="Text 6"/>
          <p:cNvSpPr/>
          <p:nvPr/>
        </p:nvSpPr>
        <p:spPr>
          <a:xfrm>
            <a:off x="822960" y="3703320"/>
            <a:ext cx="9144000" cy="548640"/>
          </a:xfrm>
          <a:prstGeom prst="rect">
            <a:avLst/>
          </a:prstGeom>
          <a:noFill/>
          <a:ln/>
        </p:spPr>
        <p:txBody>
          <a:bodyPr wrap="square" rtlCol="0" anchor="ctr"/>
          <a:lstStyle/>
          <a:p>
            <a:pPr algn="l" indent="0" marL="0">
              <a:buNone/>
            </a:pPr>
            <a:r>
              <a:rPr lang="en-US" sz="2400" dirty="0">
                <a:solidFill>
                  <a:srgbClr val="D5DDEA"/>
                </a:solidFill>
                <a:latin typeface="Plus Jakarta Sans" pitchFamily="34" charset="0"/>
                <a:ea typeface="Plus Jakarta Sans" pitchFamily="34" charset="-122"/>
                <a:cs typeface="Plus Jakarta Sans" pitchFamily="34" charset="-120"/>
              </a:rPr>
              <a:t>From Concept to Working Prototype</a:t>
            </a:r>
            <a:endParaRPr lang="en-US" sz="2400" dirty="0"/>
          </a:p>
        </p:txBody>
      </p:sp>
      <p:sp>
        <p:nvSpPr>
          <p:cNvPr id="9" name="Text 7"/>
          <p:cNvSpPr/>
          <p:nvPr/>
        </p:nvSpPr>
        <p:spPr>
          <a:xfrm>
            <a:off x="822960" y="5989320"/>
            <a:ext cx="9601200" cy="365760"/>
          </a:xfrm>
          <a:prstGeom prst="rect">
            <a:avLst/>
          </a:prstGeom>
          <a:noFill/>
          <a:ln/>
        </p:spPr>
        <p:txBody>
          <a:bodyPr wrap="square" rtlCol="0" anchor="ctr"/>
          <a:lstStyle/>
          <a:p>
            <a:pPr algn="l" indent="0" marL="0">
              <a:buNone/>
            </a:pPr>
            <a:r>
              <a:rPr lang="en-US" sz="1300" dirty="0">
                <a:solidFill>
                  <a:srgbClr val="AEBACD"/>
                </a:solidFill>
                <a:latin typeface="Plus Jakarta Sans" pitchFamily="34" charset="0"/>
                <a:ea typeface="Plus Jakarta Sans" pitchFamily="34" charset="-122"/>
                <a:cs typeface="Plus Jakarta Sans" pitchFamily="34" charset="-120"/>
              </a:rPr>
              <a:t>Simas Bandzevicius, CSPO®, CSM  ·  Suncoast PMI Chapter  ·  July 14,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AGENDA</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THE NEXT 90 MINUTES</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0A1628"/>
                </a:solidFill>
                <a:latin typeface="Oswald" pitchFamily="34" charset="0"/>
                <a:ea typeface="Oswald" pitchFamily="34" charset="-122"/>
                <a:cs typeface="Oswald" pitchFamily="34" charset="-120"/>
              </a:rPr>
              <a:t>How Tonight Works</a:t>
            </a:r>
            <a:endParaRPr lang="en-US" sz="3400" dirty="0"/>
          </a:p>
        </p:txBody>
      </p:sp>
      <p:sp>
        <p:nvSpPr>
          <p:cNvPr id="5" name="Text 3"/>
          <p:cNvSpPr/>
          <p:nvPr/>
        </p:nvSpPr>
        <p:spPr>
          <a:xfrm>
            <a:off x="457200" y="1554480"/>
            <a:ext cx="11247120" cy="457200"/>
          </a:xfrm>
          <a:prstGeom prst="rect">
            <a:avLst/>
          </a:prstGeom>
          <a:noFill/>
          <a:ln/>
        </p:spPr>
        <p:txBody>
          <a:bodyPr wrap="square" rtlCol="0" anchor="ctr"/>
          <a:lstStyle/>
          <a:p>
            <a:pPr algn="l" indent="0" marL="0">
              <a:buNone/>
            </a:pPr>
            <a:r>
              <a:rPr lang="en-US" sz="1600" i="1" dirty="0">
                <a:solidFill>
                  <a:srgbClr val="3D4759"/>
                </a:solidFill>
                <a:latin typeface="Plus Jakarta Sans" pitchFamily="34" charset="0"/>
                <a:ea typeface="Plus Jakarta Sans" pitchFamily="34" charset="-122"/>
                <a:cs typeface="Plus Jakarta Sans" pitchFamily="34" charset="-120"/>
              </a:rPr>
              <a:t>Five sections. One thread: what an agent actually is, and why you're the right person to build one.</a:t>
            </a:r>
            <a:endParaRPr lang="en-US" sz="1600" dirty="0"/>
          </a:p>
        </p:txBody>
      </p:sp>
      <p:sp>
        <p:nvSpPr>
          <p:cNvPr id="6" name="Shape 4"/>
          <p:cNvSpPr/>
          <p:nvPr/>
        </p:nvSpPr>
        <p:spPr>
          <a:xfrm>
            <a:off x="457200" y="2240280"/>
            <a:ext cx="11247120" cy="713232"/>
          </a:xfrm>
          <a:prstGeom prst="roundRect">
            <a:avLst>
              <a:gd name="adj" fmla="val 12821"/>
            </a:avLst>
          </a:prstGeom>
          <a:solidFill>
            <a:srgbClr val="FFFFFF"/>
          </a:solidFill>
          <a:ln w="9525">
            <a:solidFill>
              <a:srgbClr val="D5DDEA"/>
            </a:solidFill>
            <a:prstDash val="solid"/>
          </a:ln>
        </p:spPr>
      </p:sp>
      <p:sp>
        <p:nvSpPr>
          <p:cNvPr id="7" name="Shape 5"/>
          <p:cNvSpPr/>
          <p:nvPr/>
        </p:nvSpPr>
        <p:spPr>
          <a:xfrm>
            <a:off x="658368" y="2377440"/>
            <a:ext cx="438912" cy="438912"/>
          </a:xfrm>
          <a:prstGeom prst="roundRect">
            <a:avLst>
              <a:gd name="adj" fmla="val 16667"/>
            </a:avLst>
          </a:prstGeom>
          <a:solidFill>
            <a:srgbClr val="0A1628"/>
          </a:solidFill>
          <a:ln/>
        </p:spPr>
      </p:sp>
      <p:sp>
        <p:nvSpPr>
          <p:cNvPr id="8" name="Text 6"/>
          <p:cNvSpPr/>
          <p:nvPr/>
        </p:nvSpPr>
        <p:spPr>
          <a:xfrm>
            <a:off x="658368" y="2377440"/>
            <a:ext cx="438912" cy="438912"/>
          </a:xfrm>
          <a:prstGeom prst="rect">
            <a:avLst/>
          </a:prstGeom>
          <a:noFill/>
          <a:ln/>
        </p:spPr>
        <p:txBody>
          <a:bodyPr wrap="square" rtlCol="0" anchor="ctr"/>
          <a:lstStyle/>
          <a:p>
            <a:pPr algn="ctr" indent="0" marL="0">
              <a:buNone/>
            </a:pPr>
            <a:r>
              <a:rPr lang="en-US" sz="1600" b="1" dirty="0">
                <a:solidFill>
                  <a:srgbClr val="FFFFFF"/>
                </a:solidFill>
                <a:latin typeface="Oswald" pitchFamily="34" charset="0"/>
                <a:ea typeface="Oswald" pitchFamily="34" charset="-122"/>
                <a:cs typeface="Oswald" pitchFamily="34" charset="-120"/>
              </a:rPr>
              <a:t>01</a:t>
            </a:r>
            <a:endParaRPr lang="en-US" sz="1600" dirty="0"/>
          </a:p>
        </p:txBody>
      </p:sp>
      <p:pic>
        <p:nvPicPr>
          <p:cNvPr id="9" name="Image 0" descr="icons/arrowRight-blue.png">    </p:cNvPr>
          <p:cNvPicPr>
            <a:picLocks noChangeAspect="1"/>
          </p:cNvPicPr>
          <p:nvPr/>
        </p:nvPicPr>
        <p:blipFill>
          <a:blip r:embed="rId1"/>
          <a:stretch>
            <a:fillRect/>
          </a:stretch>
        </p:blipFill>
        <p:spPr>
          <a:xfrm>
            <a:off x="1298448" y="2450592"/>
            <a:ext cx="292608" cy="292608"/>
          </a:xfrm>
          <a:prstGeom prst="rect">
            <a:avLst/>
          </a:prstGeom>
        </p:spPr>
      </p:pic>
      <p:sp>
        <p:nvSpPr>
          <p:cNvPr id="10" name="Text 7"/>
          <p:cNvSpPr/>
          <p:nvPr/>
        </p:nvSpPr>
        <p:spPr>
          <a:xfrm>
            <a:off x="1783080" y="2313432"/>
            <a:ext cx="5212080" cy="310896"/>
          </a:xfrm>
          <a:prstGeom prst="rect">
            <a:avLst/>
          </a:prstGeom>
          <a:noFill/>
          <a:ln/>
        </p:spPr>
        <p:txBody>
          <a:bodyPr wrap="square" rtlCol="0" anchor="ctr"/>
          <a:lstStyle/>
          <a:p>
            <a:pPr algn="l" indent="0" marL="0">
              <a:buNone/>
            </a:pPr>
            <a:r>
              <a:rPr lang="en-US" sz="1700" b="1" dirty="0">
                <a:solidFill>
                  <a:srgbClr val="0A1628"/>
                </a:solidFill>
                <a:latin typeface="Oswald" pitchFamily="34" charset="0"/>
                <a:ea typeface="Oswald" pitchFamily="34" charset="-122"/>
                <a:cs typeface="Oswald" pitchFamily="34" charset="-120"/>
              </a:rPr>
              <a:t>Why AI Agents Matter</a:t>
            </a:r>
            <a:endParaRPr lang="en-US" sz="1700" dirty="0"/>
          </a:p>
        </p:txBody>
      </p:sp>
      <p:sp>
        <p:nvSpPr>
          <p:cNvPr id="11" name="Text 8"/>
          <p:cNvSpPr/>
          <p:nvPr/>
        </p:nvSpPr>
        <p:spPr>
          <a:xfrm>
            <a:off x="1783080" y="2606040"/>
            <a:ext cx="9692640" cy="274320"/>
          </a:xfrm>
          <a:prstGeom prst="rect">
            <a:avLst/>
          </a:prstGeom>
          <a:noFill/>
          <a:ln/>
        </p:spPr>
        <p:txBody>
          <a:bodyPr wrap="square" rtlCol="0" anchor="ctr"/>
          <a:lstStyle/>
          <a:p>
            <a:pPr algn="l" indent="0" marL="0">
              <a:buNone/>
            </a:pPr>
            <a:r>
              <a:rPr lang="en-US" sz="1300" dirty="0">
                <a:solidFill>
                  <a:srgbClr val="3D4759"/>
                </a:solidFill>
                <a:latin typeface="Plus Jakarta Sans" pitchFamily="34" charset="0"/>
                <a:ea typeface="Plus Jakarta Sans" pitchFamily="34" charset="-122"/>
                <a:cs typeface="Plus Jakarta Sans" pitchFamily="34" charset="-120"/>
              </a:rPr>
              <a:t>The business case, before the tech.</a:t>
            </a:r>
            <a:endParaRPr lang="en-US" sz="1300" dirty="0"/>
          </a:p>
        </p:txBody>
      </p:sp>
      <p:sp>
        <p:nvSpPr>
          <p:cNvPr id="12" name="Shape 9"/>
          <p:cNvSpPr/>
          <p:nvPr/>
        </p:nvSpPr>
        <p:spPr>
          <a:xfrm>
            <a:off x="457200" y="3008376"/>
            <a:ext cx="11247120" cy="713232"/>
          </a:xfrm>
          <a:prstGeom prst="roundRect">
            <a:avLst>
              <a:gd name="adj" fmla="val 12821"/>
            </a:avLst>
          </a:prstGeom>
          <a:solidFill>
            <a:srgbClr val="FFFFFF"/>
          </a:solidFill>
          <a:ln w="9525">
            <a:solidFill>
              <a:srgbClr val="D5DDEA"/>
            </a:solidFill>
            <a:prstDash val="solid"/>
          </a:ln>
        </p:spPr>
      </p:sp>
      <p:sp>
        <p:nvSpPr>
          <p:cNvPr id="13" name="Shape 10"/>
          <p:cNvSpPr/>
          <p:nvPr/>
        </p:nvSpPr>
        <p:spPr>
          <a:xfrm>
            <a:off x="658368" y="3145536"/>
            <a:ext cx="438912" cy="438912"/>
          </a:xfrm>
          <a:prstGeom prst="roundRect">
            <a:avLst>
              <a:gd name="adj" fmla="val 16667"/>
            </a:avLst>
          </a:prstGeom>
          <a:solidFill>
            <a:srgbClr val="0A1628"/>
          </a:solidFill>
          <a:ln/>
        </p:spPr>
      </p:sp>
      <p:sp>
        <p:nvSpPr>
          <p:cNvPr id="14" name="Text 11"/>
          <p:cNvSpPr/>
          <p:nvPr/>
        </p:nvSpPr>
        <p:spPr>
          <a:xfrm>
            <a:off x="658368" y="3145536"/>
            <a:ext cx="438912" cy="438912"/>
          </a:xfrm>
          <a:prstGeom prst="rect">
            <a:avLst/>
          </a:prstGeom>
          <a:noFill/>
          <a:ln/>
        </p:spPr>
        <p:txBody>
          <a:bodyPr wrap="square" rtlCol="0" anchor="ctr"/>
          <a:lstStyle/>
          <a:p>
            <a:pPr algn="ctr" indent="0" marL="0">
              <a:buNone/>
            </a:pPr>
            <a:r>
              <a:rPr lang="en-US" sz="1600" b="1" dirty="0">
                <a:solidFill>
                  <a:srgbClr val="FFFFFF"/>
                </a:solidFill>
                <a:latin typeface="Oswald" pitchFamily="34" charset="0"/>
                <a:ea typeface="Oswald" pitchFamily="34" charset="-122"/>
                <a:cs typeface="Oswald" pitchFamily="34" charset="-120"/>
              </a:rPr>
              <a:t>02</a:t>
            </a:r>
            <a:endParaRPr lang="en-US" sz="1600" dirty="0"/>
          </a:p>
        </p:txBody>
      </p:sp>
      <p:pic>
        <p:nvPicPr>
          <p:cNvPr id="15" name="Image 1" descr="icons/arrowRight-blue.png">    </p:cNvPr>
          <p:cNvPicPr>
            <a:picLocks noChangeAspect="1"/>
          </p:cNvPicPr>
          <p:nvPr/>
        </p:nvPicPr>
        <p:blipFill>
          <a:blip r:embed="rId2"/>
          <a:stretch>
            <a:fillRect/>
          </a:stretch>
        </p:blipFill>
        <p:spPr>
          <a:xfrm>
            <a:off x="1298448" y="3218688"/>
            <a:ext cx="292608" cy="292608"/>
          </a:xfrm>
          <a:prstGeom prst="rect">
            <a:avLst/>
          </a:prstGeom>
        </p:spPr>
      </p:pic>
      <p:sp>
        <p:nvSpPr>
          <p:cNvPr id="16" name="Text 12"/>
          <p:cNvSpPr/>
          <p:nvPr/>
        </p:nvSpPr>
        <p:spPr>
          <a:xfrm>
            <a:off x="1783080" y="3081528"/>
            <a:ext cx="5212080" cy="310896"/>
          </a:xfrm>
          <a:prstGeom prst="rect">
            <a:avLst/>
          </a:prstGeom>
          <a:noFill/>
          <a:ln/>
        </p:spPr>
        <p:txBody>
          <a:bodyPr wrap="square" rtlCol="0" anchor="ctr"/>
          <a:lstStyle/>
          <a:p>
            <a:pPr algn="l" indent="0" marL="0">
              <a:buNone/>
            </a:pPr>
            <a:r>
              <a:rPr lang="en-US" sz="1700" b="1" dirty="0">
                <a:solidFill>
                  <a:srgbClr val="0A1628"/>
                </a:solidFill>
                <a:latin typeface="Oswald" pitchFamily="34" charset="0"/>
                <a:ea typeface="Oswald" pitchFamily="34" charset="-122"/>
                <a:cs typeface="Oswald" pitchFamily="34" charset="-120"/>
              </a:rPr>
              <a:t>How AI Actually Works</a:t>
            </a:r>
            <a:endParaRPr lang="en-US" sz="1700" dirty="0"/>
          </a:p>
        </p:txBody>
      </p:sp>
      <p:sp>
        <p:nvSpPr>
          <p:cNvPr id="17" name="Text 13"/>
          <p:cNvSpPr/>
          <p:nvPr/>
        </p:nvSpPr>
        <p:spPr>
          <a:xfrm>
            <a:off x="1783080" y="3374136"/>
            <a:ext cx="9692640" cy="274320"/>
          </a:xfrm>
          <a:prstGeom prst="rect">
            <a:avLst/>
          </a:prstGeom>
          <a:noFill/>
          <a:ln/>
        </p:spPr>
        <p:txBody>
          <a:bodyPr wrap="square" rtlCol="0" anchor="ctr"/>
          <a:lstStyle/>
          <a:p>
            <a:pPr algn="l" indent="0" marL="0">
              <a:buNone/>
            </a:pPr>
            <a:r>
              <a:rPr lang="en-US" sz="1300" dirty="0">
                <a:solidFill>
                  <a:srgbClr val="3D4759"/>
                </a:solidFill>
                <a:latin typeface="Plus Jakarta Sans" pitchFamily="34" charset="0"/>
                <a:ea typeface="Plus Jakarta Sans" pitchFamily="34" charset="-122"/>
                <a:cs typeface="Plus Jakarta Sans" pitchFamily="34" charset="-120"/>
              </a:rPr>
              <a:t>LLMs, in plain English.</a:t>
            </a:r>
            <a:endParaRPr lang="en-US" sz="1300" dirty="0"/>
          </a:p>
        </p:txBody>
      </p:sp>
      <p:sp>
        <p:nvSpPr>
          <p:cNvPr id="18" name="Shape 14"/>
          <p:cNvSpPr/>
          <p:nvPr/>
        </p:nvSpPr>
        <p:spPr>
          <a:xfrm>
            <a:off x="457200" y="3776472"/>
            <a:ext cx="11247120" cy="713232"/>
          </a:xfrm>
          <a:prstGeom prst="roundRect">
            <a:avLst>
              <a:gd name="adj" fmla="val 12821"/>
            </a:avLst>
          </a:prstGeom>
          <a:solidFill>
            <a:srgbClr val="FFFFFF"/>
          </a:solidFill>
          <a:ln w="9525">
            <a:solidFill>
              <a:srgbClr val="D5DDEA"/>
            </a:solidFill>
            <a:prstDash val="solid"/>
          </a:ln>
        </p:spPr>
      </p:sp>
      <p:sp>
        <p:nvSpPr>
          <p:cNvPr id="19" name="Shape 15"/>
          <p:cNvSpPr/>
          <p:nvPr/>
        </p:nvSpPr>
        <p:spPr>
          <a:xfrm>
            <a:off x="658368" y="3913632"/>
            <a:ext cx="438912" cy="438912"/>
          </a:xfrm>
          <a:prstGeom prst="roundRect">
            <a:avLst>
              <a:gd name="adj" fmla="val 16667"/>
            </a:avLst>
          </a:prstGeom>
          <a:solidFill>
            <a:srgbClr val="0A1628"/>
          </a:solidFill>
          <a:ln/>
        </p:spPr>
      </p:sp>
      <p:sp>
        <p:nvSpPr>
          <p:cNvPr id="20" name="Text 16"/>
          <p:cNvSpPr/>
          <p:nvPr/>
        </p:nvSpPr>
        <p:spPr>
          <a:xfrm>
            <a:off x="658368" y="3913632"/>
            <a:ext cx="438912" cy="438912"/>
          </a:xfrm>
          <a:prstGeom prst="rect">
            <a:avLst/>
          </a:prstGeom>
          <a:noFill/>
          <a:ln/>
        </p:spPr>
        <p:txBody>
          <a:bodyPr wrap="square" rtlCol="0" anchor="ctr"/>
          <a:lstStyle/>
          <a:p>
            <a:pPr algn="ctr" indent="0" marL="0">
              <a:buNone/>
            </a:pPr>
            <a:r>
              <a:rPr lang="en-US" sz="1600" b="1" dirty="0">
                <a:solidFill>
                  <a:srgbClr val="FFFFFF"/>
                </a:solidFill>
                <a:latin typeface="Oswald" pitchFamily="34" charset="0"/>
                <a:ea typeface="Oswald" pitchFamily="34" charset="-122"/>
                <a:cs typeface="Oswald" pitchFamily="34" charset="-120"/>
              </a:rPr>
              <a:t>03</a:t>
            </a:r>
            <a:endParaRPr lang="en-US" sz="1600" dirty="0"/>
          </a:p>
        </p:txBody>
      </p:sp>
      <p:pic>
        <p:nvPicPr>
          <p:cNvPr id="21" name="Image 2" descr="icons/arrowRight-blue.png">    </p:cNvPr>
          <p:cNvPicPr>
            <a:picLocks noChangeAspect="1"/>
          </p:cNvPicPr>
          <p:nvPr/>
        </p:nvPicPr>
        <p:blipFill>
          <a:blip r:embed="rId3"/>
          <a:stretch>
            <a:fillRect/>
          </a:stretch>
        </p:blipFill>
        <p:spPr>
          <a:xfrm>
            <a:off x="1298448" y="3986784"/>
            <a:ext cx="292608" cy="292608"/>
          </a:xfrm>
          <a:prstGeom prst="rect">
            <a:avLst/>
          </a:prstGeom>
        </p:spPr>
      </p:pic>
      <p:sp>
        <p:nvSpPr>
          <p:cNvPr id="22" name="Text 17"/>
          <p:cNvSpPr/>
          <p:nvPr/>
        </p:nvSpPr>
        <p:spPr>
          <a:xfrm>
            <a:off x="1783080" y="3849624"/>
            <a:ext cx="5212080" cy="310896"/>
          </a:xfrm>
          <a:prstGeom prst="rect">
            <a:avLst/>
          </a:prstGeom>
          <a:noFill/>
          <a:ln/>
        </p:spPr>
        <p:txBody>
          <a:bodyPr wrap="square" rtlCol="0" anchor="ctr"/>
          <a:lstStyle/>
          <a:p>
            <a:pPr algn="l" indent="0" marL="0">
              <a:buNone/>
            </a:pPr>
            <a:r>
              <a:rPr lang="en-US" sz="1700" b="1" dirty="0">
                <a:solidFill>
                  <a:srgbClr val="0A1628"/>
                </a:solidFill>
                <a:latin typeface="Oswald" pitchFamily="34" charset="0"/>
                <a:ea typeface="Oswald" pitchFamily="34" charset="-122"/>
                <a:cs typeface="Oswald" pitchFamily="34" charset="-120"/>
              </a:rPr>
              <a:t>APIs, MCP &amp; Connectors</a:t>
            </a:r>
            <a:endParaRPr lang="en-US" sz="1700" dirty="0"/>
          </a:p>
        </p:txBody>
      </p:sp>
      <p:sp>
        <p:nvSpPr>
          <p:cNvPr id="23" name="Text 18"/>
          <p:cNvSpPr/>
          <p:nvPr/>
        </p:nvSpPr>
        <p:spPr>
          <a:xfrm>
            <a:off x="1783080" y="4142232"/>
            <a:ext cx="9692640" cy="274320"/>
          </a:xfrm>
          <a:prstGeom prst="rect">
            <a:avLst/>
          </a:prstGeom>
          <a:noFill/>
          <a:ln/>
        </p:spPr>
        <p:txBody>
          <a:bodyPr wrap="square" rtlCol="0" anchor="ctr"/>
          <a:lstStyle/>
          <a:p>
            <a:pPr algn="l" indent="0" marL="0">
              <a:buNone/>
            </a:pPr>
            <a:r>
              <a:rPr lang="en-US" sz="1300" dirty="0">
                <a:solidFill>
                  <a:srgbClr val="3D4759"/>
                </a:solidFill>
                <a:latin typeface="Plus Jakarta Sans" pitchFamily="34" charset="0"/>
                <a:ea typeface="Plus Jakarta Sans" pitchFamily="34" charset="-122"/>
                <a:cs typeface="Plus Jakarta Sans" pitchFamily="34" charset="-120"/>
              </a:rPr>
              <a:t>The plumbing, demystified.</a:t>
            </a:r>
            <a:endParaRPr lang="en-US" sz="1300" dirty="0"/>
          </a:p>
        </p:txBody>
      </p:sp>
      <p:sp>
        <p:nvSpPr>
          <p:cNvPr id="24" name="Shape 19"/>
          <p:cNvSpPr/>
          <p:nvPr/>
        </p:nvSpPr>
        <p:spPr>
          <a:xfrm>
            <a:off x="457200" y="4544568"/>
            <a:ext cx="11247120" cy="713232"/>
          </a:xfrm>
          <a:prstGeom prst="roundRect">
            <a:avLst>
              <a:gd name="adj" fmla="val 12821"/>
            </a:avLst>
          </a:prstGeom>
          <a:solidFill>
            <a:srgbClr val="FFFFFF"/>
          </a:solidFill>
          <a:ln w="9525">
            <a:solidFill>
              <a:srgbClr val="D5DDEA"/>
            </a:solidFill>
            <a:prstDash val="solid"/>
          </a:ln>
        </p:spPr>
      </p:sp>
      <p:sp>
        <p:nvSpPr>
          <p:cNvPr id="25" name="Shape 20"/>
          <p:cNvSpPr/>
          <p:nvPr/>
        </p:nvSpPr>
        <p:spPr>
          <a:xfrm>
            <a:off x="658368" y="4681728"/>
            <a:ext cx="438912" cy="438912"/>
          </a:xfrm>
          <a:prstGeom prst="roundRect">
            <a:avLst>
              <a:gd name="adj" fmla="val 16667"/>
            </a:avLst>
          </a:prstGeom>
          <a:solidFill>
            <a:srgbClr val="0A1628"/>
          </a:solidFill>
          <a:ln/>
        </p:spPr>
      </p:sp>
      <p:sp>
        <p:nvSpPr>
          <p:cNvPr id="26" name="Text 21"/>
          <p:cNvSpPr/>
          <p:nvPr/>
        </p:nvSpPr>
        <p:spPr>
          <a:xfrm>
            <a:off x="658368" y="4681728"/>
            <a:ext cx="438912" cy="438912"/>
          </a:xfrm>
          <a:prstGeom prst="rect">
            <a:avLst/>
          </a:prstGeom>
          <a:noFill/>
          <a:ln/>
        </p:spPr>
        <p:txBody>
          <a:bodyPr wrap="square" rtlCol="0" anchor="ctr"/>
          <a:lstStyle/>
          <a:p>
            <a:pPr algn="ctr" indent="0" marL="0">
              <a:buNone/>
            </a:pPr>
            <a:r>
              <a:rPr lang="en-US" sz="1600" b="1" dirty="0">
                <a:solidFill>
                  <a:srgbClr val="FFFFFF"/>
                </a:solidFill>
                <a:latin typeface="Oswald" pitchFamily="34" charset="0"/>
                <a:ea typeface="Oswald" pitchFamily="34" charset="-122"/>
                <a:cs typeface="Oswald" pitchFamily="34" charset="-120"/>
              </a:rPr>
              <a:t>04</a:t>
            </a:r>
            <a:endParaRPr lang="en-US" sz="1600" dirty="0"/>
          </a:p>
        </p:txBody>
      </p:sp>
      <p:pic>
        <p:nvPicPr>
          <p:cNvPr id="27" name="Image 3" descr="icons/arrowRight-blue.png">    </p:cNvPr>
          <p:cNvPicPr>
            <a:picLocks noChangeAspect="1"/>
          </p:cNvPicPr>
          <p:nvPr/>
        </p:nvPicPr>
        <p:blipFill>
          <a:blip r:embed="rId4"/>
          <a:stretch>
            <a:fillRect/>
          </a:stretch>
        </p:blipFill>
        <p:spPr>
          <a:xfrm>
            <a:off x="1298448" y="4754880"/>
            <a:ext cx="292608" cy="292608"/>
          </a:xfrm>
          <a:prstGeom prst="rect">
            <a:avLst/>
          </a:prstGeom>
        </p:spPr>
      </p:pic>
      <p:sp>
        <p:nvSpPr>
          <p:cNvPr id="28" name="Text 22"/>
          <p:cNvSpPr/>
          <p:nvPr/>
        </p:nvSpPr>
        <p:spPr>
          <a:xfrm>
            <a:off x="1783080" y="4617720"/>
            <a:ext cx="5212080" cy="310896"/>
          </a:xfrm>
          <a:prstGeom prst="rect">
            <a:avLst/>
          </a:prstGeom>
          <a:noFill/>
          <a:ln/>
        </p:spPr>
        <p:txBody>
          <a:bodyPr wrap="square" rtlCol="0" anchor="ctr"/>
          <a:lstStyle/>
          <a:p>
            <a:pPr algn="l" indent="0" marL="0">
              <a:buNone/>
            </a:pPr>
            <a:r>
              <a:rPr lang="en-US" sz="1700" b="1" dirty="0">
                <a:solidFill>
                  <a:srgbClr val="0A1628"/>
                </a:solidFill>
                <a:latin typeface="Oswald" pitchFamily="34" charset="0"/>
                <a:ea typeface="Oswald" pitchFamily="34" charset="-122"/>
                <a:cs typeface="Oswald" pitchFamily="34" charset="-120"/>
              </a:rPr>
              <a:t>What Are AI Agents?</a:t>
            </a:r>
            <a:endParaRPr lang="en-US" sz="1700" dirty="0"/>
          </a:p>
        </p:txBody>
      </p:sp>
      <p:sp>
        <p:nvSpPr>
          <p:cNvPr id="29" name="Text 23"/>
          <p:cNvSpPr/>
          <p:nvPr/>
        </p:nvSpPr>
        <p:spPr>
          <a:xfrm>
            <a:off x="1783080" y="4910328"/>
            <a:ext cx="9692640" cy="274320"/>
          </a:xfrm>
          <a:prstGeom prst="rect">
            <a:avLst/>
          </a:prstGeom>
          <a:noFill/>
          <a:ln/>
        </p:spPr>
        <p:txBody>
          <a:bodyPr wrap="square" rtlCol="0" anchor="ctr"/>
          <a:lstStyle/>
          <a:p>
            <a:pPr algn="l" indent="0" marL="0">
              <a:buNone/>
            </a:pPr>
            <a:r>
              <a:rPr lang="en-US" sz="1300" dirty="0">
                <a:solidFill>
                  <a:srgbClr val="3D4759"/>
                </a:solidFill>
                <a:latin typeface="Plus Jakarta Sans" pitchFamily="34" charset="0"/>
                <a:ea typeface="Plus Jakarta Sans" pitchFamily="34" charset="-122"/>
                <a:cs typeface="Plus Jakarta Sans" pitchFamily="34" charset="-120"/>
              </a:rPr>
              <a:t>The mental model that sticks.</a:t>
            </a:r>
            <a:endParaRPr lang="en-US" sz="1300" dirty="0"/>
          </a:p>
        </p:txBody>
      </p:sp>
      <p:sp>
        <p:nvSpPr>
          <p:cNvPr id="30" name="Shape 24"/>
          <p:cNvSpPr/>
          <p:nvPr/>
        </p:nvSpPr>
        <p:spPr>
          <a:xfrm>
            <a:off x="457200" y="5312664"/>
            <a:ext cx="11247120" cy="713232"/>
          </a:xfrm>
          <a:prstGeom prst="roundRect">
            <a:avLst>
              <a:gd name="adj" fmla="val 12821"/>
            </a:avLst>
          </a:prstGeom>
          <a:solidFill>
            <a:srgbClr val="FFFFFF"/>
          </a:solidFill>
          <a:ln w="9525">
            <a:solidFill>
              <a:srgbClr val="D5DDEA"/>
            </a:solidFill>
            <a:prstDash val="solid"/>
          </a:ln>
        </p:spPr>
      </p:sp>
      <p:sp>
        <p:nvSpPr>
          <p:cNvPr id="31" name="Shape 25"/>
          <p:cNvSpPr/>
          <p:nvPr/>
        </p:nvSpPr>
        <p:spPr>
          <a:xfrm>
            <a:off x="658368" y="5449824"/>
            <a:ext cx="438912" cy="438912"/>
          </a:xfrm>
          <a:prstGeom prst="roundRect">
            <a:avLst>
              <a:gd name="adj" fmla="val 16667"/>
            </a:avLst>
          </a:prstGeom>
          <a:solidFill>
            <a:srgbClr val="0A1628"/>
          </a:solidFill>
          <a:ln/>
        </p:spPr>
      </p:sp>
      <p:sp>
        <p:nvSpPr>
          <p:cNvPr id="32" name="Text 26"/>
          <p:cNvSpPr/>
          <p:nvPr/>
        </p:nvSpPr>
        <p:spPr>
          <a:xfrm>
            <a:off x="658368" y="5449824"/>
            <a:ext cx="438912" cy="438912"/>
          </a:xfrm>
          <a:prstGeom prst="rect">
            <a:avLst/>
          </a:prstGeom>
          <a:noFill/>
          <a:ln/>
        </p:spPr>
        <p:txBody>
          <a:bodyPr wrap="square" rtlCol="0" anchor="ctr"/>
          <a:lstStyle/>
          <a:p>
            <a:pPr algn="ctr" indent="0" marL="0">
              <a:buNone/>
            </a:pPr>
            <a:r>
              <a:rPr lang="en-US" sz="1600" b="1" dirty="0">
                <a:solidFill>
                  <a:srgbClr val="FFFFFF"/>
                </a:solidFill>
                <a:latin typeface="Oswald" pitchFamily="34" charset="0"/>
                <a:ea typeface="Oswald" pitchFamily="34" charset="-122"/>
                <a:cs typeface="Oswald" pitchFamily="34" charset="-120"/>
              </a:rPr>
              <a:t>05</a:t>
            </a:r>
            <a:endParaRPr lang="en-US" sz="1600" dirty="0"/>
          </a:p>
        </p:txBody>
      </p:sp>
      <p:pic>
        <p:nvPicPr>
          <p:cNvPr id="33" name="Image 4" descr="icons/clock-blue.png">    </p:cNvPr>
          <p:cNvPicPr>
            <a:picLocks noChangeAspect="1"/>
          </p:cNvPicPr>
          <p:nvPr/>
        </p:nvPicPr>
        <p:blipFill>
          <a:blip r:embed="rId5"/>
          <a:stretch>
            <a:fillRect/>
          </a:stretch>
        </p:blipFill>
        <p:spPr>
          <a:xfrm>
            <a:off x="1298448" y="5522976"/>
            <a:ext cx="292608" cy="292608"/>
          </a:xfrm>
          <a:prstGeom prst="rect">
            <a:avLst/>
          </a:prstGeom>
        </p:spPr>
      </p:pic>
      <p:sp>
        <p:nvSpPr>
          <p:cNvPr id="34" name="Text 27"/>
          <p:cNvSpPr/>
          <p:nvPr/>
        </p:nvSpPr>
        <p:spPr>
          <a:xfrm>
            <a:off x="1783080" y="5385816"/>
            <a:ext cx="5212080" cy="310896"/>
          </a:xfrm>
          <a:prstGeom prst="rect">
            <a:avLst/>
          </a:prstGeom>
          <a:noFill/>
          <a:ln/>
        </p:spPr>
        <p:txBody>
          <a:bodyPr wrap="square" rtlCol="0" anchor="ctr"/>
          <a:lstStyle/>
          <a:p>
            <a:pPr algn="l" indent="0" marL="0">
              <a:buNone/>
            </a:pPr>
            <a:r>
              <a:rPr lang="en-US" sz="1700" b="1" dirty="0">
                <a:solidFill>
                  <a:srgbClr val="0A1628"/>
                </a:solidFill>
                <a:latin typeface="Oswald" pitchFamily="34" charset="0"/>
                <a:ea typeface="Oswald" pitchFamily="34" charset="-122"/>
                <a:cs typeface="Oswald" pitchFamily="34" charset="-120"/>
              </a:rPr>
              <a:t>Context, Tokens &amp; Claude Code</a:t>
            </a:r>
            <a:endParaRPr lang="en-US" sz="1700" dirty="0"/>
          </a:p>
        </p:txBody>
      </p:sp>
      <p:sp>
        <p:nvSpPr>
          <p:cNvPr id="35" name="Text 28"/>
          <p:cNvSpPr/>
          <p:nvPr/>
        </p:nvSpPr>
        <p:spPr>
          <a:xfrm>
            <a:off x="1783080" y="5678424"/>
            <a:ext cx="9692640" cy="274320"/>
          </a:xfrm>
          <a:prstGeom prst="rect">
            <a:avLst/>
          </a:prstGeom>
          <a:noFill/>
          <a:ln/>
        </p:spPr>
        <p:txBody>
          <a:bodyPr wrap="square" rtlCol="0" anchor="ctr"/>
          <a:lstStyle/>
          <a:p>
            <a:pPr algn="l" indent="0" marL="0">
              <a:buNone/>
            </a:pPr>
            <a:r>
              <a:rPr lang="en-US" sz="1300" dirty="0">
                <a:solidFill>
                  <a:srgbClr val="3D4759"/>
                </a:solidFill>
                <a:latin typeface="Plus Jakarta Sans" pitchFamily="34" charset="0"/>
                <a:ea typeface="Plus Jakarta Sans" pitchFamily="34" charset="-122"/>
                <a:cs typeface="Plus Jakarta Sans" pitchFamily="34" charset="-120"/>
              </a:rPr>
              <a:t>Why window size matters more than you think.</a:t>
            </a:r>
            <a:endParaRPr lang="en-US" sz="1300" dirty="0"/>
          </a:p>
        </p:txBody>
      </p:sp>
      <p:sp>
        <p:nvSpPr>
          <p:cNvPr id="36" name="Shape 29"/>
          <p:cNvSpPr/>
          <p:nvPr/>
        </p:nvSpPr>
        <p:spPr>
          <a:xfrm>
            <a:off x="457200" y="6446520"/>
            <a:ext cx="11277295" cy="0"/>
          </a:xfrm>
          <a:prstGeom prst="line">
            <a:avLst/>
          </a:prstGeom>
          <a:noFill/>
          <a:ln w="9525">
            <a:solidFill>
              <a:srgbClr val="D5DDEA"/>
            </a:solidFill>
            <a:prstDash val="solid"/>
          </a:ln>
        </p:spPr>
      </p:sp>
      <p:sp>
        <p:nvSpPr>
          <p:cNvPr id="37" name="Text 30"/>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2 / 35</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ABOUT ME</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WHO'S TALKING</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0A1628"/>
                </a:solidFill>
                <a:latin typeface="Oswald" pitchFamily="34" charset="0"/>
                <a:ea typeface="Oswald" pitchFamily="34" charset="-122"/>
                <a:cs typeface="Oswald" pitchFamily="34" charset="-120"/>
              </a:rPr>
              <a:t>About Me</a:t>
            </a:r>
            <a:endParaRPr lang="en-US" sz="3400" dirty="0"/>
          </a:p>
        </p:txBody>
      </p:sp>
      <p:sp>
        <p:nvSpPr>
          <p:cNvPr id="5" name="Text 3"/>
          <p:cNvSpPr/>
          <p:nvPr/>
        </p:nvSpPr>
        <p:spPr>
          <a:xfrm>
            <a:off x="457200" y="1554480"/>
            <a:ext cx="11247120" cy="457200"/>
          </a:xfrm>
          <a:prstGeom prst="rect">
            <a:avLst/>
          </a:prstGeom>
          <a:noFill/>
          <a:ln/>
        </p:spPr>
        <p:txBody>
          <a:bodyPr wrap="square" rtlCol="0" anchor="ctr"/>
          <a:lstStyle/>
          <a:p>
            <a:pPr algn="l" indent="0" marL="0">
              <a:buNone/>
            </a:pPr>
            <a:r>
              <a:rPr lang="en-US" sz="1600" i="1" dirty="0">
                <a:solidFill>
                  <a:srgbClr val="3D4759"/>
                </a:solidFill>
                <a:latin typeface="Plus Jakarta Sans" pitchFamily="34" charset="0"/>
                <a:ea typeface="Plus Jakarta Sans" pitchFamily="34" charset="-122"/>
                <a:cs typeface="Plus Jakarta Sans" pitchFamily="34" charset="-120"/>
              </a:rPr>
              <a:t>Four different seats, one common thread: using AI to buy back hours.</a:t>
            </a:r>
            <a:endParaRPr lang="en-US" sz="1600" dirty="0"/>
          </a:p>
        </p:txBody>
      </p:sp>
      <p:sp>
        <p:nvSpPr>
          <p:cNvPr id="6" name="Shape 4"/>
          <p:cNvSpPr/>
          <p:nvPr/>
        </p:nvSpPr>
        <p:spPr>
          <a:xfrm>
            <a:off x="457200" y="2286000"/>
            <a:ext cx="5440680" cy="1417320"/>
          </a:xfrm>
          <a:prstGeom prst="roundRect">
            <a:avLst>
              <a:gd name="adj" fmla="val 6452"/>
            </a:avLst>
          </a:prstGeom>
          <a:solidFill>
            <a:srgbClr val="FFFFFF"/>
          </a:solidFill>
          <a:ln w="9525">
            <a:solidFill>
              <a:srgbClr val="D5DDEA"/>
            </a:solidFill>
            <a:prstDash val="solid"/>
          </a:ln>
        </p:spPr>
      </p:sp>
      <p:sp>
        <p:nvSpPr>
          <p:cNvPr id="7" name="Shape 5"/>
          <p:cNvSpPr/>
          <p:nvPr/>
        </p:nvSpPr>
        <p:spPr>
          <a:xfrm>
            <a:off x="731520" y="2628900"/>
            <a:ext cx="731520" cy="731520"/>
          </a:xfrm>
          <a:prstGeom prst="roundRect">
            <a:avLst>
              <a:gd name="adj" fmla="val 12500"/>
            </a:avLst>
          </a:prstGeom>
          <a:solidFill>
            <a:srgbClr val="0A1628"/>
          </a:solidFill>
          <a:ln/>
        </p:spPr>
      </p:sp>
      <p:pic>
        <p:nvPicPr>
          <p:cNvPr id="8" name="Image 0" descr="icons/building-white.png">    </p:cNvPr>
          <p:cNvPicPr>
            <a:picLocks noChangeAspect="1"/>
          </p:cNvPicPr>
          <p:nvPr/>
        </p:nvPicPr>
        <p:blipFill>
          <a:blip r:embed="rId1"/>
          <a:stretch>
            <a:fillRect/>
          </a:stretch>
        </p:blipFill>
        <p:spPr>
          <a:xfrm>
            <a:off x="914400" y="2811780"/>
            <a:ext cx="365760" cy="365760"/>
          </a:xfrm>
          <a:prstGeom prst="rect">
            <a:avLst/>
          </a:prstGeom>
        </p:spPr>
      </p:pic>
      <p:sp>
        <p:nvSpPr>
          <p:cNvPr id="9" name="Text 6"/>
          <p:cNvSpPr/>
          <p:nvPr/>
        </p:nvSpPr>
        <p:spPr>
          <a:xfrm>
            <a:off x="1691640" y="2542032"/>
            <a:ext cx="3931920" cy="384048"/>
          </a:xfrm>
          <a:prstGeom prst="rect">
            <a:avLst/>
          </a:prstGeom>
          <a:noFill/>
          <a:ln/>
        </p:spPr>
        <p:txBody>
          <a:bodyPr wrap="square" rtlCol="0" anchor="ctr"/>
          <a:lstStyle/>
          <a:p>
            <a:pPr algn="l" indent="0" marL="0">
              <a:buNone/>
            </a:pPr>
            <a:r>
              <a:rPr lang="en-US" sz="1800" b="1" dirty="0">
                <a:solidFill>
                  <a:srgbClr val="0A1628"/>
                </a:solidFill>
                <a:latin typeface="Oswald" pitchFamily="34" charset="0"/>
                <a:ea typeface="Oswald" pitchFamily="34" charset="-122"/>
                <a:cs typeface="Oswald" pitchFamily="34" charset="-120"/>
              </a:rPr>
              <a:t>AI Business Analyst</a:t>
            </a:r>
            <a:endParaRPr lang="en-US" sz="1800" dirty="0"/>
          </a:p>
        </p:txBody>
      </p:sp>
      <p:sp>
        <p:nvSpPr>
          <p:cNvPr id="10" name="Text 7"/>
          <p:cNvSpPr/>
          <p:nvPr/>
        </p:nvSpPr>
        <p:spPr>
          <a:xfrm>
            <a:off x="1691640" y="2999232"/>
            <a:ext cx="3931920" cy="365760"/>
          </a:xfrm>
          <a:prstGeom prst="rect">
            <a:avLst/>
          </a:prstGeom>
          <a:noFill/>
          <a:ln/>
        </p:spPr>
        <p:txBody>
          <a:bodyPr wrap="square" rtlCol="0" anchor="ctr"/>
          <a:lstStyle/>
          <a:p>
            <a:pPr algn="l" indent="0" marL="0">
              <a:buNone/>
            </a:pPr>
            <a:r>
              <a:rPr lang="en-US" sz="1500" dirty="0">
                <a:solidFill>
                  <a:srgbClr val="3D4759"/>
                </a:solidFill>
                <a:latin typeface="Plus Jakarta Sans" pitchFamily="34" charset="0"/>
                <a:ea typeface="Plus Jakarta Sans" pitchFamily="34" charset="-122"/>
                <a:cs typeface="Plus Jakarta Sans" pitchFamily="34" charset="-120"/>
              </a:rPr>
              <a:t>Dynasty Financial Partners</a:t>
            </a:r>
            <a:endParaRPr lang="en-US" sz="1500" dirty="0"/>
          </a:p>
        </p:txBody>
      </p:sp>
      <p:sp>
        <p:nvSpPr>
          <p:cNvPr id="11" name="Shape 8"/>
          <p:cNvSpPr/>
          <p:nvPr/>
        </p:nvSpPr>
        <p:spPr>
          <a:xfrm>
            <a:off x="6263640" y="2286000"/>
            <a:ext cx="5440680" cy="1417320"/>
          </a:xfrm>
          <a:prstGeom prst="roundRect">
            <a:avLst>
              <a:gd name="adj" fmla="val 6452"/>
            </a:avLst>
          </a:prstGeom>
          <a:solidFill>
            <a:srgbClr val="FFFFFF"/>
          </a:solidFill>
          <a:ln w="9525">
            <a:solidFill>
              <a:srgbClr val="D5DDEA"/>
            </a:solidFill>
            <a:prstDash val="solid"/>
          </a:ln>
        </p:spPr>
      </p:sp>
      <p:sp>
        <p:nvSpPr>
          <p:cNvPr id="12" name="Shape 9"/>
          <p:cNvSpPr/>
          <p:nvPr/>
        </p:nvSpPr>
        <p:spPr>
          <a:xfrm>
            <a:off x="6537960" y="2628900"/>
            <a:ext cx="731520" cy="731520"/>
          </a:xfrm>
          <a:prstGeom prst="roundRect">
            <a:avLst>
              <a:gd name="adj" fmla="val 12500"/>
            </a:avLst>
          </a:prstGeom>
          <a:solidFill>
            <a:srgbClr val="0A1628"/>
          </a:solidFill>
          <a:ln/>
        </p:spPr>
      </p:sp>
      <p:pic>
        <p:nvPicPr>
          <p:cNvPr id="13" name="Image 1" descr="icons/rocket-white.png">    </p:cNvPr>
          <p:cNvPicPr>
            <a:picLocks noChangeAspect="1"/>
          </p:cNvPicPr>
          <p:nvPr/>
        </p:nvPicPr>
        <p:blipFill>
          <a:blip r:embed="rId2"/>
          <a:stretch>
            <a:fillRect/>
          </a:stretch>
        </p:blipFill>
        <p:spPr>
          <a:xfrm>
            <a:off x="6720840" y="2811780"/>
            <a:ext cx="365760" cy="365760"/>
          </a:xfrm>
          <a:prstGeom prst="rect">
            <a:avLst/>
          </a:prstGeom>
        </p:spPr>
      </p:pic>
      <p:sp>
        <p:nvSpPr>
          <p:cNvPr id="14" name="Text 10"/>
          <p:cNvSpPr/>
          <p:nvPr/>
        </p:nvSpPr>
        <p:spPr>
          <a:xfrm>
            <a:off x="7498080" y="2542032"/>
            <a:ext cx="3931920" cy="384048"/>
          </a:xfrm>
          <a:prstGeom prst="rect">
            <a:avLst/>
          </a:prstGeom>
          <a:noFill/>
          <a:ln/>
        </p:spPr>
        <p:txBody>
          <a:bodyPr wrap="square" rtlCol="0" anchor="ctr"/>
          <a:lstStyle/>
          <a:p>
            <a:pPr algn="l" indent="0" marL="0">
              <a:buNone/>
            </a:pPr>
            <a:r>
              <a:rPr lang="en-US" sz="1800" b="1" dirty="0">
                <a:solidFill>
                  <a:srgbClr val="0A1628"/>
                </a:solidFill>
                <a:latin typeface="Oswald" pitchFamily="34" charset="0"/>
                <a:ea typeface="Oswald" pitchFamily="34" charset="-122"/>
                <a:cs typeface="Oswald" pitchFamily="34" charset="-120"/>
              </a:rPr>
              <a:t>Founder</a:t>
            </a:r>
            <a:endParaRPr lang="en-US" sz="1800" dirty="0"/>
          </a:p>
        </p:txBody>
      </p:sp>
      <p:sp>
        <p:nvSpPr>
          <p:cNvPr id="15" name="Text 11"/>
          <p:cNvSpPr/>
          <p:nvPr/>
        </p:nvSpPr>
        <p:spPr>
          <a:xfrm>
            <a:off x="7498080" y="2999232"/>
            <a:ext cx="3931920" cy="365760"/>
          </a:xfrm>
          <a:prstGeom prst="rect">
            <a:avLst/>
          </a:prstGeom>
          <a:noFill/>
          <a:ln/>
        </p:spPr>
        <p:txBody>
          <a:bodyPr wrap="square" rtlCol="0" anchor="ctr"/>
          <a:lstStyle/>
          <a:p>
            <a:pPr algn="l" indent="0" marL="0">
              <a:buNone/>
            </a:pPr>
            <a:r>
              <a:rPr lang="en-US" sz="1500" dirty="0">
                <a:solidFill>
                  <a:srgbClr val="3D4759"/>
                </a:solidFill>
                <a:latin typeface="Plus Jakarta Sans" pitchFamily="34" charset="0"/>
                <a:ea typeface="Plus Jakarta Sans" pitchFamily="34" charset="-122"/>
                <a:cs typeface="Plus Jakarta Sans" pitchFamily="34" charset="-120"/>
              </a:rPr>
              <a:t>Scaling This</a:t>
            </a:r>
            <a:endParaRPr lang="en-US" sz="1500" dirty="0"/>
          </a:p>
        </p:txBody>
      </p:sp>
      <p:sp>
        <p:nvSpPr>
          <p:cNvPr id="16" name="Shape 12"/>
          <p:cNvSpPr/>
          <p:nvPr/>
        </p:nvSpPr>
        <p:spPr>
          <a:xfrm>
            <a:off x="457200" y="4023360"/>
            <a:ext cx="5440680" cy="1417320"/>
          </a:xfrm>
          <a:prstGeom prst="roundRect">
            <a:avLst>
              <a:gd name="adj" fmla="val 6452"/>
            </a:avLst>
          </a:prstGeom>
          <a:solidFill>
            <a:srgbClr val="FFFFFF"/>
          </a:solidFill>
          <a:ln w="9525">
            <a:solidFill>
              <a:srgbClr val="D5DDEA"/>
            </a:solidFill>
            <a:prstDash val="solid"/>
          </a:ln>
        </p:spPr>
      </p:sp>
      <p:sp>
        <p:nvSpPr>
          <p:cNvPr id="17" name="Shape 13"/>
          <p:cNvSpPr/>
          <p:nvPr/>
        </p:nvSpPr>
        <p:spPr>
          <a:xfrm>
            <a:off x="731520" y="4366260"/>
            <a:ext cx="731520" cy="731520"/>
          </a:xfrm>
          <a:prstGeom prst="roundRect">
            <a:avLst>
              <a:gd name="adj" fmla="val 12500"/>
            </a:avLst>
          </a:prstGeom>
          <a:solidFill>
            <a:srgbClr val="0A1628"/>
          </a:solidFill>
          <a:ln/>
        </p:spPr>
      </p:sp>
      <p:pic>
        <p:nvPicPr>
          <p:cNvPr id="18" name="Image 2" descr="icons/graduationCap-white.png">    </p:cNvPr>
          <p:cNvPicPr>
            <a:picLocks noChangeAspect="1"/>
          </p:cNvPicPr>
          <p:nvPr/>
        </p:nvPicPr>
        <p:blipFill>
          <a:blip r:embed="rId3"/>
          <a:stretch>
            <a:fillRect/>
          </a:stretch>
        </p:blipFill>
        <p:spPr>
          <a:xfrm>
            <a:off x="914400" y="4549140"/>
            <a:ext cx="365760" cy="365760"/>
          </a:xfrm>
          <a:prstGeom prst="rect">
            <a:avLst/>
          </a:prstGeom>
        </p:spPr>
      </p:pic>
      <p:sp>
        <p:nvSpPr>
          <p:cNvPr id="19" name="Text 14"/>
          <p:cNvSpPr/>
          <p:nvPr/>
        </p:nvSpPr>
        <p:spPr>
          <a:xfrm>
            <a:off x="1691640" y="4279392"/>
            <a:ext cx="3931920" cy="384048"/>
          </a:xfrm>
          <a:prstGeom prst="rect">
            <a:avLst/>
          </a:prstGeom>
          <a:noFill/>
          <a:ln/>
        </p:spPr>
        <p:txBody>
          <a:bodyPr wrap="square" rtlCol="0" anchor="ctr"/>
          <a:lstStyle/>
          <a:p>
            <a:pPr algn="l" indent="0" marL="0">
              <a:buNone/>
            </a:pPr>
            <a:r>
              <a:rPr lang="en-US" sz="1800" b="1" dirty="0">
                <a:solidFill>
                  <a:srgbClr val="0A1628"/>
                </a:solidFill>
                <a:latin typeface="Oswald" pitchFamily="34" charset="0"/>
                <a:ea typeface="Oswald" pitchFamily="34" charset="-122"/>
                <a:cs typeface="Oswald" pitchFamily="34" charset="-120"/>
              </a:rPr>
              <a:t>Founder</a:t>
            </a:r>
            <a:endParaRPr lang="en-US" sz="1800" dirty="0"/>
          </a:p>
        </p:txBody>
      </p:sp>
      <p:sp>
        <p:nvSpPr>
          <p:cNvPr id="20" name="Text 15"/>
          <p:cNvSpPr/>
          <p:nvPr/>
        </p:nvSpPr>
        <p:spPr>
          <a:xfrm>
            <a:off x="1691640" y="4736592"/>
            <a:ext cx="3931920" cy="365760"/>
          </a:xfrm>
          <a:prstGeom prst="rect">
            <a:avLst/>
          </a:prstGeom>
          <a:noFill/>
          <a:ln/>
        </p:spPr>
        <p:txBody>
          <a:bodyPr wrap="square" rtlCol="0" anchor="ctr"/>
          <a:lstStyle/>
          <a:p>
            <a:pPr algn="l" indent="0" marL="0">
              <a:buNone/>
            </a:pPr>
            <a:r>
              <a:rPr lang="en-US" sz="1500" dirty="0">
                <a:solidFill>
                  <a:srgbClr val="3D4759"/>
                </a:solidFill>
                <a:latin typeface="Plus Jakarta Sans" pitchFamily="34" charset="0"/>
                <a:ea typeface="Plus Jakarta Sans" pitchFamily="34" charset="-122"/>
                <a:cs typeface="Plus Jakarta Sans" pitchFamily="34" charset="-120"/>
              </a:rPr>
              <a:t>LearnWithSQL.com</a:t>
            </a:r>
            <a:endParaRPr lang="en-US" sz="1500" dirty="0"/>
          </a:p>
        </p:txBody>
      </p:sp>
      <p:sp>
        <p:nvSpPr>
          <p:cNvPr id="21" name="Shape 16"/>
          <p:cNvSpPr/>
          <p:nvPr/>
        </p:nvSpPr>
        <p:spPr>
          <a:xfrm>
            <a:off x="6263640" y="4023360"/>
            <a:ext cx="5440680" cy="1417320"/>
          </a:xfrm>
          <a:prstGeom prst="roundRect">
            <a:avLst>
              <a:gd name="adj" fmla="val 6452"/>
            </a:avLst>
          </a:prstGeom>
          <a:solidFill>
            <a:srgbClr val="FFFFFF"/>
          </a:solidFill>
          <a:ln w="9525">
            <a:solidFill>
              <a:srgbClr val="D5DDEA"/>
            </a:solidFill>
            <a:prstDash val="solid"/>
          </a:ln>
        </p:spPr>
      </p:sp>
      <p:sp>
        <p:nvSpPr>
          <p:cNvPr id="22" name="Shape 17"/>
          <p:cNvSpPr/>
          <p:nvPr/>
        </p:nvSpPr>
        <p:spPr>
          <a:xfrm>
            <a:off x="6537960" y="4366260"/>
            <a:ext cx="731520" cy="731520"/>
          </a:xfrm>
          <a:prstGeom prst="roundRect">
            <a:avLst>
              <a:gd name="adj" fmla="val 12500"/>
            </a:avLst>
          </a:prstGeom>
          <a:solidFill>
            <a:srgbClr val="0A1628"/>
          </a:solidFill>
          <a:ln/>
        </p:spPr>
      </p:sp>
      <p:pic>
        <p:nvPicPr>
          <p:cNvPr id="23" name="Image 3" descr="icons/bagShopping-white.png">    </p:cNvPr>
          <p:cNvPicPr>
            <a:picLocks noChangeAspect="1"/>
          </p:cNvPicPr>
          <p:nvPr/>
        </p:nvPicPr>
        <p:blipFill>
          <a:blip r:embed="rId4"/>
          <a:stretch>
            <a:fillRect/>
          </a:stretch>
        </p:blipFill>
        <p:spPr>
          <a:xfrm>
            <a:off x="6720840" y="4549140"/>
            <a:ext cx="365760" cy="365760"/>
          </a:xfrm>
          <a:prstGeom prst="rect">
            <a:avLst/>
          </a:prstGeom>
        </p:spPr>
      </p:pic>
      <p:sp>
        <p:nvSpPr>
          <p:cNvPr id="24" name="Text 18"/>
          <p:cNvSpPr/>
          <p:nvPr/>
        </p:nvSpPr>
        <p:spPr>
          <a:xfrm>
            <a:off x="7498080" y="4279392"/>
            <a:ext cx="3931920" cy="384048"/>
          </a:xfrm>
          <a:prstGeom prst="rect">
            <a:avLst/>
          </a:prstGeom>
          <a:noFill/>
          <a:ln/>
        </p:spPr>
        <p:txBody>
          <a:bodyPr wrap="square" rtlCol="0" anchor="ctr"/>
          <a:lstStyle/>
          <a:p>
            <a:pPr algn="l" indent="0" marL="0">
              <a:buNone/>
            </a:pPr>
            <a:r>
              <a:rPr lang="en-US" sz="1800" b="1" dirty="0">
                <a:solidFill>
                  <a:srgbClr val="0A1628"/>
                </a:solidFill>
                <a:latin typeface="Oswald" pitchFamily="34" charset="0"/>
                <a:ea typeface="Oswald" pitchFamily="34" charset="-122"/>
                <a:cs typeface="Oswald" pitchFamily="34" charset="-120"/>
              </a:rPr>
              <a:t>Ecommerce Store</a:t>
            </a:r>
            <a:endParaRPr lang="en-US" sz="1800" dirty="0"/>
          </a:p>
        </p:txBody>
      </p:sp>
      <p:sp>
        <p:nvSpPr>
          <p:cNvPr id="25" name="Text 19"/>
          <p:cNvSpPr/>
          <p:nvPr/>
        </p:nvSpPr>
        <p:spPr>
          <a:xfrm>
            <a:off x="7498080" y="4736592"/>
            <a:ext cx="3931920" cy="365760"/>
          </a:xfrm>
          <a:prstGeom prst="rect">
            <a:avLst/>
          </a:prstGeom>
          <a:noFill/>
          <a:ln/>
        </p:spPr>
        <p:txBody>
          <a:bodyPr wrap="square" rtlCol="0" anchor="ctr"/>
          <a:lstStyle/>
          <a:p>
            <a:pPr algn="l" indent="0" marL="0">
              <a:buNone/>
            </a:pPr>
            <a:r>
              <a:rPr lang="en-US" sz="1500" dirty="0">
                <a:solidFill>
                  <a:srgbClr val="3D4759"/>
                </a:solidFill>
                <a:latin typeface="Plus Jakarta Sans" pitchFamily="34" charset="0"/>
                <a:ea typeface="Plus Jakarta Sans" pitchFamily="34" charset="-122"/>
                <a:cs typeface="Plus Jakarta Sans" pitchFamily="34" charset="-120"/>
              </a:rPr>
              <a:t>Interior Exotics</a:t>
            </a:r>
            <a:endParaRPr lang="en-US" sz="1500" dirty="0"/>
          </a:p>
        </p:txBody>
      </p:sp>
      <p:sp>
        <p:nvSpPr>
          <p:cNvPr id="26" name="Text 20"/>
          <p:cNvSpPr/>
          <p:nvPr/>
        </p:nvSpPr>
        <p:spPr>
          <a:xfrm>
            <a:off x="457200" y="5806440"/>
            <a:ext cx="11247120" cy="365760"/>
          </a:xfrm>
          <a:prstGeom prst="rect">
            <a:avLst/>
          </a:prstGeom>
          <a:noFill/>
          <a:ln/>
        </p:spPr>
        <p:txBody>
          <a:bodyPr wrap="square"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CSPO® · CSM · VP of Membership, IIBA Tampa Bay</a:t>
            </a:r>
            <a:endParaRPr lang="en-US" sz="1200" dirty="0"/>
          </a:p>
        </p:txBody>
      </p:sp>
      <p:sp>
        <p:nvSpPr>
          <p:cNvPr id="27" name="Shape 21"/>
          <p:cNvSpPr/>
          <p:nvPr/>
        </p:nvSpPr>
        <p:spPr>
          <a:xfrm>
            <a:off x="457200" y="6446520"/>
            <a:ext cx="11277295" cy="0"/>
          </a:xfrm>
          <a:prstGeom prst="line">
            <a:avLst/>
          </a:prstGeom>
          <a:noFill/>
          <a:ln w="9525">
            <a:solidFill>
              <a:srgbClr val="D5DDEA"/>
            </a:solidFill>
            <a:prstDash val="solid"/>
          </a:ln>
        </p:spPr>
      </p:sp>
      <p:sp>
        <p:nvSpPr>
          <p:cNvPr id="28" name="Text 22"/>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3 / 35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WHY THIS MATTERS</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THE THESIS</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4000" b="1" dirty="0">
                <a:solidFill>
                  <a:srgbClr val="0A1628"/>
                </a:solidFill>
                <a:latin typeface="Oswald" pitchFamily="34" charset="0"/>
                <a:ea typeface="Oswald" pitchFamily="34" charset="-122"/>
                <a:cs typeface="Oswald" pitchFamily="34" charset="-120"/>
              </a:rPr>
              <a:t>Time Will Save the World</a:t>
            </a:r>
            <a:endParaRPr lang="en-US" sz="4000" dirty="0"/>
          </a:p>
        </p:txBody>
      </p:sp>
      <p:pic>
        <p:nvPicPr>
          <p:cNvPr id="5" name="Image 0" descr="icons/clock-blue.png">    </p:cNvPr>
          <p:cNvPicPr>
            <a:picLocks noChangeAspect="1"/>
          </p:cNvPicPr>
          <p:nvPr/>
        </p:nvPicPr>
        <p:blipFill>
          <a:blip r:embed="rId1"/>
          <a:stretch>
            <a:fillRect/>
          </a:stretch>
        </p:blipFill>
        <p:spPr>
          <a:xfrm>
            <a:off x="9692640" y="2651760"/>
            <a:ext cx="1554480" cy="1554480"/>
          </a:xfrm>
          <a:prstGeom prst="rect">
            <a:avLst/>
          </a:prstGeom>
        </p:spPr>
      </p:pic>
      <p:sp>
        <p:nvSpPr>
          <p:cNvPr id="6" name="Shape 3"/>
          <p:cNvSpPr/>
          <p:nvPr/>
        </p:nvSpPr>
        <p:spPr>
          <a:xfrm>
            <a:off x="457200" y="2788920"/>
            <a:ext cx="91440" cy="1280160"/>
          </a:xfrm>
          <a:prstGeom prst="rect">
            <a:avLst/>
          </a:prstGeom>
          <a:solidFill>
            <a:srgbClr val="0066FF"/>
          </a:solidFill>
          <a:ln/>
        </p:spPr>
      </p:sp>
      <p:sp>
        <p:nvSpPr>
          <p:cNvPr id="7" name="Text 4"/>
          <p:cNvSpPr/>
          <p:nvPr/>
        </p:nvSpPr>
        <p:spPr>
          <a:xfrm>
            <a:off x="822960" y="2788920"/>
            <a:ext cx="8503920" cy="1280160"/>
          </a:xfrm>
          <a:prstGeom prst="rect">
            <a:avLst/>
          </a:prstGeom>
          <a:noFill/>
          <a:ln/>
        </p:spPr>
        <p:txBody>
          <a:bodyPr wrap="square" rtlCol="0" anchor="ctr"/>
          <a:lstStyle/>
          <a:p>
            <a:pPr algn="l" indent="0" marL="0">
              <a:buNone/>
            </a:pPr>
            <a:r>
              <a:rPr lang="en-US" sz="2600" i="1" dirty="0">
                <a:solidFill>
                  <a:srgbClr val="3D4759"/>
                </a:solidFill>
                <a:latin typeface="Plus Jakarta Sans" pitchFamily="34" charset="0"/>
                <a:ea typeface="Plus Jakarta Sans" pitchFamily="34" charset="-122"/>
                <a:cs typeface="Plus Jakarta Sans" pitchFamily="34" charset="-120"/>
              </a:rPr>
              <a:t>Not a slogan. A design constraint. Every agent in this deck exists to buy back an hour.</a:t>
            </a:r>
            <a:endParaRPr lang="en-US" sz="2600" dirty="0"/>
          </a:p>
        </p:txBody>
      </p:sp>
      <p:sp>
        <p:nvSpPr>
          <p:cNvPr id="8" name="Shape 5"/>
          <p:cNvSpPr/>
          <p:nvPr/>
        </p:nvSpPr>
        <p:spPr>
          <a:xfrm>
            <a:off x="457200" y="6446520"/>
            <a:ext cx="11277295" cy="0"/>
          </a:xfrm>
          <a:prstGeom prst="line">
            <a:avLst/>
          </a:prstGeom>
          <a:noFill/>
          <a:ln w="9525">
            <a:solidFill>
              <a:srgbClr val="D5DDEA"/>
            </a:solidFill>
            <a:prstDash val="solid"/>
          </a:ln>
        </p:spPr>
      </p:sp>
      <p:sp>
        <p:nvSpPr>
          <p:cNvPr id="9" name="Text 6"/>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4 / 35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WHY THIS MATTERS</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THE ROLE</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0A1628"/>
                </a:solidFill>
                <a:latin typeface="Oswald" pitchFamily="34" charset="0"/>
                <a:ea typeface="Oswald" pitchFamily="34" charset="-122"/>
                <a:cs typeface="Oswald" pitchFamily="34" charset="-120"/>
              </a:rPr>
              <a:t>Be an Enabler for Your Company</a:t>
            </a:r>
            <a:endParaRPr lang="en-US" sz="3400" dirty="0"/>
          </a:p>
        </p:txBody>
      </p:sp>
      <p:sp>
        <p:nvSpPr>
          <p:cNvPr id="5" name="Text 3"/>
          <p:cNvSpPr/>
          <p:nvPr/>
        </p:nvSpPr>
        <p:spPr>
          <a:xfrm>
            <a:off x="457200" y="2286000"/>
            <a:ext cx="6035040" cy="1371600"/>
          </a:xfrm>
          <a:prstGeom prst="rect">
            <a:avLst/>
          </a:prstGeom>
          <a:noFill/>
          <a:ln/>
        </p:spPr>
        <p:txBody>
          <a:bodyPr wrap="square" rtlCol="0" anchor="t"/>
          <a:lstStyle/>
          <a:p>
            <a:pPr algn="l" indent="0" marL="0">
              <a:buNone/>
            </a:pPr>
            <a:r>
              <a:rPr lang="en-US" sz="2200" dirty="0">
                <a:solidFill>
                  <a:srgbClr val="3D4759"/>
                </a:solidFill>
                <a:latin typeface="Plus Jakarta Sans" pitchFamily="34" charset="0"/>
                <a:ea typeface="Plus Jakarta Sans" pitchFamily="34" charset="-122"/>
                <a:cs typeface="Plus Jakarta Sans" pitchFamily="34" charset="-120"/>
              </a:rPr>
              <a:t>Every hour saved is an hour reinvested — into bigger, higher-value work.</a:t>
            </a:r>
            <a:endParaRPr lang="en-US" sz="2200" dirty="0"/>
          </a:p>
        </p:txBody>
      </p:sp>
      <p:sp>
        <p:nvSpPr>
          <p:cNvPr id="6" name="Shape 4"/>
          <p:cNvSpPr/>
          <p:nvPr/>
        </p:nvSpPr>
        <p:spPr>
          <a:xfrm>
            <a:off x="457200" y="3794760"/>
            <a:ext cx="6583680" cy="1463040"/>
          </a:xfrm>
          <a:prstGeom prst="roundRect">
            <a:avLst>
              <a:gd name="adj" fmla="val 6250"/>
            </a:avLst>
          </a:prstGeom>
          <a:solidFill>
            <a:srgbClr val="FFFFFF"/>
          </a:solidFill>
          <a:ln w="9525">
            <a:solidFill>
              <a:srgbClr val="D5DDEA"/>
            </a:solidFill>
            <a:prstDash val="solid"/>
          </a:ln>
        </p:spPr>
      </p:sp>
      <p:sp>
        <p:nvSpPr>
          <p:cNvPr id="7" name="Shape 5"/>
          <p:cNvSpPr/>
          <p:nvPr/>
        </p:nvSpPr>
        <p:spPr>
          <a:xfrm>
            <a:off x="457200" y="3794760"/>
            <a:ext cx="73152" cy="1463040"/>
          </a:xfrm>
          <a:prstGeom prst="rect">
            <a:avLst/>
          </a:prstGeom>
          <a:solidFill>
            <a:srgbClr val="0066FF"/>
          </a:solidFill>
          <a:ln/>
        </p:spPr>
      </p:sp>
      <p:sp>
        <p:nvSpPr>
          <p:cNvPr id="8" name="Text 6"/>
          <p:cNvSpPr/>
          <p:nvPr/>
        </p:nvSpPr>
        <p:spPr>
          <a:xfrm>
            <a:off x="777240" y="3794760"/>
            <a:ext cx="6035040" cy="1463040"/>
          </a:xfrm>
          <a:prstGeom prst="rect">
            <a:avLst/>
          </a:prstGeom>
          <a:noFill/>
          <a:ln/>
        </p:spPr>
        <p:txBody>
          <a:bodyPr wrap="square" rtlCol="0" anchor="ctr"/>
          <a:lstStyle/>
          <a:p>
            <a:pPr algn="l" indent="0" marL="0">
              <a:buNone/>
            </a:pPr>
            <a:r>
              <a:rPr lang="en-US" sz="1500" i="1" dirty="0">
                <a:solidFill>
                  <a:srgbClr val="3D4759"/>
                </a:solidFill>
                <a:latin typeface="Plus Jakarta Sans" pitchFamily="34" charset="0"/>
                <a:ea typeface="Plus Jakarta Sans" pitchFamily="34" charset="-122"/>
                <a:cs typeface="Plus Jakarta Sans" pitchFamily="34" charset="-120"/>
              </a:rPr>
              <a:t>This breaks down the moment saving time becomes the goal instead of the byproduct. The goal is always the bigger work it buys you.</a:t>
            </a:r>
            <a:endParaRPr lang="en-US" sz="1500" dirty="0"/>
          </a:p>
        </p:txBody>
      </p:sp>
      <p:sp>
        <p:nvSpPr>
          <p:cNvPr id="9" name="Shape 7"/>
          <p:cNvSpPr/>
          <p:nvPr/>
        </p:nvSpPr>
        <p:spPr>
          <a:xfrm>
            <a:off x="7635240" y="2286000"/>
            <a:ext cx="4069080" cy="2971800"/>
          </a:xfrm>
          <a:prstGeom prst="roundRect">
            <a:avLst>
              <a:gd name="adj" fmla="val 3692"/>
            </a:avLst>
          </a:prstGeom>
          <a:solidFill>
            <a:srgbClr val="0A1628"/>
          </a:solidFill>
          <a:ln/>
        </p:spPr>
      </p:sp>
      <p:pic>
        <p:nvPicPr>
          <p:cNvPr id="10" name="Image 0" descr="icons/lightbulb-white.png">    </p:cNvPr>
          <p:cNvPicPr>
            <a:picLocks noChangeAspect="1"/>
          </p:cNvPicPr>
          <p:nvPr/>
        </p:nvPicPr>
        <p:blipFill>
          <a:blip r:embed="rId1"/>
          <a:stretch>
            <a:fillRect/>
          </a:stretch>
        </p:blipFill>
        <p:spPr>
          <a:xfrm>
            <a:off x="9189720" y="3200400"/>
            <a:ext cx="960120" cy="960120"/>
          </a:xfrm>
          <a:prstGeom prst="rect">
            <a:avLst/>
          </a:prstGeom>
        </p:spPr>
      </p:pic>
      <p:sp>
        <p:nvSpPr>
          <p:cNvPr id="11" name="Text 8"/>
          <p:cNvSpPr/>
          <p:nvPr/>
        </p:nvSpPr>
        <p:spPr>
          <a:xfrm>
            <a:off x="7635240" y="4434840"/>
            <a:ext cx="4069080" cy="320040"/>
          </a:xfrm>
          <a:prstGeom prst="rect">
            <a:avLst/>
          </a:prstGeom>
          <a:noFill/>
          <a:ln/>
        </p:spPr>
        <p:txBody>
          <a:bodyPr wrap="square" rtlCol="0" anchor="ctr"/>
          <a:lstStyle/>
          <a:p>
            <a:pPr algn="ctr" indent="0" marL="0">
              <a:buNone/>
            </a:pPr>
            <a:r>
              <a:rPr lang="en-US" sz="1300" b="1" spc="200" kern="0" dirty="0">
                <a:solidFill>
                  <a:srgbClr val="0066FF"/>
                </a:solidFill>
                <a:latin typeface="Oswald" pitchFamily="34" charset="0"/>
                <a:ea typeface="Oswald" pitchFamily="34" charset="-122"/>
                <a:cs typeface="Oswald" pitchFamily="34" charset="-120"/>
              </a:rPr>
              <a:t>THE REFRAME</a:t>
            </a:r>
            <a:endParaRPr lang="en-US" sz="1300" dirty="0"/>
          </a:p>
        </p:txBody>
      </p:sp>
      <p:sp>
        <p:nvSpPr>
          <p:cNvPr id="12" name="Shape 9"/>
          <p:cNvSpPr/>
          <p:nvPr/>
        </p:nvSpPr>
        <p:spPr>
          <a:xfrm>
            <a:off x="457200" y="6446520"/>
            <a:ext cx="11277295" cy="0"/>
          </a:xfrm>
          <a:prstGeom prst="line">
            <a:avLst/>
          </a:prstGeom>
          <a:noFill/>
          <a:ln w="9525">
            <a:solidFill>
              <a:srgbClr val="D5DDEA"/>
            </a:solidFill>
            <a:prstDash val="solid"/>
          </a:ln>
        </p:spPr>
      </p:sp>
      <p:sp>
        <p:nvSpPr>
          <p:cNvPr id="13" name="Text 10"/>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5 / 35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645920" y="-1645920"/>
            <a:ext cx="3657600" cy="3657600"/>
          </a:xfrm>
          <a:prstGeom prst="ellipse">
            <a:avLst/>
          </a:prstGeom>
          <a:solidFill>
            <a:srgbClr val="0066FF">
              <a:alpha val="15000"/>
            </a:srgbClr>
          </a:solidFill>
          <a:ln/>
        </p:spPr>
      </p:sp>
      <p:sp>
        <p:nvSpPr>
          <p:cNvPr id="3" name="Shape 1"/>
          <p:cNvSpPr/>
          <p:nvPr/>
        </p:nvSpPr>
        <p:spPr>
          <a:xfrm>
            <a:off x="9326880" y="4389120"/>
            <a:ext cx="3291840" cy="3291840"/>
          </a:xfrm>
          <a:prstGeom prst="ellipse">
            <a:avLst/>
          </a:prstGeom>
          <a:solidFill>
            <a:srgbClr val="D5DDEA">
              <a:alpha val="12000"/>
            </a:srgbClr>
          </a:solidFill>
          <a:ln/>
        </p:spPr>
      </p:sp>
      <p:sp>
        <p:nvSpPr>
          <p:cNvPr id="4" name="Text 2"/>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WHY THIS MATTERS</a:t>
            </a:r>
            <a:endParaRPr lang="en-US" sz="1400" dirty="0"/>
          </a:p>
        </p:txBody>
      </p:sp>
      <p:sp>
        <p:nvSpPr>
          <p:cNvPr id="5" name="Text 3"/>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AEBACD"/>
                </a:solidFill>
                <a:latin typeface="Plus Jakarta Sans" pitchFamily="34" charset="0"/>
                <a:ea typeface="Plus Jakarta Sans" pitchFamily="34" charset="-122"/>
                <a:cs typeface="Plus Jakarta Sans" pitchFamily="34" charset="-120"/>
              </a:rPr>
              <a:t>SHOW OF HANDS</a:t>
            </a:r>
            <a:endParaRPr lang="en-US" sz="1200" dirty="0"/>
          </a:p>
        </p:txBody>
      </p:sp>
      <p:sp>
        <p:nvSpPr>
          <p:cNvPr id="6" name="Text 4"/>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FFFFFF"/>
                </a:solidFill>
                <a:latin typeface="Oswald" pitchFamily="34" charset="0"/>
                <a:ea typeface="Oswald" pitchFamily="34" charset="-122"/>
                <a:cs typeface="Oswald" pitchFamily="34" charset="-120"/>
              </a:rPr>
              <a:t>Quick Show of Hands</a:t>
            </a:r>
            <a:endParaRPr lang="en-US" sz="3400" dirty="0"/>
          </a:p>
        </p:txBody>
      </p:sp>
      <p:pic>
        <p:nvPicPr>
          <p:cNvPr id="7" name="Image 0" descr="icons/hand-white.png">    </p:cNvPr>
          <p:cNvPicPr>
            <a:picLocks noChangeAspect="1"/>
          </p:cNvPicPr>
          <p:nvPr/>
        </p:nvPicPr>
        <p:blipFill>
          <a:blip r:embed="rId1"/>
          <a:stretch>
            <a:fillRect/>
          </a:stretch>
        </p:blipFill>
        <p:spPr>
          <a:xfrm>
            <a:off x="5550408" y="2194560"/>
            <a:ext cx="1097280" cy="1097280"/>
          </a:xfrm>
          <a:prstGeom prst="rect">
            <a:avLst/>
          </a:prstGeom>
        </p:spPr>
      </p:pic>
      <p:sp>
        <p:nvSpPr>
          <p:cNvPr id="8" name="Text 5"/>
          <p:cNvSpPr/>
          <p:nvPr/>
        </p:nvSpPr>
        <p:spPr>
          <a:xfrm>
            <a:off x="1984248" y="3520440"/>
            <a:ext cx="8229600" cy="1188720"/>
          </a:xfrm>
          <a:prstGeom prst="rect">
            <a:avLst/>
          </a:prstGeom>
          <a:noFill/>
          <a:ln/>
        </p:spPr>
        <p:txBody>
          <a:bodyPr wrap="square" rtlCol="0" anchor="t"/>
          <a:lstStyle/>
          <a:p>
            <a:pPr algn="ctr" indent="0" marL="0">
              <a:buNone/>
            </a:pPr>
            <a:r>
              <a:rPr lang="en-US" sz="2400" dirty="0">
                <a:solidFill>
                  <a:srgbClr val="FFFFFF"/>
                </a:solidFill>
                <a:latin typeface="Plus Jakarta Sans" pitchFamily="34" charset="0"/>
                <a:ea typeface="Plus Jakarta Sans" pitchFamily="34" charset="-122"/>
                <a:cs typeface="Plus Jakarta Sans" pitchFamily="34" charset="-120"/>
              </a:rPr>
              <a:t>Who here is currently using Visual Studio Code with Claude, or Claude Code, at your company?</a:t>
            </a:r>
            <a:endParaRPr lang="en-US" sz="2400" dirty="0"/>
          </a:p>
        </p:txBody>
      </p:sp>
      <p:sp>
        <p:nvSpPr>
          <p:cNvPr id="9" name="Shape 6"/>
          <p:cNvSpPr/>
          <p:nvPr/>
        </p:nvSpPr>
        <p:spPr>
          <a:xfrm>
            <a:off x="457200" y="6446520"/>
            <a:ext cx="11277295" cy="0"/>
          </a:xfrm>
          <a:prstGeom prst="line">
            <a:avLst/>
          </a:prstGeom>
          <a:noFill/>
          <a:ln w="9525">
            <a:solidFill>
              <a:srgbClr val="3D4759"/>
            </a:solidFill>
            <a:prstDash val="solid"/>
          </a:ln>
        </p:spPr>
      </p:sp>
      <p:sp>
        <p:nvSpPr>
          <p:cNvPr id="10" name="Text 7"/>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AEBACD"/>
                </a:solidFill>
                <a:latin typeface="Plus Jakarta Sans" pitchFamily="34" charset="0"/>
                <a:ea typeface="Plus Jakarta Sans" pitchFamily="34" charset="-122"/>
                <a:cs typeface="Plus Jakarta Sans" pitchFamily="34" charset="-120"/>
              </a:rPr>
              <a:t>6 / 35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WHY THIS MATTERS</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THE HOOK</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0A1628"/>
                </a:solidFill>
                <a:latin typeface="Oswald" pitchFamily="34" charset="0"/>
                <a:ea typeface="Oswald" pitchFamily="34" charset="-122"/>
                <a:cs typeface="Oswald" pitchFamily="34" charset="-120"/>
              </a:rPr>
              <a:t>What If Today Was the Day?</a:t>
            </a:r>
            <a:endParaRPr lang="en-US" sz="3400" dirty="0"/>
          </a:p>
        </p:txBody>
      </p:sp>
      <p:sp>
        <p:nvSpPr>
          <p:cNvPr id="5" name="Shape 3"/>
          <p:cNvSpPr/>
          <p:nvPr/>
        </p:nvSpPr>
        <p:spPr>
          <a:xfrm>
            <a:off x="1554480" y="2377440"/>
            <a:ext cx="9052560" cy="2834640"/>
          </a:xfrm>
          <a:prstGeom prst="roundRect">
            <a:avLst>
              <a:gd name="adj" fmla="val 3871"/>
            </a:avLst>
          </a:prstGeom>
          <a:solidFill>
            <a:srgbClr val="FFFFFF"/>
          </a:solidFill>
          <a:ln w="9525">
            <a:solidFill>
              <a:srgbClr val="D5DDEA"/>
            </a:solidFill>
            <a:prstDash val="solid"/>
          </a:ln>
        </p:spPr>
      </p:sp>
      <p:sp>
        <p:nvSpPr>
          <p:cNvPr id="6" name="Shape 4"/>
          <p:cNvSpPr/>
          <p:nvPr/>
        </p:nvSpPr>
        <p:spPr>
          <a:xfrm>
            <a:off x="5504688" y="2103120"/>
            <a:ext cx="1188720" cy="1188720"/>
          </a:xfrm>
          <a:prstGeom prst="ellipse">
            <a:avLst/>
          </a:prstGeom>
          <a:solidFill>
            <a:srgbClr val="0066FF"/>
          </a:solidFill>
          <a:ln/>
        </p:spPr>
      </p:sp>
      <p:pic>
        <p:nvPicPr>
          <p:cNvPr id="7" name="Image 0" descr="icons/rocket-white.png">    </p:cNvPr>
          <p:cNvPicPr>
            <a:picLocks noChangeAspect="1"/>
          </p:cNvPicPr>
          <p:nvPr/>
        </p:nvPicPr>
        <p:blipFill>
          <a:blip r:embed="rId1"/>
          <a:stretch>
            <a:fillRect/>
          </a:stretch>
        </p:blipFill>
        <p:spPr>
          <a:xfrm>
            <a:off x="5779008" y="2377440"/>
            <a:ext cx="640080" cy="640080"/>
          </a:xfrm>
          <a:prstGeom prst="rect">
            <a:avLst/>
          </a:prstGeom>
        </p:spPr>
      </p:pic>
      <p:sp>
        <p:nvSpPr>
          <p:cNvPr id="8" name="Text 5"/>
          <p:cNvSpPr/>
          <p:nvPr/>
        </p:nvSpPr>
        <p:spPr>
          <a:xfrm>
            <a:off x="2103120" y="3520440"/>
            <a:ext cx="7955280" cy="1463040"/>
          </a:xfrm>
          <a:prstGeom prst="rect">
            <a:avLst/>
          </a:prstGeom>
          <a:noFill/>
          <a:ln/>
        </p:spPr>
        <p:txBody>
          <a:bodyPr wrap="square" rtlCol="0" anchor="t"/>
          <a:lstStyle/>
          <a:p>
            <a:pPr algn="l" indent="0" marL="0">
              <a:buNone/>
            </a:pPr>
            <a:r>
              <a:rPr lang="en-US" sz="2100" dirty="0">
                <a:solidFill>
                  <a:srgbClr val="3D4759"/>
                </a:solidFill>
                <a:latin typeface="Plus Jakarta Sans" pitchFamily="34" charset="0"/>
                <a:ea typeface="Plus Jakarta Sans" pitchFamily="34" charset="-122"/>
                <a:cs typeface="Plus Jakarta Sans" pitchFamily="34" charset="-120"/>
              </a:rPr>
              <a:t>What if you left tonight with the knowledge to build some of the most powerful, resourceful agents to support your work, day-to-day?</a:t>
            </a:r>
            <a:endParaRPr lang="en-US" sz="2100" dirty="0"/>
          </a:p>
        </p:txBody>
      </p:sp>
      <p:sp>
        <p:nvSpPr>
          <p:cNvPr id="9" name="Shape 6"/>
          <p:cNvSpPr/>
          <p:nvPr/>
        </p:nvSpPr>
        <p:spPr>
          <a:xfrm>
            <a:off x="457200" y="6446520"/>
            <a:ext cx="11277295" cy="0"/>
          </a:xfrm>
          <a:prstGeom prst="line">
            <a:avLst/>
          </a:prstGeom>
          <a:noFill/>
          <a:ln w="9525">
            <a:solidFill>
              <a:srgbClr val="D5DDEA"/>
            </a:solidFill>
            <a:prstDash val="solid"/>
          </a:ln>
        </p:spPr>
      </p:sp>
      <p:sp>
        <p:nvSpPr>
          <p:cNvPr id="10" name="Text 7"/>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7 / 35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WHY THIS MATTERS</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CASE STUDY</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0A1628"/>
                </a:solidFill>
                <a:latin typeface="Oswald" pitchFamily="34" charset="0"/>
                <a:ea typeface="Oswald" pitchFamily="34" charset="-122"/>
                <a:cs typeface="Oswald" pitchFamily="34" charset="-120"/>
              </a:rPr>
              <a:t>Case Study: From Manual to Automated</a:t>
            </a:r>
            <a:endParaRPr lang="en-US" sz="3400" dirty="0"/>
          </a:p>
        </p:txBody>
      </p:sp>
      <p:sp>
        <p:nvSpPr>
          <p:cNvPr id="5" name="Shape 3"/>
          <p:cNvSpPr/>
          <p:nvPr/>
        </p:nvSpPr>
        <p:spPr>
          <a:xfrm>
            <a:off x="457200" y="1965960"/>
            <a:ext cx="5212080" cy="3200400"/>
          </a:xfrm>
          <a:prstGeom prst="roundRect">
            <a:avLst>
              <a:gd name="adj" fmla="val 2857"/>
            </a:avLst>
          </a:prstGeom>
          <a:solidFill>
            <a:srgbClr val="FFFFFF"/>
          </a:solidFill>
          <a:ln w="12700">
            <a:solidFill>
              <a:srgbClr val="D5DDEA"/>
            </a:solidFill>
            <a:prstDash val="solid"/>
          </a:ln>
        </p:spPr>
      </p:sp>
      <p:pic>
        <p:nvPicPr>
          <p:cNvPr id="6" name="Image 0" descr="icons/fileLines-slate.png">    </p:cNvPr>
          <p:cNvPicPr>
            <a:picLocks noChangeAspect="1"/>
          </p:cNvPicPr>
          <p:nvPr/>
        </p:nvPicPr>
        <p:blipFill>
          <a:blip r:embed="rId1"/>
          <a:stretch>
            <a:fillRect/>
          </a:stretch>
        </p:blipFill>
        <p:spPr>
          <a:xfrm>
            <a:off x="777240" y="2286000"/>
            <a:ext cx="502920" cy="502920"/>
          </a:xfrm>
          <a:prstGeom prst="rect">
            <a:avLst/>
          </a:prstGeom>
        </p:spPr>
      </p:pic>
      <p:sp>
        <p:nvSpPr>
          <p:cNvPr id="7" name="Text 4"/>
          <p:cNvSpPr/>
          <p:nvPr/>
        </p:nvSpPr>
        <p:spPr>
          <a:xfrm>
            <a:off x="1417320" y="2286000"/>
            <a:ext cx="3931920" cy="502920"/>
          </a:xfrm>
          <a:prstGeom prst="rect">
            <a:avLst/>
          </a:prstGeom>
          <a:noFill/>
          <a:ln/>
        </p:spPr>
        <p:txBody>
          <a:bodyPr wrap="square" lIns="0" tIns="0" rIns="0" bIns="0" rtlCol="0" anchor="ctr"/>
          <a:lstStyle/>
          <a:p>
            <a:pPr algn="l" indent="0" marL="0">
              <a:buNone/>
            </a:pPr>
            <a:r>
              <a:rPr lang="en-US" sz="1800" b="1" spc="100" kern="0" dirty="0">
                <a:solidFill>
                  <a:srgbClr val="3D4759"/>
                </a:solidFill>
                <a:latin typeface="Oswald" pitchFamily="34" charset="0"/>
                <a:ea typeface="Oswald" pitchFamily="34" charset="-122"/>
                <a:cs typeface="Oswald" pitchFamily="34" charset="-120"/>
              </a:rPr>
              <a:t>BEFORE</a:t>
            </a:r>
            <a:endParaRPr lang="en-US" sz="1800" dirty="0"/>
          </a:p>
        </p:txBody>
      </p:sp>
      <p:sp>
        <p:nvSpPr>
          <p:cNvPr id="8" name="Shape 5"/>
          <p:cNvSpPr/>
          <p:nvPr/>
        </p:nvSpPr>
        <p:spPr>
          <a:xfrm>
            <a:off x="777240" y="3017520"/>
            <a:ext cx="4572000" cy="0"/>
          </a:xfrm>
          <a:prstGeom prst="line">
            <a:avLst/>
          </a:prstGeom>
          <a:noFill/>
          <a:ln w="9525">
            <a:solidFill>
              <a:srgbClr val="D5DDEA"/>
            </a:solidFill>
            <a:prstDash val="solid"/>
          </a:ln>
        </p:spPr>
      </p:sp>
      <p:sp>
        <p:nvSpPr>
          <p:cNvPr id="9" name="Text 6"/>
          <p:cNvSpPr/>
          <p:nvPr/>
        </p:nvSpPr>
        <p:spPr>
          <a:xfrm>
            <a:off x="777240" y="3246120"/>
            <a:ext cx="4572000" cy="1737360"/>
          </a:xfrm>
          <a:prstGeom prst="rect">
            <a:avLst/>
          </a:prstGeom>
          <a:noFill/>
          <a:ln/>
        </p:spPr>
        <p:txBody>
          <a:bodyPr wrap="square" lIns="0" tIns="0" rIns="0" bIns="0" rtlCol="0" anchor="t"/>
          <a:lstStyle/>
          <a:p>
            <a:pPr algn="l" indent="0" marL="0">
              <a:lnSpc>
                <a:spcPts val="2400"/>
              </a:lnSpc>
              <a:buNone/>
            </a:pPr>
            <a:r>
              <a:rPr lang="en-US" sz="1600" dirty="0">
                <a:solidFill>
                  <a:srgbClr val="0A1628"/>
                </a:solidFill>
                <a:latin typeface="Plus Jakarta Sans" pitchFamily="34" charset="0"/>
                <a:ea typeface="Plus Jakarta Sans" pitchFamily="34" charset="-122"/>
                <a:cs typeface="Plus Jakarta Sans" pitchFamily="34" charset="-120"/>
              </a:rPr>
              <a:t>The product team manually queried data and wrote release notes by hand — every cycle, every release.</a:t>
            </a:r>
            <a:endParaRPr lang="en-US" sz="1600" dirty="0"/>
          </a:p>
        </p:txBody>
      </p:sp>
      <p:sp>
        <p:nvSpPr>
          <p:cNvPr id="10" name="Shape 7"/>
          <p:cNvSpPr/>
          <p:nvPr/>
        </p:nvSpPr>
        <p:spPr>
          <a:xfrm>
            <a:off x="5788152" y="3273552"/>
            <a:ext cx="585216" cy="585216"/>
          </a:xfrm>
          <a:prstGeom prst="ellipse">
            <a:avLst/>
          </a:prstGeom>
          <a:solidFill>
            <a:srgbClr val="0066FF"/>
          </a:solidFill>
          <a:ln/>
        </p:spPr>
      </p:sp>
      <p:pic>
        <p:nvPicPr>
          <p:cNvPr id="11" name="Image 1" descr="icons/arrowRight-white.png">    </p:cNvPr>
          <p:cNvPicPr>
            <a:picLocks noChangeAspect="1"/>
          </p:cNvPicPr>
          <p:nvPr/>
        </p:nvPicPr>
        <p:blipFill>
          <a:blip r:embed="rId2"/>
          <a:stretch>
            <a:fillRect/>
          </a:stretch>
        </p:blipFill>
        <p:spPr>
          <a:xfrm>
            <a:off x="5916168" y="3401568"/>
            <a:ext cx="329184" cy="329184"/>
          </a:xfrm>
          <a:prstGeom prst="rect">
            <a:avLst/>
          </a:prstGeom>
        </p:spPr>
      </p:pic>
      <p:sp>
        <p:nvSpPr>
          <p:cNvPr id="12" name="Shape 8"/>
          <p:cNvSpPr/>
          <p:nvPr/>
        </p:nvSpPr>
        <p:spPr>
          <a:xfrm>
            <a:off x="6492240" y="1965960"/>
            <a:ext cx="5212080" cy="3200400"/>
          </a:xfrm>
          <a:prstGeom prst="roundRect">
            <a:avLst>
              <a:gd name="adj" fmla="val 2857"/>
            </a:avLst>
          </a:prstGeom>
          <a:solidFill>
            <a:srgbClr val="0A1628"/>
          </a:solidFill>
          <a:ln w="12700">
            <a:solidFill>
              <a:srgbClr val="0A1628"/>
            </a:solidFill>
            <a:prstDash val="solid"/>
          </a:ln>
        </p:spPr>
      </p:sp>
      <p:pic>
        <p:nvPicPr>
          <p:cNvPr id="13" name="Image 2" descr="icons/checkCircle-white.png">    </p:cNvPr>
          <p:cNvPicPr>
            <a:picLocks noChangeAspect="1"/>
          </p:cNvPicPr>
          <p:nvPr/>
        </p:nvPicPr>
        <p:blipFill>
          <a:blip r:embed="rId3"/>
          <a:stretch>
            <a:fillRect/>
          </a:stretch>
        </p:blipFill>
        <p:spPr>
          <a:xfrm>
            <a:off x="6812280" y="2286000"/>
            <a:ext cx="502920" cy="502920"/>
          </a:xfrm>
          <a:prstGeom prst="rect">
            <a:avLst/>
          </a:prstGeom>
        </p:spPr>
      </p:pic>
      <p:sp>
        <p:nvSpPr>
          <p:cNvPr id="14" name="Text 9"/>
          <p:cNvSpPr/>
          <p:nvPr/>
        </p:nvSpPr>
        <p:spPr>
          <a:xfrm>
            <a:off x="7452360" y="2286000"/>
            <a:ext cx="3931920" cy="502920"/>
          </a:xfrm>
          <a:prstGeom prst="rect">
            <a:avLst/>
          </a:prstGeom>
          <a:noFill/>
          <a:ln/>
        </p:spPr>
        <p:txBody>
          <a:bodyPr wrap="square" lIns="0" tIns="0" rIns="0" bIns="0" rtlCol="0" anchor="ctr"/>
          <a:lstStyle/>
          <a:p>
            <a:pPr algn="l" indent="0" marL="0">
              <a:buNone/>
            </a:pPr>
            <a:r>
              <a:rPr lang="en-US" sz="1800" b="1" spc="100" kern="0" dirty="0">
                <a:solidFill>
                  <a:srgbClr val="0066FF"/>
                </a:solidFill>
                <a:latin typeface="Oswald" pitchFamily="34" charset="0"/>
                <a:ea typeface="Oswald" pitchFamily="34" charset="-122"/>
                <a:cs typeface="Oswald" pitchFamily="34" charset="-120"/>
              </a:rPr>
              <a:t>AFTER</a:t>
            </a:r>
            <a:endParaRPr lang="en-US" sz="1800" dirty="0"/>
          </a:p>
        </p:txBody>
      </p:sp>
      <p:sp>
        <p:nvSpPr>
          <p:cNvPr id="15" name="Shape 10"/>
          <p:cNvSpPr/>
          <p:nvPr/>
        </p:nvSpPr>
        <p:spPr>
          <a:xfrm>
            <a:off x="6812280" y="3017520"/>
            <a:ext cx="4572000" cy="0"/>
          </a:xfrm>
          <a:prstGeom prst="line">
            <a:avLst/>
          </a:prstGeom>
          <a:noFill/>
          <a:ln w="9525">
            <a:solidFill>
              <a:srgbClr val="3D4759"/>
            </a:solidFill>
            <a:prstDash val="solid"/>
          </a:ln>
        </p:spPr>
      </p:sp>
      <p:sp>
        <p:nvSpPr>
          <p:cNvPr id="16" name="Text 11"/>
          <p:cNvSpPr/>
          <p:nvPr/>
        </p:nvSpPr>
        <p:spPr>
          <a:xfrm>
            <a:off x="6812280" y="3246120"/>
            <a:ext cx="4572000" cy="1737360"/>
          </a:xfrm>
          <a:prstGeom prst="rect">
            <a:avLst/>
          </a:prstGeom>
          <a:noFill/>
          <a:ln/>
        </p:spPr>
        <p:txBody>
          <a:bodyPr wrap="square" lIns="0" tIns="0" rIns="0" bIns="0" rtlCol="0" anchor="t"/>
          <a:lstStyle/>
          <a:p>
            <a:pPr algn="l" indent="0" marL="0">
              <a:lnSpc>
                <a:spcPts val="2400"/>
              </a:lnSpc>
              <a:buNone/>
            </a:pPr>
            <a:r>
              <a:rPr lang="en-US" sz="1600" dirty="0">
                <a:solidFill>
                  <a:srgbClr val="FFFFFF"/>
                </a:solidFill>
                <a:latin typeface="Plus Jakarta Sans" pitchFamily="34" charset="0"/>
                <a:ea typeface="Plus Jakarta Sans" pitchFamily="34" charset="-122"/>
                <a:cs typeface="Plus Jakarta Sans" pitchFamily="34" charset="-120"/>
              </a:rPr>
              <a:t>Connected AI agents handle it end-to-end — hours saved, reinvested straight back into the company.</a:t>
            </a:r>
            <a:endParaRPr lang="en-US" sz="1600" dirty="0"/>
          </a:p>
        </p:txBody>
      </p:sp>
      <p:sp>
        <p:nvSpPr>
          <p:cNvPr id="17" name="Text 12"/>
          <p:cNvSpPr/>
          <p:nvPr/>
        </p:nvSpPr>
        <p:spPr>
          <a:xfrm>
            <a:off x="457200" y="5349240"/>
            <a:ext cx="11277295" cy="502920"/>
          </a:xfrm>
          <a:prstGeom prst="rect">
            <a:avLst/>
          </a:prstGeom>
          <a:noFill/>
          <a:ln/>
        </p:spPr>
        <p:txBody>
          <a:bodyPr wrap="square" lIns="0" tIns="0" rIns="0" bIns="0" rtlCol="0" anchor="t"/>
          <a:lstStyle/>
          <a:p>
            <a:pPr algn="l" indent="0" marL="0">
              <a:buNone/>
            </a:pPr>
            <a:r>
              <a:rPr lang="en-US" sz="1600" i="1" dirty="0">
                <a:solidFill>
                  <a:srgbClr val="3D4759"/>
                </a:solidFill>
                <a:latin typeface="Plus Jakarta Sans" pitchFamily="34" charset="0"/>
                <a:ea typeface="Plus Jakarta Sans" pitchFamily="34" charset="-122"/>
                <a:cs typeface="Plus Jakarta Sans" pitchFamily="34" charset="-120"/>
              </a:rPr>
              <a:t>The team didn't get faster at querying data. They stopped being the ones who had to.</a:t>
            </a:r>
            <a:endParaRPr lang="en-US" sz="1600" dirty="0"/>
          </a:p>
        </p:txBody>
      </p:sp>
      <p:sp>
        <p:nvSpPr>
          <p:cNvPr id="18" name="Shape 13"/>
          <p:cNvSpPr/>
          <p:nvPr/>
        </p:nvSpPr>
        <p:spPr>
          <a:xfrm>
            <a:off x="457200" y="6446520"/>
            <a:ext cx="11277295" cy="0"/>
          </a:xfrm>
          <a:prstGeom prst="line">
            <a:avLst/>
          </a:prstGeom>
          <a:noFill/>
          <a:ln w="9525">
            <a:solidFill>
              <a:srgbClr val="D5DDEA"/>
            </a:solidFill>
            <a:prstDash val="solid"/>
          </a:ln>
        </p:spPr>
      </p:sp>
      <p:sp>
        <p:nvSpPr>
          <p:cNvPr id="19" name="Text 14"/>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8 / 35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066FF"/>
          </a:solidFill>
          <a:ln/>
        </p:spPr>
      </p:sp>
      <p:sp>
        <p:nvSpPr>
          <p:cNvPr id="3" name="Text 1"/>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TRANSITION</a:t>
            </a:r>
            <a:endParaRPr lang="en-US" sz="1400" dirty="0"/>
          </a:p>
        </p:txBody>
      </p:sp>
      <p:sp>
        <p:nvSpPr>
          <p:cNvPr id="4" name="Text 2"/>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AEBACD"/>
                </a:solidFill>
                <a:latin typeface="Plus Jakarta Sans" pitchFamily="34" charset="0"/>
                <a:ea typeface="Plus Jakarta Sans" pitchFamily="34" charset="-122"/>
                <a:cs typeface="Plus Jakarta Sans" pitchFamily="34" charset="-120"/>
              </a:rPr>
              <a:t>FOUNDATIONS</a:t>
            </a:r>
            <a:endParaRPr lang="en-US" sz="1200" dirty="0"/>
          </a:p>
        </p:txBody>
      </p:sp>
      <p:sp>
        <p:nvSpPr>
          <p:cNvPr id="5" name="Text 3"/>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FFFFFF"/>
                </a:solidFill>
                <a:latin typeface="Oswald" pitchFamily="34" charset="0"/>
                <a:ea typeface="Oswald" pitchFamily="34" charset="-122"/>
                <a:cs typeface="Oswald" pitchFamily="34" charset="-120"/>
              </a:rPr>
              <a:t>How AI Actually Works</a:t>
            </a:r>
            <a:endParaRPr lang="en-US" sz="3400" dirty="0"/>
          </a:p>
        </p:txBody>
      </p:sp>
      <p:sp>
        <p:nvSpPr>
          <p:cNvPr id="6" name="Text 4"/>
          <p:cNvSpPr/>
          <p:nvPr/>
        </p:nvSpPr>
        <p:spPr>
          <a:xfrm>
            <a:off x="685800" y="1828800"/>
            <a:ext cx="6400800" cy="2651760"/>
          </a:xfrm>
          <a:prstGeom prst="rect">
            <a:avLst/>
          </a:prstGeom>
          <a:noFill/>
          <a:ln/>
        </p:spPr>
        <p:txBody>
          <a:bodyPr wrap="square" lIns="0" tIns="0" rIns="0" bIns="0" rtlCol="0" anchor="ctr"/>
          <a:lstStyle/>
          <a:p>
            <a:pPr algn="l" indent="0" marL="0">
              <a:buNone/>
            </a:pPr>
            <a:r>
              <a:rPr lang="en-US" sz="22000" b="1" dirty="0">
                <a:solidFill>
                  <a:srgbClr val="0066FF"/>
                </a:solidFill>
                <a:latin typeface="Oswald" pitchFamily="34" charset="0"/>
                <a:ea typeface="Oswald" pitchFamily="34" charset="-122"/>
                <a:cs typeface="Oswald" pitchFamily="34" charset="-120"/>
              </a:rPr>
              <a:t>02</a:t>
            </a:r>
            <a:endParaRPr lang="en-US" sz="22000" dirty="0"/>
          </a:p>
        </p:txBody>
      </p:sp>
      <p:sp>
        <p:nvSpPr>
          <p:cNvPr id="7" name="Text 5"/>
          <p:cNvSpPr/>
          <p:nvPr/>
        </p:nvSpPr>
        <p:spPr>
          <a:xfrm>
            <a:off x="731520" y="5257800"/>
            <a:ext cx="8412480" cy="548640"/>
          </a:xfrm>
          <a:prstGeom prst="rect">
            <a:avLst/>
          </a:prstGeom>
          <a:noFill/>
          <a:ln/>
        </p:spPr>
        <p:txBody>
          <a:bodyPr wrap="square" lIns="0" tIns="0" rIns="0" bIns="0" rtlCol="0" anchor="t"/>
          <a:lstStyle/>
          <a:p>
            <a:pPr algn="l" indent="0" marL="0">
              <a:buNone/>
            </a:pPr>
            <a:r>
              <a:rPr lang="en-US" sz="1700" dirty="0">
                <a:solidFill>
                  <a:srgbClr val="AEBACD"/>
                </a:solidFill>
                <a:latin typeface="Plus Jakarta Sans" pitchFamily="34" charset="0"/>
                <a:ea typeface="Plus Jakarta Sans" pitchFamily="34" charset="-122"/>
                <a:cs typeface="Plus Jakarta Sans" pitchFamily="34" charset="-120"/>
              </a:rPr>
              <a:t>We've covered the why — now let's get into the basics of AI, starting from the ground up.</a:t>
            </a:r>
            <a:endParaRPr lang="en-US" sz="1700" dirty="0"/>
          </a:p>
        </p:txBody>
      </p:sp>
      <p:sp>
        <p:nvSpPr>
          <p:cNvPr id="8" name="Shape 6"/>
          <p:cNvSpPr/>
          <p:nvPr/>
        </p:nvSpPr>
        <p:spPr>
          <a:xfrm>
            <a:off x="457200" y="6446520"/>
            <a:ext cx="11277295" cy="0"/>
          </a:xfrm>
          <a:prstGeom prst="line">
            <a:avLst/>
          </a:prstGeom>
          <a:noFill/>
          <a:ln w="9525">
            <a:solidFill>
              <a:srgbClr val="3D4759"/>
            </a:solidFill>
            <a:prstDash val="solid"/>
          </a:ln>
        </p:spPr>
      </p:sp>
      <p:sp>
        <p:nvSpPr>
          <p:cNvPr id="9" name="Text 7"/>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AEBACD"/>
                </a:solidFill>
                <a:latin typeface="Plus Jakarta Sans" pitchFamily="34" charset="0"/>
                <a:ea typeface="Plus Jakarta Sans" pitchFamily="34" charset="-122"/>
                <a:cs typeface="Plus Jakarta Sans" pitchFamily="34" charset="-120"/>
              </a:rPr>
              <a:t>9 / 35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FOUNDATIONS · LLMS</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THE FIELD</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0A1628"/>
                </a:solidFill>
                <a:latin typeface="Oswald" pitchFamily="34" charset="0"/>
                <a:ea typeface="Oswald" pitchFamily="34" charset="-122"/>
                <a:cs typeface="Oswald" pitchFamily="34" charset="-120"/>
              </a:rPr>
              <a:t>LLMs — Large Language Models</a:t>
            </a:r>
            <a:endParaRPr lang="en-US" sz="3400" dirty="0"/>
          </a:p>
        </p:txBody>
      </p:sp>
      <p:pic>
        <p:nvPicPr>
          <p:cNvPr id="5" name="Image 0" descr="icons/brain-blue.png">    </p:cNvPr>
          <p:cNvPicPr>
            <a:picLocks noChangeAspect="1"/>
          </p:cNvPicPr>
          <p:nvPr/>
        </p:nvPicPr>
        <p:blipFill>
          <a:blip r:embed="rId1"/>
          <a:stretch>
            <a:fillRect/>
          </a:stretch>
        </p:blipFill>
        <p:spPr>
          <a:xfrm>
            <a:off x="11109960" y="457200"/>
            <a:ext cx="502920" cy="502920"/>
          </a:xfrm>
          <a:prstGeom prst="rect">
            <a:avLst/>
          </a:prstGeom>
        </p:spPr>
      </p:pic>
      <p:sp>
        <p:nvSpPr>
          <p:cNvPr id="6" name="Text 3"/>
          <p:cNvSpPr/>
          <p:nvPr/>
        </p:nvSpPr>
        <p:spPr>
          <a:xfrm>
            <a:off x="457200" y="1481328"/>
            <a:ext cx="10972800" cy="457200"/>
          </a:xfrm>
          <a:prstGeom prst="rect">
            <a:avLst/>
          </a:prstGeom>
          <a:noFill/>
          <a:ln/>
        </p:spPr>
        <p:txBody>
          <a:bodyPr wrap="square" lIns="0" tIns="0" rIns="0" bIns="0" rtlCol="0" anchor="t"/>
          <a:lstStyle/>
          <a:p>
            <a:pPr algn="l" indent="0" marL="0">
              <a:buNone/>
            </a:pPr>
            <a:r>
              <a:rPr lang="en-US" sz="1600" i="1" dirty="0">
                <a:solidFill>
                  <a:srgbClr val="3D4759"/>
                </a:solidFill>
                <a:latin typeface="Plus Jakarta Sans" pitchFamily="34" charset="0"/>
                <a:ea typeface="Plus Jakarta Sans" pitchFamily="34" charset="-122"/>
                <a:cs typeface="Plus Jakarta Sans" pitchFamily="34" charset="-120"/>
              </a:rPr>
              <a:t>Ten labs, one job: predict the next word well enough that it feels like understanding.</a:t>
            </a:r>
            <a:endParaRPr lang="en-US" sz="1600" dirty="0"/>
          </a:p>
        </p:txBody>
      </p:sp>
      <p:sp>
        <p:nvSpPr>
          <p:cNvPr id="7" name="Shape 4"/>
          <p:cNvSpPr/>
          <p:nvPr/>
        </p:nvSpPr>
        <p:spPr>
          <a:xfrm>
            <a:off x="457200" y="2148840"/>
            <a:ext cx="2072579" cy="1600200"/>
          </a:xfrm>
          <a:prstGeom prst="roundRect">
            <a:avLst>
              <a:gd name="adj" fmla="val 4571"/>
            </a:avLst>
          </a:prstGeom>
          <a:solidFill>
            <a:srgbClr val="FFFFFF"/>
          </a:solidFill>
          <a:ln w="9525">
            <a:solidFill>
              <a:srgbClr val="D5DDEA"/>
            </a:solidFill>
            <a:prstDash val="solid"/>
          </a:ln>
        </p:spPr>
      </p:sp>
      <p:sp>
        <p:nvSpPr>
          <p:cNvPr id="8" name="Shape 5"/>
          <p:cNvSpPr/>
          <p:nvPr/>
        </p:nvSpPr>
        <p:spPr>
          <a:xfrm>
            <a:off x="640080" y="2331720"/>
            <a:ext cx="146304" cy="146304"/>
          </a:xfrm>
          <a:prstGeom prst="ellipse">
            <a:avLst/>
          </a:prstGeom>
          <a:solidFill>
            <a:srgbClr val="0066FF"/>
          </a:solidFill>
          <a:ln/>
        </p:spPr>
      </p:sp>
      <p:sp>
        <p:nvSpPr>
          <p:cNvPr id="9" name="Text 6"/>
          <p:cNvSpPr/>
          <p:nvPr/>
        </p:nvSpPr>
        <p:spPr>
          <a:xfrm>
            <a:off x="603504" y="2651760"/>
            <a:ext cx="1779971" cy="502920"/>
          </a:xfrm>
          <a:prstGeom prst="rect">
            <a:avLst/>
          </a:prstGeom>
          <a:noFill/>
          <a:ln/>
        </p:spPr>
        <p:txBody>
          <a:bodyPr wrap="square" lIns="0" tIns="0" rIns="0" bIns="0" rtlCol="0" anchor="t">
            <a:normAutofit/>
          </a:bodyPr>
          <a:lstStyle/>
          <a:p>
            <a:pPr algn="l" indent="0" marL="0">
              <a:buNone/>
            </a:pPr>
            <a:r>
              <a:rPr lang="en-US" sz="1450" b="1" dirty="0">
                <a:solidFill>
                  <a:srgbClr val="0A1628"/>
                </a:solidFill>
                <a:latin typeface="Oswald" pitchFamily="34" charset="0"/>
                <a:ea typeface="Oswald" pitchFamily="34" charset="-122"/>
                <a:cs typeface="Oswald" pitchFamily="34" charset="-120"/>
              </a:rPr>
              <a:t>GPT-5.x</a:t>
            </a:r>
            <a:endParaRPr lang="en-US" sz="1450" dirty="0"/>
          </a:p>
        </p:txBody>
      </p:sp>
      <p:sp>
        <p:nvSpPr>
          <p:cNvPr id="10" name="Text 7"/>
          <p:cNvSpPr/>
          <p:nvPr/>
        </p:nvSpPr>
        <p:spPr>
          <a:xfrm>
            <a:off x="603504" y="3200400"/>
            <a:ext cx="1779971" cy="365760"/>
          </a:xfrm>
          <a:prstGeom prst="rect">
            <a:avLst/>
          </a:prstGeom>
          <a:noFill/>
          <a:ln/>
        </p:spPr>
        <p:txBody>
          <a:bodyPr wrap="square" lIns="0" tIns="0" rIns="0" bIns="0" rtlCol="0" anchor="t"/>
          <a:lstStyle/>
          <a:p>
            <a:pPr algn="l" indent="0" marL="0">
              <a:buNone/>
            </a:pPr>
            <a:r>
              <a:rPr lang="en-US" sz="1150" dirty="0">
                <a:solidFill>
                  <a:srgbClr val="3D4759"/>
                </a:solidFill>
                <a:latin typeface="Plus Jakarta Sans" pitchFamily="34" charset="0"/>
                <a:ea typeface="Plus Jakarta Sans" pitchFamily="34" charset="-122"/>
                <a:cs typeface="Plus Jakarta Sans" pitchFamily="34" charset="-120"/>
              </a:rPr>
              <a:t>OpenAI</a:t>
            </a:r>
            <a:endParaRPr lang="en-US" sz="1150" dirty="0"/>
          </a:p>
        </p:txBody>
      </p:sp>
      <p:sp>
        <p:nvSpPr>
          <p:cNvPr id="11" name="Shape 8"/>
          <p:cNvSpPr/>
          <p:nvPr/>
        </p:nvSpPr>
        <p:spPr>
          <a:xfrm>
            <a:off x="2758379" y="2148840"/>
            <a:ext cx="2072579" cy="1600200"/>
          </a:xfrm>
          <a:prstGeom prst="roundRect">
            <a:avLst>
              <a:gd name="adj" fmla="val 4571"/>
            </a:avLst>
          </a:prstGeom>
          <a:solidFill>
            <a:srgbClr val="FFFFFF"/>
          </a:solidFill>
          <a:ln w="9525">
            <a:solidFill>
              <a:srgbClr val="D5DDEA"/>
            </a:solidFill>
            <a:prstDash val="solid"/>
          </a:ln>
        </p:spPr>
      </p:sp>
      <p:sp>
        <p:nvSpPr>
          <p:cNvPr id="12" name="Shape 9"/>
          <p:cNvSpPr/>
          <p:nvPr/>
        </p:nvSpPr>
        <p:spPr>
          <a:xfrm>
            <a:off x="2941259" y="2331720"/>
            <a:ext cx="146304" cy="146304"/>
          </a:xfrm>
          <a:prstGeom prst="ellipse">
            <a:avLst/>
          </a:prstGeom>
          <a:solidFill>
            <a:srgbClr val="0066FF"/>
          </a:solidFill>
          <a:ln/>
        </p:spPr>
      </p:sp>
      <p:sp>
        <p:nvSpPr>
          <p:cNvPr id="13" name="Text 10"/>
          <p:cNvSpPr/>
          <p:nvPr/>
        </p:nvSpPr>
        <p:spPr>
          <a:xfrm>
            <a:off x="2904683" y="2651760"/>
            <a:ext cx="1779971" cy="502920"/>
          </a:xfrm>
          <a:prstGeom prst="rect">
            <a:avLst/>
          </a:prstGeom>
          <a:noFill/>
          <a:ln/>
        </p:spPr>
        <p:txBody>
          <a:bodyPr wrap="square" lIns="0" tIns="0" rIns="0" bIns="0" rtlCol="0" anchor="t">
            <a:normAutofit/>
          </a:bodyPr>
          <a:lstStyle/>
          <a:p>
            <a:pPr algn="l" indent="0" marL="0">
              <a:buNone/>
            </a:pPr>
            <a:r>
              <a:rPr lang="en-US" sz="1450" b="1" dirty="0">
                <a:solidFill>
                  <a:srgbClr val="0A1628"/>
                </a:solidFill>
                <a:latin typeface="Oswald" pitchFamily="34" charset="0"/>
                <a:ea typeface="Oswald" pitchFamily="34" charset="-122"/>
                <a:cs typeface="Oswald" pitchFamily="34" charset="-120"/>
              </a:rPr>
              <a:t>Claude 4.x</a:t>
            </a:r>
            <a:endParaRPr lang="en-US" sz="1450" dirty="0"/>
          </a:p>
        </p:txBody>
      </p:sp>
      <p:sp>
        <p:nvSpPr>
          <p:cNvPr id="14" name="Text 11"/>
          <p:cNvSpPr/>
          <p:nvPr/>
        </p:nvSpPr>
        <p:spPr>
          <a:xfrm>
            <a:off x="2904683" y="3200400"/>
            <a:ext cx="1779971" cy="365760"/>
          </a:xfrm>
          <a:prstGeom prst="rect">
            <a:avLst/>
          </a:prstGeom>
          <a:noFill/>
          <a:ln/>
        </p:spPr>
        <p:txBody>
          <a:bodyPr wrap="square" lIns="0" tIns="0" rIns="0" bIns="0" rtlCol="0" anchor="t"/>
          <a:lstStyle/>
          <a:p>
            <a:pPr algn="l" indent="0" marL="0">
              <a:buNone/>
            </a:pPr>
            <a:r>
              <a:rPr lang="en-US" sz="1150" dirty="0">
                <a:solidFill>
                  <a:srgbClr val="3D4759"/>
                </a:solidFill>
                <a:latin typeface="Plus Jakarta Sans" pitchFamily="34" charset="0"/>
                <a:ea typeface="Plus Jakarta Sans" pitchFamily="34" charset="-122"/>
                <a:cs typeface="Plus Jakarta Sans" pitchFamily="34" charset="-120"/>
              </a:rPr>
              <a:t>Anthropic</a:t>
            </a:r>
            <a:endParaRPr lang="en-US" sz="1150" dirty="0"/>
          </a:p>
        </p:txBody>
      </p:sp>
      <p:sp>
        <p:nvSpPr>
          <p:cNvPr id="15" name="Shape 12"/>
          <p:cNvSpPr/>
          <p:nvPr/>
        </p:nvSpPr>
        <p:spPr>
          <a:xfrm>
            <a:off x="5059558" y="2148840"/>
            <a:ext cx="2072579" cy="1600200"/>
          </a:xfrm>
          <a:prstGeom prst="roundRect">
            <a:avLst>
              <a:gd name="adj" fmla="val 4571"/>
            </a:avLst>
          </a:prstGeom>
          <a:solidFill>
            <a:srgbClr val="FFFFFF"/>
          </a:solidFill>
          <a:ln w="9525">
            <a:solidFill>
              <a:srgbClr val="D5DDEA"/>
            </a:solidFill>
            <a:prstDash val="solid"/>
          </a:ln>
        </p:spPr>
      </p:sp>
      <p:sp>
        <p:nvSpPr>
          <p:cNvPr id="16" name="Shape 13"/>
          <p:cNvSpPr/>
          <p:nvPr/>
        </p:nvSpPr>
        <p:spPr>
          <a:xfrm>
            <a:off x="5242438" y="2331720"/>
            <a:ext cx="146304" cy="146304"/>
          </a:xfrm>
          <a:prstGeom prst="ellipse">
            <a:avLst/>
          </a:prstGeom>
          <a:solidFill>
            <a:srgbClr val="0066FF"/>
          </a:solidFill>
          <a:ln/>
        </p:spPr>
      </p:sp>
      <p:sp>
        <p:nvSpPr>
          <p:cNvPr id="17" name="Text 14"/>
          <p:cNvSpPr/>
          <p:nvPr/>
        </p:nvSpPr>
        <p:spPr>
          <a:xfrm>
            <a:off x="5205862" y="2651760"/>
            <a:ext cx="1779971" cy="502920"/>
          </a:xfrm>
          <a:prstGeom prst="rect">
            <a:avLst/>
          </a:prstGeom>
          <a:noFill/>
          <a:ln/>
        </p:spPr>
        <p:txBody>
          <a:bodyPr wrap="square" lIns="0" tIns="0" rIns="0" bIns="0" rtlCol="0" anchor="t">
            <a:normAutofit/>
          </a:bodyPr>
          <a:lstStyle/>
          <a:p>
            <a:pPr algn="l" indent="0" marL="0">
              <a:buNone/>
            </a:pPr>
            <a:r>
              <a:rPr lang="en-US" sz="1450" b="1" dirty="0">
                <a:solidFill>
                  <a:srgbClr val="0A1628"/>
                </a:solidFill>
                <a:latin typeface="Oswald" pitchFamily="34" charset="0"/>
                <a:ea typeface="Oswald" pitchFamily="34" charset="-122"/>
                <a:cs typeface="Oswald" pitchFamily="34" charset="-120"/>
              </a:rPr>
              <a:t>Gemini 3.x</a:t>
            </a:r>
            <a:endParaRPr lang="en-US" sz="1450" dirty="0"/>
          </a:p>
        </p:txBody>
      </p:sp>
      <p:sp>
        <p:nvSpPr>
          <p:cNvPr id="18" name="Text 15"/>
          <p:cNvSpPr/>
          <p:nvPr/>
        </p:nvSpPr>
        <p:spPr>
          <a:xfrm>
            <a:off x="5205862" y="3200400"/>
            <a:ext cx="1779971" cy="365760"/>
          </a:xfrm>
          <a:prstGeom prst="rect">
            <a:avLst/>
          </a:prstGeom>
          <a:noFill/>
          <a:ln/>
        </p:spPr>
        <p:txBody>
          <a:bodyPr wrap="square" lIns="0" tIns="0" rIns="0" bIns="0" rtlCol="0" anchor="t"/>
          <a:lstStyle/>
          <a:p>
            <a:pPr algn="l" indent="0" marL="0">
              <a:buNone/>
            </a:pPr>
            <a:r>
              <a:rPr lang="en-US" sz="1150" dirty="0">
                <a:solidFill>
                  <a:srgbClr val="3D4759"/>
                </a:solidFill>
                <a:latin typeface="Plus Jakarta Sans" pitchFamily="34" charset="0"/>
                <a:ea typeface="Plus Jakarta Sans" pitchFamily="34" charset="-122"/>
                <a:cs typeface="Plus Jakarta Sans" pitchFamily="34" charset="-120"/>
              </a:rPr>
              <a:t>Google</a:t>
            </a:r>
            <a:endParaRPr lang="en-US" sz="1150" dirty="0"/>
          </a:p>
        </p:txBody>
      </p:sp>
      <p:sp>
        <p:nvSpPr>
          <p:cNvPr id="19" name="Shape 16"/>
          <p:cNvSpPr/>
          <p:nvPr/>
        </p:nvSpPr>
        <p:spPr>
          <a:xfrm>
            <a:off x="7360737" y="2148840"/>
            <a:ext cx="2072579" cy="1600200"/>
          </a:xfrm>
          <a:prstGeom prst="roundRect">
            <a:avLst>
              <a:gd name="adj" fmla="val 4571"/>
            </a:avLst>
          </a:prstGeom>
          <a:solidFill>
            <a:srgbClr val="FFFFFF"/>
          </a:solidFill>
          <a:ln w="9525">
            <a:solidFill>
              <a:srgbClr val="D5DDEA"/>
            </a:solidFill>
            <a:prstDash val="solid"/>
          </a:ln>
        </p:spPr>
      </p:sp>
      <p:sp>
        <p:nvSpPr>
          <p:cNvPr id="20" name="Shape 17"/>
          <p:cNvSpPr/>
          <p:nvPr/>
        </p:nvSpPr>
        <p:spPr>
          <a:xfrm>
            <a:off x="7543617" y="2331720"/>
            <a:ext cx="146304" cy="146304"/>
          </a:xfrm>
          <a:prstGeom prst="ellipse">
            <a:avLst/>
          </a:prstGeom>
          <a:solidFill>
            <a:srgbClr val="0066FF"/>
          </a:solidFill>
          <a:ln/>
        </p:spPr>
      </p:sp>
      <p:sp>
        <p:nvSpPr>
          <p:cNvPr id="21" name="Text 18"/>
          <p:cNvSpPr/>
          <p:nvPr/>
        </p:nvSpPr>
        <p:spPr>
          <a:xfrm>
            <a:off x="7507041" y="2651760"/>
            <a:ext cx="1779971" cy="502920"/>
          </a:xfrm>
          <a:prstGeom prst="rect">
            <a:avLst/>
          </a:prstGeom>
          <a:noFill/>
          <a:ln/>
        </p:spPr>
        <p:txBody>
          <a:bodyPr wrap="square" lIns="0" tIns="0" rIns="0" bIns="0" rtlCol="0" anchor="t">
            <a:normAutofit/>
          </a:bodyPr>
          <a:lstStyle/>
          <a:p>
            <a:pPr algn="l" indent="0" marL="0">
              <a:buNone/>
            </a:pPr>
            <a:r>
              <a:rPr lang="en-US" sz="1450" b="1" dirty="0">
                <a:solidFill>
                  <a:srgbClr val="0A1628"/>
                </a:solidFill>
                <a:latin typeface="Oswald" pitchFamily="34" charset="0"/>
                <a:ea typeface="Oswald" pitchFamily="34" charset="-122"/>
                <a:cs typeface="Oswald" pitchFamily="34" charset="-120"/>
              </a:rPr>
              <a:t>Grok 4.x</a:t>
            </a:r>
            <a:endParaRPr lang="en-US" sz="1450" dirty="0"/>
          </a:p>
        </p:txBody>
      </p:sp>
      <p:sp>
        <p:nvSpPr>
          <p:cNvPr id="22" name="Text 19"/>
          <p:cNvSpPr/>
          <p:nvPr/>
        </p:nvSpPr>
        <p:spPr>
          <a:xfrm>
            <a:off x="7507041" y="3200400"/>
            <a:ext cx="1779971" cy="365760"/>
          </a:xfrm>
          <a:prstGeom prst="rect">
            <a:avLst/>
          </a:prstGeom>
          <a:noFill/>
          <a:ln/>
        </p:spPr>
        <p:txBody>
          <a:bodyPr wrap="square" lIns="0" tIns="0" rIns="0" bIns="0" rtlCol="0" anchor="t"/>
          <a:lstStyle/>
          <a:p>
            <a:pPr algn="l" indent="0" marL="0">
              <a:buNone/>
            </a:pPr>
            <a:r>
              <a:rPr lang="en-US" sz="1150" dirty="0">
                <a:solidFill>
                  <a:srgbClr val="3D4759"/>
                </a:solidFill>
                <a:latin typeface="Plus Jakarta Sans" pitchFamily="34" charset="0"/>
                <a:ea typeface="Plus Jakarta Sans" pitchFamily="34" charset="-122"/>
                <a:cs typeface="Plus Jakarta Sans" pitchFamily="34" charset="-120"/>
              </a:rPr>
              <a:t>xAI</a:t>
            </a:r>
            <a:endParaRPr lang="en-US" sz="1150" dirty="0"/>
          </a:p>
        </p:txBody>
      </p:sp>
      <p:sp>
        <p:nvSpPr>
          <p:cNvPr id="23" name="Shape 20"/>
          <p:cNvSpPr/>
          <p:nvPr/>
        </p:nvSpPr>
        <p:spPr>
          <a:xfrm>
            <a:off x="9661916" y="2148840"/>
            <a:ext cx="2072579" cy="1600200"/>
          </a:xfrm>
          <a:prstGeom prst="roundRect">
            <a:avLst>
              <a:gd name="adj" fmla="val 4571"/>
            </a:avLst>
          </a:prstGeom>
          <a:solidFill>
            <a:srgbClr val="FFFFFF"/>
          </a:solidFill>
          <a:ln w="9525">
            <a:solidFill>
              <a:srgbClr val="D5DDEA"/>
            </a:solidFill>
            <a:prstDash val="solid"/>
          </a:ln>
        </p:spPr>
      </p:sp>
      <p:sp>
        <p:nvSpPr>
          <p:cNvPr id="24" name="Shape 21"/>
          <p:cNvSpPr/>
          <p:nvPr/>
        </p:nvSpPr>
        <p:spPr>
          <a:xfrm>
            <a:off x="9844796" y="2331720"/>
            <a:ext cx="146304" cy="146304"/>
          </a:xfrm>
          <a:prstGeom prst="ellipse">
            <a:avLst/>
          </a:prstGeom>
          <a:solidFill>
            <a:srgbClr val="0066FF"/>
          </a:solidFill>
          <a:ln/>
        </p:spPr>
      </p:sp>
      <p:sp>
        <p:nvSpPr>
          <p:cNvPr id="25" name="Text 22"/>
          <p:cNvSpPr/>
          <p:nvPr/>
        </p:nvSpPr>
        <p:spPr>
          <a:xfrm>
            <a:off x="9808220" y="2651760"/>
            <a:ext cx="1779971" cy="502920"/>
          </a:xfrm>
          <a:prstGeom prst="rect">
            <a:avLst/>
          </a:prstGeom>
          <a:noFill/>
          <a:ln/>
        </p:spPr>
        <p:txBody>
          <a:bodyPr wrap="square" lIns="0" tIns="0" rIns="0" bIns="0" rtlCol="0" anchor="t">
            <a:normAutofit/>
          </a:bodyPr>
          <a:lstStyle/>
          <a:p>
            <a:pPr algn="l" indent="0" marL="0">
              <a:buNone/>
            </a:pPr>
            <a:r>
              <a:rPr lang="en-US" sz="1450" b="1" dirty="0">
                <a:solidFill>
                  <a:srgbClr val="0A1628"/>
                </a:solidFill>
                <a:latin typeface="Oswald" pitchFamily="34" charset="0"/>
                <a:ea typeface="Oswald" pitchFamily="34" charset="-122"/>
                <a:cs typeface="Oswald" pitchFamily="34" charset="-120"/>
              </a:rPr>
              <a:t>DeepSeek V3/R1</a:t>
            </a:r>
            <a:endParaRPr lang="en-US" sz="1450" dirty="0"/>
          </a:p>
        </p:txBody>
      </p:sp>
      <p:sp>
        <p:nvSpPr>
          <p:cNvPr id="26" name="Shape 23"/>
          <p:cNvSpPr/>
          <p:nvPr/>
        </p:nvSpPr>
        <p:spPr>
          <a:xfrm>
            <a:off x="457200" y="4023360"/>
            <a:ext cx="2072579" cy="1600200"/>
          </a:xfrm>
          <a:prstGeom prst="roundRect">
            <a:avLst>
              <a:gd name="adj" fmla="val 4571"/>
            </a:avLst>
          </a:prstGeom>
          <a:solidFill>
            <a:srgbClr val="FFFFFF"/>
          </a:solidFill>
          <a:ln w="9525">
            <a:solidFill>
              <a:srgbClr val="D5DDEA"/>
            </a:solidFill>
            <a:prstDash val="solid"/>
          </a:ln>
        </p:spPr>
      </p:sp>
      <p:sp>
        <p:nvSpPr>
          <p:cNvPr id="27" name="Shape 24"/>
          <p:cNvSpPr/>
          <p:nvPr/>
        </p:nvSpPr>
        <p:spPr>
          <a:xfrm>
            <a:off x="640080" y="4206240"/>
            <a:ext cx="146304" cy="146304"/>
          </a:xfrm>
          <a:prstGeom prst="ellipse">
            <a:avLst/>
          </a:prstGeom>
          <a:solidFill>
            <a:srgbClr val="0066FF"/>
          </a:solidFill>
          <a:ln/>
        </p:spPr>
      </p:sp>
      <p:sp>
        <p:nvSpPr>
          <p:cNvPr id="28" name="Text 25"/>
          <p:cNvSpPr/>
          <p:nvPr/>
        </p:nvSpPr>
        <p:spPr>
          <a:xfrm>
            <a:off x="603504" y="4526280"/>
            <a:ext cx="1779971" cy="502920"/>
          </a:xfrm>
          <a:prstGeom prst="rect">
            <a:avLst/>
          </a:prstGeom>
          <a:noFill/>
          <a:ln/>
        </p:spPr>
        <p:txBody>
          <a:bodyPr wrap="square" lIns="0" tIns="0" rIns="0" bIns="0" rtlCol="0" anchor="t">
            <a:normAutofit/>
          </a:bodyPr>
          <a:lstStyle/>
          <a:p>
            <a:pPr algn="l" indent="0" marL="0">
              <a:buNone/>
            </a:pPr>
            <a:r>
              <a:rPr lang="en-US" sz="1450" b="1" dirty="0">
                <a:solidFill>
                  <a:srgbClr val="0A1628"/>
                </a:solidFill>
                <a:latin typeface="Oswald" pitchFamily="34" charset="0"/>
                <a:ea typeface="Oswald" pitchFamily="34" charset="-122"/>
                <a:cs typeface="Oswald" pitchFamily="34" charset="-120"/>
              </a:rPr>
              <a:t>Qwen 3</a:t>
            </a:r>
            <a:endParaRPr lang="en-US" sz="1450" dirty="0"/>
          </a:p>
        </p:txBody>
      </p:sp>
      <p:sp>
        <p:nvSpPr>
          <p:cNvPr id="29" name="Shape 26"/>
          <p:cNvSpPr/>
          <p:nvPr/>
        </p:nvSpPr>
        <p:spPr>
          <a:xfrm>
            <a:off x="2758379" y="4023360"/>
            <a:ext cx="2072579" cy="1600200"/>
          </a:xfrm>
          <a:prstGeom prst="roundRect">
            <a:avLst>
              <a:gd name="adj" fmla="val 4571"/>
            </a:avLst>
          </a:prstGeom>
          <a:solidFill>
            <a:srgbClr val="FFFFFF"/>
          </a:solidFill>
          <a:ln w="9525">
            <a:solidFill>
              <a:srgbClr val="D5DDEA"/>
            </a:solidFill>
            <a:prstDash val="solid"/>
          </a:ln>
        </p:spPr>
      </p:sp>
      <p:sp>
        <p:nvSpPr>
          <p:cNvPr id="30" name="Shape 27"/>
          <p:cNvSpPr/>
          <p:nvPr/>
        </p:nvSpPr>
        <p:spPr>
          <a:xfrm>
            <a:off x="2941259" y="4206240"/>
            <a:ext cx="146304" cy="146304"/>
          </a:xfrm>
          <a:prstGeom prst="ellipse">
            <a:avLst/>
          </a:prstGeom>
          <a:solidFill>
            <a:srgbClr val="0066FF"/>
          </a:solidFill>
          <a:ln/>
        </p:spPr>
      </p:sp>
      <p:sp>
        <p:nvSpPr>
          <p:cNvPr id="31" name="Text 28"/>
          <p:cNvSpPr/>
          <p:nvPr/>
        </p:nvSpPr>
        <p:spPr>
          <a:xfrm>
            <a:off x="2904683" y="4526280"/>
            <a:ext cx="1779971" cy="502920"/>
          </a:xfrm>
          <a:prstGeom prst="rect">
            <a:avLst/>
          </a:prstGeom>
          <a:noFill/>
          <a:ln/>
        </p:spPr>
        <p:txBody>
          <a:bodyPr wrap="square" lIns="0" tIns="0" rIns="0" bIns="0" rtlCol="0" anchor="t">
            <a:normAutofit/>
          </a:bodyPr>
          <a:lstStyle/>
          <a:p>
            <a:pPr algn="l" indent="0" marL="0">
              <a:buNone/>
            </a:pPr>
            <a:r>
              <a:rPr lang="en-US" sz="1450" b="1" dirty="0">
                <a:solidFill>
                  <a:srgbClr val="0A1628"/>
                </a:solidFill>
                <a:latin typeface="Oswald" pitchFamily="34" charset="0"/>
                <a:ea typeface="Oswald" pitchFamily="34" charset="-122"/>
                <a:cs typeface="Oswald" pitchFamily="34" charset="-120"/>
              </a:rPr>
              <a:t>Llama 4</a:t>
            </a:r>
            <a:endParaRPr lang="en-US" sz="1450" dirty="0"/>
          </a:p>
        </p:txBody>
      </p:sp>
      <p:sp>
        <p:nvSpPr>
          <p:cNvPr id="32" name="Shape 29"/>
          <p:cNvSpPr/>
          <p:nvPr/>
        </p:nvSpPr>
        <p:spPr>
          <a:xfrm>
            <a:off x="5059558" y="4023360"/>
            <a:ext cx="2072579" cy="1600200"/>
          </a:xfrm>
          <a:prstGeom prst="roundRect">
            <a:avLst>
              <a:gd name="adj" fmla="val 4571"/>
            </a:avLst>
          </a:prstGeom>
          <a:solidFill>
            <a:srgbClr val="FFFFFF"/>
          </a:solidFill>
          <a:ln w="9525">
            <a:solidFill>
              <a:srgbClr val="D5DDEA"/>
            </a:solidFill>
            <a:prstDash val="solid"/>
          </a:ln>
        </p:spPr>
      </p:sp>
      <p:sp>
        <p:nvSpPr>
          <p:cNvPr id="33" name="Shape 30"/>
          <p:cNvSpPr/>
          <p:nvPr/>
        </p:nvSpPr>
        <p:spPr>
          <a:xfrm>
            <a:off x="5242438" y="4206240"/>
            <a:ext cx="146304" cy="146304"/>
          </a:xfrm>
          <a:prstGeom prst="ellipse">
            <a:avLst/>
          </a:prstGeom>
          <a:solidFill>
            <a:srgbClr val="0066FF"/>
          </a:solidFill>
          <a:ln/>
        </p:spPr>
      </p:sp>
      <p:sp>
        <p:nvSpPr>
          <p:cNvPr id="34" name="Text 31"/>
          <p:cNvSpPr/>
          <p:nvPr/>
        </p:nvSpPr>
        <p:spPr>
          <a:xfrm>
            <a:off x="5205862" y="4526280"/>
            <a:ext cx="1779971" cy="502920"/>
          </a:xfrm>
          <a:prstGeom prst="rect">
            <a:avLst/>
          </a:prstGeom>
          <a:noFill/>
          <a:ln/>
        </p:spPr>
        <p:txBody>
          <a:bodyPr wrap="square" lIns="0" tIns="0" rIns="0" bIns="0" rtlCol="0" anchor="t">
            <a:normAutofit/>
          </a:bodyPr>
          <a:lstStyle/>
          <a:p>
            <a:pPr algn="l" indent="0" marL="0">
              <a:buNone/>
            </a:pPr>
            <a:r>
              <a:rPr lang="en-US" sz="1450" b="1" dirty="0">
                <a:solidFill>
                  <a:srgbClr val="0A1628"/>
                </a:solidFill>
                <a:latin typeface="Oswald" pitchFamily="34" charset="0"/>
                <a:ea typeface="Oswald" pitchFamily="34" charset="-122"/>
                <a:cs typeface="Oswald" pitchFamily="34" charset="-120"/>
              </a:rPr>
              <a:t>Mistral Large</a:t>
            </a:r>
            <a:endParaRPr lang="en-US" sz="1450" dirty="0"/>
          </a:p>
        </p:txBody>
      </p:sp>
      <p:sp>
        <p:nvSpPr>
          <p:cNvPr id="35" name="Shape 32"/>
          <p:cNvSpPr/>
          <p:nvPr/>
        </p:nvSpPr>
        <p:spPr>
          <a:xfrm>
            <a:off x="7360737" y="4023360"/>
            <a:ext cx="2072579" cy="1600200"/>
          </a:xfrm>
          <a:prstGeom prst="roundRect">
            <a:avLst>
              <a:gd name="adj" fmla="val 4571"/>
            </a:avLst>
          </a:prstGeom>
          <a:solidFill>
            <a:srgbClr val="FFFFFF"/>
          </a:solidFill>
          <a:ln w="9525">
            <a:solidFill>
              <a:srgbClr val="D5DDEA"/>
            </a:solidFill>
            <a:prstDash val="solid"/>
          </a:ln>
        </p:spPr>
      </p:sp>
      <p:sp>
        <p:nvSpPr>
          <p:cNvPr id="36" name="Shape 33"/>
          <p:cNvSpPr/>
          <p:nvPr/>
        </p:nvSpPr>
        <p:spPr>
          <a:xfrm>
            <a:off x="7543617" y="4206240"/>
            <a:ext cx="146304" cy="146304"/>
          </a:xfrm>
          <a:prstGeom prst="ellipse">
            <a:avLst/>
          </a:prstGeom>
          <a:solidFill>
            <a:srgbClr val="0066FF"/>
          </a:solidFill>
          <a:ln/>
        </p:spPr>
      </p:sp>
      <p:sp>
        <p:nvSpPr>
          <p:cNvPr id="37" name="Text 34"/>
          <p:cNvSpPr/>
          <p:nvPr/>
        </p:nvSpPr>
        <p:spPr>
          <a:xfrm>
            <a:off x="7507041" y="4526280"/>
            <a:ext cx="1779971" cy="502920"/>
          </a:xfrm>
          <a:prstGeom prst="rect">
            <a:avLst/>
          </a:prstGeom>
          <a:noFill/>
          <a:ln/>
        </p:spPr>
        <p:txBody>
          <a:bodyPr wrap="square" lIns="0" tIns="0" rIns="0" bIns="0" rtlCol="0" anchor="t">
            <a:normAutofit/>
          </a:bodyPr>
          <a:lstStyle/>
          <a:p>
            <a:pPr algn="l" indent="0" marL="0">
              <a:buNone/>
            </a:pPr>
            <a:r>
              <a:rPr lang="en-US" sz="1450" b="1" dirty="0">
                <a:solidFill>
                  <a:srgbClr val="0A1628"/>
                </a:solidFill>
                <a:latin typeface="Oswald" pitchFamily="34" charset="0"/>
                <a:ea typeface="Oswald" pitchFamily="34" charset="-122"/>
                <a:cs typeface="Oswald" pitchFamily="34" charset="-120"/>
              </a:rPr>
              <a:t>GLM 5</a:t>
            </a:r>
            <a:endParaRPr lang="en-US" sz="1450" dirty="0"/>
          </a:p>
        </p:txBody>
      </p:sp>
      <p:sp>
        <p:nvSpPr>
          <p:cNvPr id="38" name="Shape 35"/>
          <p:cNvSpPr/>
          <p:nvPr/>
        </p:nvSpPr>
        <p:spPr>
          <a:xfrm>
            <a:off x="9661916" y="4023360"/>
            <a:ext cx="2072579" cy="1600200"/>
          </a:xfrm>
          <a:prstGeom prst="roundRect">
            <a:avLst>
              <a:gd name="adj" fmla="val 4571"/>
            </a:avLst>
          </a:prstGeom>
          <a:solidFill>
            <a:srgbClr val="FFFFFF"/>
          </a:solidFill>
          <a:ln w="9525">
            <a:solidFill>
              <a:srgbClr val="D5DDEA"/>
            </a:solidFill>
            <a:prstDash val="solid"/>
          </a:ln>
        </p:spPr>
      </p:sp>
      <p:sp>
        <p:nvSpPr>
          <p:cNvPr id="39" name="Shape 36"/>
          <p:cNvSpPr/>
          <p:nvPr/>
        </p:nvSpPr>
        <p:spPr>
          <a:xfrm>
            <a:off x="9844796" y="4206240"/>
            <a:ext cx="146304" cy="146304"/>
          </a:xfrm>
          <a:prstGeom prst="ellipse">
            <a:avLst/>
          </a:prstGeom>
          <a:solidFill>
            <a:srgbClr val="0066FF"/>
          </a:solidFill>
          <a:ln/>
        </p:spPr>
      </p:sp>
      <p:sp>
        <p:nvSpPr>
          <p:cNvPr id="40" name="Text 37"/>
          <p:cNvSpPr/>
          <p:nvPr/>
        </p:nvSpPr>
        <p:spPr>
          <a:xfrm>
            <a:off x="9808220" y="4526280"/>
            <a:ext cx="1779971" cy="502920"/>
          </a:xfrm>
          <a:prstGeom prst="rect">
            <a:avLst/>
          </a:prstGeom>
          <a:noFill/>
          <a:ln/>
        </p:spPr>
        <p:txBody>
          <a:bodyPr wrap="square" lIns="0" tIns="0" rIns="0" bIns="0" rtlCol="0" anchor="t">
            <a:normAutofit/>
          </a:bodyPr>
          <a:lstStyle/>
          <a:p>
            <a:pPr algn="l" indent="0" marL="0">
              <a:buNone/>
            </a:pPr>
            <a:r>
              <a:rPr lang="en-US" sz="1450" b="1" dirty="0">
                <a:solidFill>
                  <a:srgbClr val="0A1628"/>
                </a:solidFill>
                <a:latin typeface="Oswald" pitchFamily="34" charset="0"/>
                <a:ea typeface="Oswald" pitchFamily="34" charset="-122"/>
                <a:cs typeface="Oswald" pitchFamily="34" charset="-120"/>
              </a:rPr>
              <a:t>Cohere Command</a:t>
            </a:r>
            <a:endParaRPr lang="en-US" sz="1450" dirty="0"/>
          </a:p>
        </p:txBody>
      </p:sp>
      <p:sp>
        <p:nvSpPr>
          <p:cNvPr id="41" name="Shape 38"/>
          <p:cNvSpPr/>
          <p:nvPr/>
        </p:nvSpPr>
        <p:spPr>
          <a:xfrm>
            <a:off x="457200" y="6446520"/>
            <a:ext cx="11277295" cy="0"/>
          </a:xfrm>
          <a:prstGeom prst="line">
            <a:avLst/>
          </a:prstGeom>
          <a:noFill/>
          <a:ln w="9525">
            <a:solidFill>
              <a:srgbClr val="D5DDEA"/>
            </a:solidFill>
            <a:prstDash val="solid"/>
          </a:ln>
        </p:spPr>
      </p:sp>
      <p:sp>
        <p:nvSpPr>
          <p:cNvPr id="42" name="Text 39"/>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10 / 35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FOUNDATIONS · LLMS</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ADOPTION</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000" b="1" dirty="0">
                <a:solidFill>
                  <a:srgbClr val="0A1628"/>
                </a:solidFill>
                <a:latin typeface="Oswald" pitchFamily="34" charset="0"/>
                <a:ea typeface="Oswald" pitchFamily="34" charset="-122"/>
                <a:cs typeface="Oswald" pitchFamily="34" charset="-120"/>
              </a:rPr>
              <a:t>Most Talked-About LLMs at U.S. Companies Right Now</a:t>
            </a:r>
            <a:endParaRPr lang="en-US" sz="3000" dirty="0"/>
          </a:p>
        </p:txBody>
      </p:sp>
      <p:pic>
        <p:nvPicPr>
          <p:cNvPr id="5" name="Image 0" descr="icons/trophy-blue.png">    </p:cNvPr>
          <p:cNvPicPr>
            <a:picLocks noChangeAspect="1"/>
          </p:cNvPicPr>
          <p:nvPr/>
        </p:nvPicPr>
        <p:blipFill>
          <a:blip r:embed="rId1"/>
          <a:stretch>
            <a:fillRect/>
          </a:stretch>
        </p:blipFill>
        <p:spPr>
          <a:xfrm>
            <a:off x="11109960" y="457200"/>
            <a:ext cx="502920" cy="502920"/>
          </a:xfrm>
          <a:prstGeom prst="rect">
            <a:avLst/>
          </a:prstGeom>
        </p:spPr>
      </p:pic>
      <p:sp>
        <p:nvSpPr>
          <p:cNvPr id="6" name="Shape 3"/>
          <p:cNvSpPr/>
          <p:nvPr/>
        </p:nvSpPr>
        <p:spPr>
          <a:xfrm>
            <a:off x="457200" y="1965960"/>
            <a:ext cx="566928" cy="566928"/>
          </a:xfrm>
          <a:prstGeom prst="ellipse">
            <a:avLst/>
          </a:prstGeom>
          <a:solidFill>
            <a:srgbClr val="0066FF"/>
          </a:solidFill>
          <a:ln/>
        </p:spPr>
      </p:sp>
      <p:sp>
        <p:nvSpPr>
          <p:cNvPr id="7" name="Text 4"/>
          <p:cNvSpPr/>
          <p:nvPr/>
        </p:nvSpPr>
        <p:spPr>
          <a:xfrm>
            <a:off x="457200" y="19659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Oswald" pitchFamily="34" charset="0"/>
                <a:ea typeface="Oswald" pitchFamily="34" charset="-122"/>
                <a:cs typeface="Oswald" pitchFamily="34" charset="-120"/>
              </a:rPr>
              <a:t>1</a:t>
            </a:r>
            <a:endParaRPr lang="en-US" sz="2200" dirty="0"/>
          </a:p>
        </p:txBody>
      </p:sp>
      <p:sp>
        <p:nvSpPr>
          <p:cNvPr id="8" name="Shape 5"/>
          <p:cNvSpPr/>
          <p:nvPr/>
        </p:nvSpPr>
        <p:spPr>
          <a:xfrm>
            <a:off x="1234440" y="1965960"/>
            <a:ext cx="7909560" cy="621792"/>
          </a:xfrm>
          <a:prstGeom prst="roundRect">
            <a:avLst>
              <a:gd name="adj" fmla="val 8824"/>
            </a:avLst>
          </a:prstGeom>
          <a:solidFill>
            <a:srgbClr val="FFFFFF"/>
          </a:solidFill>
          <a:ln w="9525">
            <a:solidFill>
              <a:srgbClr val="D5DDEA"/>
            </a:solidFill>
            <a:prstDash val="solid"/>
          </a:ln>
        </p:spPr>
      </p:sp>
      <p:sp>
        <p:nvSpPr>
          <p:cNvPr id="9" name="Text 6"/>
          <p:cNvSpPr/>
          <p:nvPr/>
        </p:nvSpPr>
        <p:spPr>
          <a:xfrm>
            <a:off x="1508760" y="1965960"/>
            <a:ext cx="7498080" cy="621792"/>
          </a:xfrm>
          <a:prstGeom prst="rect">
            <a:avLst/>
          </a:prstGeom>
          <a:noFill/>
          <a:ln/>
        </p:spPr>
        <p:txBody>
          <a:bodyPr wrap="square" lIns="0" tIns="0" rIns="0" bIns="0" rtlCol="0" anchor="ctr"/>
          <a:lstStyle/>
          <a:p>
            <a:pPr algn="l" indent="0" marL="0">
              <a:buNone/>
            </a:pPr>
            <a:r>
              <a:rPr lang="en-US" sz="2000" b="1" dirty="0">
                <a:solidFill>
                  <a:srgbClr val="0A1628"/>
                </a:solidFill>
                <a:latin typeface="Oswald" pitchFamily="34" charset="0"/>
                <a:ea typeface="Oswald" pitchFamily="34" charset="-122"/>
                <a:cs typeface="Oswald" pitchFamily="34" charset="-120"/>
              </a:rPr>
              <a:t>GPT-5.x</a:t>
            </a:r>
            <a:endParaRPr lang="en-US" sz="2000" dirty="0"/>
          </a:p>
        </p:txBody>
      </p:sp>
      <p:sp>
        <p:nvSpPr>
          <p:cNvPr id="10" name="Shape 7"/>
          <p:cNvSpPr/>
          <p:nvPr/>
        </p:nvSpPr>
        <p:spPr>
          <a:xfrm>
            <a:off x="457200" y="2715768"/>
            <a:ext cx="566928" cy="566928"/>
          </a:xfrm>
          <a:prstGeom prst="ellipse">
            <a:avLst/>
          </a:prstGeom>
          <a:solidFill>
            <a:srgbClr val="0066FF"/>
          </a:solidFill>
          <a:ln/>
        </p:spPr>
      </p:sp>
      <p:sp>
        <p:nvSpPr>
          <p:cNvPr id="11" name="Text 8"/>
          <p:cNvSpPr/>
          <p:nvPr/>
        </p:nvSpPr>
        <p:spPr>
          <a:xfrm>
            <a:off x="457200" y="271576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Oswald" pitchFamily="34" charset="0"/>
                <a:ea typeface="Oswald" pitchFamily="34" charset="-122"/>
                <a:cs typeface="Oswald" pitchFamily="34" charset="-120"/>
              </a:rPr>
              <a:t>2</a:t>
            </a:r>
            <a:endParaRPr lang="en-US" sz="2200" dirty="0"/>
          </a:p>
        </p:txBody>
      </p:sp>
      <p:sp>
        <p:nvSpPr>
          <p:cNvPr id="12" name="Shape 9"/>
          <p:cNvSpPr/>
          <p:nvPr/>
        </p:nvSpPr>
        <p:spPr>
          <a:xfrm>
            <a:off x="1234440" y="2715768"/>
            <a:ext cx="7909560" cy="621792"/>
          </a:xfrm>
          <a:prstGeom prst="roundRect">
            <a:avLst>
              <a:gd name="adj" fmla="val 8824"/>
            </a:avLst>
          </a:prstGeom>
          <a:solidFill>
            <a:srgbClr val="FFFFFF"/>
          </a:solidFill>
          <a:ln w="9525">
            <a:solidFill>
              <a:srgbClr val="D5DDEA"/>
            </a:solidFill>
            <a:prstDash val="solid"/>
          </a:ln>
        </p:spPr>
      </p:sp>
      <p:sp>
        <p:nvSpPr>
          <p:cNvPr id="13" name="Text 10"/>
          <p:cNvSpPr/>
          <p:nvPr/>
        </p:nvSpPr>
        <p:spPr>
          <a:xfrm>
            <a:off x="1508760" y="2715768"/>
            <a:ext cx="7498080" cy="621792"/>
          </a:xfrm>
          <a:prstGeom prst="rect">
            <a:avLst/>
          </a:prstGeom>
          <a:noFill/>
          <a:ln/>
        </p:spPr>
        <p:txBody>
          <a:bodyPr wrap="square" lIns="0" tIns="0" rIns="0" bIns="0" rtlCol="0" anchor="ctr"/>
          <a:lstStyle/>
          <a:p>
            <a:pPr algn="l" indent="0" marL="0">
              <a:buNone/>
            </a:pPr>
            <a:r>
              <a:rPr lang="en-US" sz="2000" b="1" dirty="0">
                <a:solidFill>
                  <a:srgbClr val="0A1628"/>
                </a:solidFill>
                <a:latin typeface="Oswald" pitchFamily="34" charset="0"/>
                <a:ea typeface="Oswald" pitchFamily="34" charset="-122"/>
                <a:cs typeface="Oswald" pitchFamily="34" charset="-120"/>
              </a:rPr>
              <a:t>Claude 4.x</a:t>
            </a:r>
            <a:endParaRPr lang="en-US" sz="2000" dirty="0"/>
          </a:p>
        </p:txBody>
      </p:sp>
      <p:sp>
        <p:nvSpPr>
          <p:cNvPr id="14" name="Shape 11"/>
          <p:cNvSpPr/>
          <p:nvPr/>
        </p:nvSpPr>
        <p:spPr>
          <a:xfrm>
            <a:off x="457200" y="3465576"/>
            <a:ext cx="566928" cy="566928"/>
          </a:xfrm>
          <a:prstGeom prst="ellipse">
            <a:avLst/>
          </a:prstGeom>
          <a:solidFill>
            <a:srgbClr val="0066FF"/>
          </a:solidFill>
          <a:ln/>
        </p:spPr>
      </p:sp>
      <p:sp>
        <p:nvSpPr>
          <p:cNvPr id="15" name="Text 12"/>
          <p:cNvSpPr/>
          <p:nvPr/>
        </p:nvSpPr>
        <p:spPr>
          <a:xfrm>
            <a:off x="457200" y="3465576"/>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Oswald" pitchFamily="34" charset="0"/>
                <a:ea typeface="Oswald" pitchFamily="34" charset="-122"/>
                <a:cs typeface="Oswald" pitchFamily="34" charset="-120"/>
              </a:rPr>
              <a:t>3</a:t>
            </a:r>
            <a:endParaRPr lang="en-US" sz="2200" dirty="0"/>
          </a:p>
        </p:txBody>
      </p:sp>
      <p:sp>
        <p:nvSpPr>
          <p:cNvPr id="16" name="Shape 13"/>
          <p:cNvSpPr/>
          <p:nvPr/>
        </p:nvSpPr>
        <p:spPr>
          <a:xfrm>
            <a:off x="1234440" y="3465576"/>
            <a:ext cx="7909560" cy="621792"/>
          </a:xfrm>
          <a:prstGeom prst="roundRect">
            <a:avLst>
              <a:gd name="adj" fmla="val 8824"/>
            </a:avLst>
          </a:prstGeom>
          <a:solidFill>
            <a:srgbClr val="FFFFFF"/>
          </a:solidFill>
          <a:ln w="9525">
            <a:solidFill>
              <a:srgbClr val="D5DDEA"/>
            </a:solidFill>
            <a:prstDash val="solid"/>
          </a:ln>
        </p:spPr>
      </p:sp>
      <p:sp>
        <p:nvSpPr>
          <p:cNvPr id="17" name="Text 14"/>
          <p:cNvSpPr/>
          <p:nvPr/>
        </p:nvSpPr>
        <p:spPr>
          <a:xfrm>
            <a:off x="1508760" y="3465576"/>
            <a:ext cx="7498080" cy="621792"/>
          </a:xfrm>
          <a:prstGeom prst="rect">
            <a:avLst/>
          </a:prstGeom>
          <a:noFill/>
          <a:ln/>
        </p:spPr>
        <p:txBody>
          <a:bodyPr wrap="square" lIns="0" tIns="0" rIns="0" bIns="0" rtlCol="0" anchor="ctr"/>
          <a:lstStyle/>
          <a:p>
            <a:pPr algn="l" indent="0" marL="0">
              <a:buNone/>
            </a:pPr>
            <a:r>
              <a:rPr lang="en-US" sz="2000" b="1" dirty="0">
                <a:solidFill>
                  <a:srgbClr val="0A1628"/>
                </a:solidFill>
                <a:latin typeface="Oswald" pitchFamily="34" charset="0"/>
                <a:ea typeface="Oswald" pitchFamily="34" charset="-122"/>
                <a:cs typeface="Oswald" pitchFamily="34" charset="-120"/>
              </a:rPr>
              <a:t>Gemini 3.x</a:t>
            </a:r>
            <a:endParaRPr lang="en-US" sz="2000" dirty="0"/>
          </a:p>
        </p:txBody>
      </p:sp>
      <p:sp>
        <p:nvSpPr>
          <p:cNvPr id="18" name="Shape 15"/>
          <p:cNvSpPr/>
          <p:nvPr/>
        </p:nvSpPr>
        <p:spPr>
          <a:xfrm>
            <a:off x="457200" y="4215384"/>
            <a:ext cx="566928" cy="566928"/>
          </a:xfrm>
          <a:prstGeom prst="ellipse">
            <a:avLst/>
          </a:prstGeom>
          <a:solidFill>
            <a:srgbClr val="3D4759"/>
          </a:solidFill>
          <a:ln/>
        </p:spPr>
      </p:sp>
      <p:sp>
        <p:nvSpPr>
          <p:cNvPr id="19" name="Text 16"/>
          <p:cNvSpPr/>
          <p:nvPr/>
        </p:nvSpPr>
        <p:spPr>
          <a:xfrm>
            <a:off x="457200" y="421538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Oswald" pitchFamily="34" charset="0"/>
                <a:ea typeface="Oswald" pitchFamily="34" charset="-122"/>
                <a:cs typeface="Oswald" pitchFamily="34" charset="-120"/>
              </a:rPr>
              <a:t>4</a:t>
            </a:r>
            <a:endParaRPr lang="en-US" sz="2200" dirty="0"/>
          </a:p>
        </p:txBody>
      </p:sp>
      <p:sp>
        <p:nvSpPr>
          <p:cNvPr id="20" name="Shape 17"/>
          <p:cNvSpPr/>
          <p:nvPr/>
        </p:nvSpPr>
        <p:spPr>
          <a:xfrm>
            <a:off x="1234440" y="4215384"/>
            <a:ext cx="7909560" cy="621792"/>
          </a:xfrm>
          <a:prstGeom prst="roundRect">
            <a:avLst>
              <a:gd name="adj" fmla="val 8824"/>
            </a:avLst>
          </a:prstGeom>
          <a:solidFill>
            <a:srgbClr val="FFFFFF"/>
          </a:solidFill>
          <a:ln w="9525">
            <a:solidFill>
              <a:srgbClr val="D5DDEA"/>
            </a:solidFill>
            <a:prstDash val="solid"/>
          </a:ln>
        </p:spPr>
      </p:sp>
      <p:sp>
        <p:nvSpPr>
          <p:cNvPr id="21" name="Text 18"/>
          <p:cNvSpPr/>
          <p:nvPr/>
        </p:nvSpPr>
        <p:spPr>
          <a:xfrm>
            <a:off x="1508760" y="4215384"/>
            <a:ext cx="7498080" cy="621792"/>
          </a:xfrm>
          <a:prstGeom prst="rect">
            <a:avLst/>
          </a:prstGeom>
          <a:noFill/>
          <a:ln/>
        </p:spPr>
        <p:txBody>
          <a:bodyPr wrap="square" lIns="0" tIns="0" rIns="0" bIns="0" rtlCol="0" anchor="ctr"/>
          <a:lstStyle/>
          <a:p>
            <a:pPr algn="l" indent="0" marL="0">
              <a:buNone/>
            </a:pPr>
            <a:r>
              <a:rPr lang="en-US" sz="2000" b="1" dirty="0">
                <a:solidFill>
                  <a:srgbClr val="0A1628"/>
                </a:solidFill>
                <a:latin typeface="Oswald" pitchFamily="34" charset="0"/>
                <a:ea typeface="Oswald" pitchFamily="34" charset="-122"/>
                <a:cs typeface="Oswald" pitchFamily="34" charset="-120"/>
              </a:rPr>
              <a:t>Grok 4.x</a:t>
            </a:r>
            <a:endParaRPr lang="en-US" sz="2000" dirty="0"/>
          </a:p>
        </p:txBody>
      </p:sp>
      <p:sp>
        <p:nvSpPr>
          <p:cNvPr id="22" name="Shape 19"/>
          <p:cNvSpPr/>
          <p:nvPr/>
        </p:nvSpPr>
        <p:spPr>
          <a:xfrm>
            <a:off x="457200" y="4965192"/>
            <a:ext cx="566928" cy="566928"/>
          </a:xfrm>
          <a:prstGeom prst="ellipse">
            <a:avLst/>
          </a:prstGeom>
          <a:solidFill>
            <a:srgbClr val="3D4759"/>
          </a:solidFill>
          <a:ln/>
        </p:spPr>
      </p:sp>
      <p:sp>
        <p:nvSpPr>
          <p:cNvPr id="23" name="Text 20"/>
          <p:cNvSpPr/>
          <p:nvPr/>
        </p:nvSpPr>
        <p:spPr>
          <a:xfrm>
            <a:off x="457200" y="4965192"/>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Oswald" pitchFamily="34" charset="0"/>
                <a:ea typeface="Oswald" pitchFamily="34" charset="-122"/>
                <a:cs typeface="Oswald" pitchFamily="34" charset="-120"/>
              </a:rPr>
              <a:t>5</a:t>
            </a:r>
            <a:endParaRPr lang="en-US" sz="2200" dirty="0"/>
          </a:p>
        </p:txBody>
      </p:sp>
      <p:sp>
        <p:nvSpPr>
          <p:cNvPr id="24" name="Shape 21"/>
          <p:cNvSpPr/>
          <p:nvPr/>
        </p:nvSpPr>
        <p:spPr>
          <a:xfrm>
            <a:off x="1234440" y="4965192"/>
            <a:ext cx="7909560" cy="621792"/>
          </a:xfrm>
          <a:prstGeom prst="roundRect">
            <a:avLst>
              <a:gd name="adj" fmla="val 8824"/>
            </a:avLst>
          </a:prstGeom>
          <a:solidFill>
            <a:srgbClr val="FFFFFF"/>
          </a:solidFill>
          <a:ln w="9525">
            <a:solidFill>
              <a:srgbClr val="D5DDEA"/>
            </a:solidFill>
            <a:prstDash val="solid"/>
          </a:ln>
        </p:spPr>
      </p:sp>
      <p:sp>
        <p:nvSpPr>
          <p:cNvPr id="25" name="Text 22"/>
          <p:cNvSpPr/>
          <p:nvPr/>
        </p:nvSpPr>
        <p:spPr>
          <a:xfrm>
            <a:off x="1508760" y="4965192"/>
            <a:ext cx="7498080" cy="621792"/>
          </a:xfrm>
          <a:prstGeom prst="rect">
            <a:avLst/>
          </a:prstGeom>
          <a:noFill/>
          <a:ln/>
        </p:spPr>
        <p:txBody>
          <a:bodyPr wrap="square" lIns="0" tIns="0" rIns="0" bIns="0" rtlCol="0" anchor="ctr"/>
          <a:lstStyle/>
          <a:p>
            <a:pPr algn="l" indent="0" marL="0">
              <a:buNone/>
            </a:pPr>
            <a:r>
              <a:rPr lang="en-US" sz="2000" b="1" dirty="0">
                <a:solidFill>
                  <a:srgbClr val="0A1628"/>
                </a:solidFill>
                <a:latin typeface="Oswald" pitchFamily="34" charset="0"/>
                <a:ea typeface="Oswald" pitchFamily="34" charset="-122"/>
                <a:cs typeface="Oswald" pitchFamily="34" charset="-120"/>
              </a:rPr>
              <a:t>DeepSeek V3/R1</a:t>
            </a:r>
            <a:endParaRPr lang="en-US" sz="2000" dirty="0"/>
          </a:p>
        </p:txBody>
      </p:sp>
      <p:sp>
        <p:nvSpPr>
          <p:cNvPr id="26" name="Text 23"/>
          <p:cNvSpPr/>
          <p:nvPr/>
        </p:nvSpPr>
        <p:spPr>
          <a:xfrm>
            <a:off x="457200" y="5806440"/>
            <a:ext cx="8686800" cy="365760"/>
          </a:xfrm>
          <a:prstGeom prst="rect">
            <a:avLst/>
          </a:prstGeom>
          <a:noFill/>
          <a:ln/>
        </p:spPr>
        <p:txBody>
          <a:bodyPr wrap="square" lIns="0" tIns="0" rIns="0" bIns="0" rtlCol="0" anchor="t"/>
          <a:lstStyle/>
          <a:p>
            <a:pPr algn="l" indent="0" marL="0">
              <a:buNone/>
            </a:pPr>
            <a:r>
              <a:rPr lang="en-US" sz="1200" i="1" dirty="0">
                <a:solidFill>
                  <a:srgbClr val="3D4759"/>
                </a:solidFill>
                <a:latin typeface="Plus Jakarta Sans" pitchFamily="34" charset="0"/>
                <a:ea typeface="Plus Jakarta Sans" pitchFamily="34" charset="-122"/>
                <a:cs typeface="Plus Jakarta Sans" pitchFamily="34" charset="-120"/>
              </a:rPr>
              <a:t>Speaker: confirm/reorder against the latest adoption data for your audience before presenting.</a:t>
            </a:r>
            <a:endParaRPr lang="en-US" sz="1200" dirty="0"/>
          </a:p>
        </p:txBody>
      </p:sp>
      <p:sp>
        <p:nvSpPr>
          <p:cNvPr id="27" name="Shape 24"/>
          <p:cNvSpPr/>
          <p:nvPr/>
        </p:nvSpPr>
        <p:spPr>
          <a:xfrm>
            <a:off x="457200" y="6446520"/>
            <a:ext cx="11277295" cy="0"/>
          </a:xfrm>
          <a:prstGeom prst="line">
            <a:avLst/>
          </a:prstGeom>
          <a:noFill/>
          <a:ln w="9525">
            <a:solidFill>
              <a:srgbClr val="D5DDEA"/>
            </a:solidFill>
            <a:prstDash val="solid"/>
          </a:ln>
        </p:spPr>
      </p:sp>
      <p:sp>
        <p:nvSpPr>
          <p:cNvPr id="28" name="Text 25"/>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11 / 35</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FOUNDATIONS · LLMS</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DEFINITION</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0A1628"/>
                </a:solidFill>
                <a:latin typeface="Oswald" pitchFamily="34" charset="0"/>
                <a:ea typeface="Oswald" pitchFamily="34" charset="-122"/>
                <a:cs typeface="Oswald" pitchFamily="34" charset="-120"/>
              </a:rPr>
              <a:t>What Exactly Is an LLM?</a:t>
            </a:r>
            <a:endParaRPr lang="en-US" sz="3400" dirty="0"/>
          </a:p>
        </p:txBody>
      </p:sp>
      <p:sp>
        <p:nvSpPr>
          <p:cNvPr id="5" name="Text 3"/>
          <p:cNvSpPr/>
          <p:nvPr/>
        </p:nvSpPr>
        <p:spPr>
          <a:xfrm>
            <a:off x="457200" y="1481328"/>
            <a:ext cx="11277295" cy="457200"/>
          </a:xfrm>
          <a:prstGeom prst="rect">
            <a:avLst/>
          </a:prstGeom>
          <a:noFill/>
          <a:ln/>
        </p:spPr>
        <p:txBody>
          <a:bodyPr wrap="square" lIns="0" tIns="0" rIns="0" bIns="0" rtlCol="0" anchor="t"/>
          <a:lstStyle/>
          <a:p>
            <a:pPr algn="l" indent="0" marL="0">
              <a:buNone/>
            </a:pPr>
            <a:r>
              <a:rPr lang="en-US" sz="1600" dirty="0">
                <a:solidFill>
                  <a:srgbClr val="3D4759"/>
                </a:solidFill>
                <a:latin typeface="Plus Jakarta Sans" pitchFamily="34" charset="0"/>
                <a:ea typeface="Plus Jakarta Sans" pitchFamily="34" charset="-122"/>
                <a:cs typeface="Plus Jakarta Sans" pitchFamily="34" charset="-120"/>
              </a:rPr>
              <a:t>An LLM is trained on enormous amounts of text so it can understand, generate, and reason about language.</a:t>
            </a:r>
            <a:endParaRPr lang="en-US" sz="1600" dirty="0"/>
          </a:p>
        </p:txBody>
      </p:sp>
      <p:sp>
        <p:nvSpPr>
          <p:cNvPr id="6" name="Shape 4"/>
          <p:cNvSpPr/>
          <p:nvPr/>
        </p:nvSpPr>
        <p:spPr>
          <a:xfrm>
            <a:off x="457200" y="2148840"/>
            <a:ext cx="3515258" cy="3246120"/>
          </a:xfrm>
          <a:prstGeom prst="roundRect">
            <a:avLst>
              <a:gd name="adj" fmla="val 2817"/>
            </a:avLst>
          </a:prstGeom>
          <a:solidFill>
            <a:srgbClr val="FFFFFF"/>
          </a:solidFill>
          <a:ln w="9525">
            <a:solidFill>
              <a:srgbClr val="D5DDEA"/>
            </a:solidFill>
            <a:prstDash val="solid"/>
          </a:ln>
        </p:spPr>
      </p:sp>
      <p:sp>
        <p:nvSpPr>
          <p:cNvPr id="7" name="Shape 5"/>
          <p:cNvSpPr/>
          <p:nvPr/>
        </p:nvSpPr>
        <p:spPr>
          <a:xfrm>
            <a:off x="1757629" y="2651760"/>
            <a:ext cx="914400" cy="914400"/>
          </a:xfrm>
          <a:prstGeom prst="ellipse">
            <a:avLst/>
          </a:prstGeom>
          <a:solidFill>
            <a:srgbClr val="0066FF"/>
          </a:solidFill>
          <a:ln/>
        </p:spPr>
      </p:sp>
      <p:pic>
        <p:nvPicPr>
          <p:cNvPr id="8" name="Image 0" descr="icons/brain-white.png">    </p:cNvPr>
          <p:cNvPicPr>
            <a:picLocks noChangeAspect="1"/>
          </p:cNvPicPr>
          <p:nvPr/>
        </p:nvPicPr>
        <p:blipFill>
          <a:blip r:embed="rId1"/>
          <a:stretch>
            <a:fillRect/>
          </a:stretch>
        </p:blipFill>
        <p:spPr>
          <a:xfrm>
            <a:off x="1958797" y="2852928"/>
            <a:ext cx="512064" cy="512064"/>
          </a:xfrm>
          <a:prstGeom prst="rect">
            <a:avLst/>
          </a:prstGeom>
        </p:spPr>
      </p:pic>
      <p:sp>
        <p:nvSpPr>
          <p:cNvPr id="9" name="Text 6"/>
          <p:cNvSpPr/>
          <p:nvPr/>
        </p:nvSpPr>
        <p:spPr>
          <a:xfrm>
            <a:off x="685800" y="3840480"/>
            <a:ext cx="3058058" cy="1280160"/>
          </a:xfrm>
          <a:prstGeom prst="rect">
            <a:avLst/>
          </a:prstGeom>
          <a:noFill/>
          <a:ln/>
        </p:spPr>
        <p:txBody>
          <a:bodyPr wrap="square" lIns="0" tIns="0" rIns="0" bIns="0" rtlCol="0" anchor="t"/>
          <a:lstStyle/>
          <a:p>
            <a:pPr algn="ctr" indent="0" marL="0">
              <a:buNone/>
            </a:pPr>
            <a:r>
              <a:rPr lang="en-US" sz="1900" b="1" dirty="0">
                <a:solidFill>
                  <a:srgbClr val="0A1628"/>
                </a:solidFill>
                <a:latin typeface="Oswald" pitchFamily="34" charset="0"/>
                <a:ea typeface="Oswald" pitchFamily="34" charset="-122"/>
                <a:cs typeface="Oswald" pitchFamily="34" charset="-120"/>
              </a:rPr>
              <a:t>The LLM is the Brain</a:t>
            </a:r>
            <a:endParaRPr lang="en-US" sz="1900" dirty="0"/>
          </a:p>
        </p:txBody>
      </p:sp>
      <p:sp>
        <p:nvSpPr>
          <p:cNvPr id="10" name="Shape 7"/>
          <p:cNvSpPr/>
          <p:nvPr/>
        </p:nvSpPr>
        <p:spPr>
          <a:xfrm>
            <a:off x="4338218" y="2148840"/>
            <a:ext cx="3515258" cy="3246120"/>
          </a:xfrm>
          <a:prstGeom prst="roundRect">
            <a:avLst>
              <a:gd name="adj" fmla="val 2817"/>
            </a:avLst>
          </a:prstGeom>
          <a:solidFill>
            <a:srgbClr val="FFFFFF"/>
          </a:solidFill>
          <a:ln w="9525">
            <a:solidFill>
              <a:srgbClr val="D5DDEA"/>
            </a:solidFill>
            <a:prstDash val="solid"/>
          </a:ln>
        </p:spPr>
      </p:sp>
      <p:sp>
        <p:nvSpPr>
          <p:cNvPr id="11" name="Shape 8"/>
          <p:cNvSpPr/>
          <p:nvPr/>
        </p:nvSpPr>
        <p:spPr>
          <a:xfrm>
            <a:off x="5638648" y="2651760"/>
            <a:ext cx="914400" cy="914400"/>
          </a:xfrm>
          <a:prstGeom prst="ellipse">
            <a:avLst/>
          </a:prstGeom>
          <a:solidFill>
            <a:srgbClr val="3D4759"/>
          </a:solidFill>
          <a:ln/>
        </p:spPr>
      </p:sp>
      <p:pic>
        <p:nvPicPr>
          <p:cNvPr id="12" name="Image 1" descr="icons/comments-white.png">    </p:cNvPr>
          <p:cNvPicPr>
            <a:picLocks noChangeAspect="1"/>
          </p:cNvPicPr>
          <p:nvPr/>
        </p:nvPicPr>
        <p:blipFill>
          <a:blip r:embed="rId2"/>
          <a:stretch>
            <a:fillRect/>
          </a:stretch>
        </p:blipFill>
        <p:spPr>
          <a:xfrm>
            <a:off x="5839816" y="2852928"/>
            <a:ext cx="512064" cy="512064"/>
          </a:xfrm>
          <a:prstGeom prst="rect">
            <a:avLst/>
          </a:prstGeom>
        </p:spPr>
      </p:pic>
      <p:sp>
        <p:nvSpPr>
          <p:cNvPr id="13" name="Text 9"/>
          <p:cNvSpPr/>
          <p:nvPr/>
        </p:nvSpPr>
        <p:spPr>
          <a:xfrm>
            <a:off x="4566818" y="3840480"/>
            <a:ext cx="3058058" cy="1280160"/>
          </a:xfrm>
          <a:prstGeom prst="rect">
            <a:avLst/>
          </a:prstGeom>
          <a:noFill/>
          <a:ln/>
        </p:spPr>
        <p:txBody>
          <a:bodyPr wrap="square" lIns="0" tIns="0" rIns="0" bIns="0" rtlCol="0" anchor="t"/>
          <a:lstStyle/>
          <a:p>
            <a:pPr algn="ctr" indent="0" marL="0">
              <a:buNone/>
            </a:pPr>
            <a:r>
              <a:rPr lang="en-US" sz="1900" b="1" dirty="0">
                <a:solidFill>
                  <a:srgbClr val="0A1628"/>
                </a:solidFill>
                <a:latin typeface="Oswald" pitchFamily="34" charset="0"/>
                <a:ea typeface="Oswald" pitchFamily="34" charset="-122"/>
                <a:cs typeface="Oswald" pitchFamily="34" charset="-120"/>
              </a:rPr>
              <a:t>The Chatbot is the Interface</a:t>
            </a:r>
            <a:endParaRPr lang="en-US" sz="1900" dirty="0"/>
          </a:p>
        </p:txBody>
      </p:sp>
      <p:sp>
        <p:nvSpPr>
          <p:cNvPr id="14" name="Shape 10"/>
          <p:cNvSpPr/>
          <p:nvPr/>
        </p:nvSpPr>
        <p:spPr>
          <a:xfrm>
            <a:off x="8219237" y="2148840"/>
            <a:ext cx="3515258" cy="3246120"/>
          </a:xfrm>
          <a:prstGeom prst="roundRect">
            <a:avLst>
              <a:gd name="adj" fmla="val 2817"/>
            </a:avLst>
          </a:prstGeom>
          <a:solidFill>
            <a:srgbClr val="FFFFFF"/>
          </a:solidFill>
          <a:ln w="9525">
            <a:solidFill>
              <a:srgbClr val="D5DDEA"/>
            </a:solidFill>
            <a:prstDash val="solid"/>
          </a:ln>
        </p:spPr>
      </p:sp>
      <p:sp>
        <p:nvSpPr>
          <p:cNvPr id="15" name="Shape 11"/>
          <p:cNvSpPr/>
          <p:nvPr/>
        </p:nvSpPr>
        <p:spPr>
          <a:xfrm>
            <a:off x="9519666" y="2651760"/>
            <a:ext cx="914400" cy="914400"/>
          </a:xfrm>
          <a:prstGeom prst="ellipse">
            <a:avLst/>
          </a:prstGeom>
          <a:solidFill>
            <a:srgbClr val="0A1628"/>
          </a:solidFill>
          <a:ln/>
        </p:spPr>
      </p:sp>
      <p:pic>
        <p:nvPicPr>
          <p:cNvPr id="16" name="Image 2" descr="icons/robot-white.png">    </p:cNvPr>
          <p:cNvPicPr>
            <a:picLocks noChangeAspect="1"/>
          </p:cNvPicPr>
          <p:nvPr/>
        </p:nvPicPr>
        <p:blipFill>
          <a:blip r:embed="rId3"/>
          <a:stretch>
            <a:fillRect/>
          </a:stretch>
        </p:blipFill>
        <p:spPr>
          <a:xfrm>
            <a:off x="9720834" y="2852928"/>
            <a:ext cx="512064" cy="512064"/>
          </a:xfrm>
          <a:prstGeom prst="rect">
            <a:avLst/>
          </a:prstGeom>
        </p:spPr>
      </p:pic>
      <p:sp>
        <p:nvSpPr>
          <p:cNvPr id="17" name="Text 12"/>
          <p:cNvSpPr/>
          <p:nvPr/>
        </p:nvSpPr>
        <p:spPr>
          <a:xfrm>
            <a:off x="8447837" y="3840480"/>
            <a:ext cx="3058058" cy="1280160"/>
          </a:xfrm>
          <a:prstGeom prst="rect">
            <a:avLst/>
          </a:prstGeom>
          <a:noFill/>
          <a:ln/>
        </p:spPr>
        <p:txBody>
          <a:bodyPr wrap="square" lIns="0" tIns="0" rIns="0" bIns="0" rtlCol="0" anchor="t"/>
          <a:lstStyle/>
          <a:p>
            <a:pPr algn="ctr" indent="0" marL="0">
              <a:buNone/>
            </a:pPr>
            <a:r>
              <a:rPr lang="en-US" sz="1900" b="1" dirty="0">
                <a:solidFill>
                  <a:srgbClr val="0A1628"/>
                </a:solidFill>
                <a:latin typeface="Oswald" pitchFamily="34" charset="0"/>
                <a:ea typeface="Oswald" pitchFamily="34" charset="-122"/>
                <a:cs typeface="Oswald" pitchFamily="34" charset="-120"/>
              </a:rPr>
              <a:t>The AI Agent is the Worker</a:t>
            </a:r>
            <a:endParaRPr lang="en-US" sz="1900" dirty="0"/>
          </a:p>
        </p:txBody>
      </p:sp>
      <p:sp>
        <p:nvSpPr>
          <p:cNvPr id="18" name="Text 13"/>
          <p:cNvSpPr/>
          <p:nvPr/>
        </p:nvSpPr>
        <p:spPr>
          <a:xfrm>
            <a:off x="457200" y="5623560"/>
            <a:ext cx="11277295" cy="457200"/>
          </a:xfrm>
          <a:prstGeom prst="rect">
            <a:avLst/>
          </a:prstGeom>
          <a:noFill/>
          <a:ln/>
        </p:spPr>
        <p:txBody>
          <a:bodyPr wrap="square" lIns="0" tIns="0" rIns="0" bIns="0" rtlCol="0" anchor="t"/>
          <a:lstStyle/>
          <a:p>
            <a:pPr algn="l" indent="0" marL="0">
              <a:buNone/>
            </a:pPr>
            <a:r>
              <a:rPr lang="en-US" sz="1600" i="1" dirty="0">
                <a:solidFill>
                  <a:srgbClr val="3D4759"/>
                </a:solidFill>
                <a:latin typeface="Plus Jakarta Sans" pitchFamily="34" charset="0"/>
                <a:ea typeface="Plus Jakarta Sans" pitchFamily="34" charset="-122"/>
                <a:cs typeface="Plus Jakarta Sans" pitchFamily="34" charset="-120"/>
              </a:rPr>
              <a:t>Confuse these three and you either over-trust a chatbot or under-build an agent.</a:t>
            </a:r>
            <a:endParaRPr lang="en-US" sz="1600" dirty="0"/>
          </a:p>
        </p:txBody>
      </p:sp>
      <p:sp>
        <p:nvSpPr>
          <p:cNvPr id="19" name="Shape 14"/>
          <p:cNvSpPr/>
          <p:nvPr/>
        </p:nvSpPr>
        <p:spPr>
          <a:xfrm>
            <a:off x="457200" y="6446520"/>
            <a:ext cx="11277295" cy="0"/>
          </a:xfrm>
          <a:prstGeom prst="line">
            <a:avLst/>
          </a:prstGeom>
          <a:noFill/>
          <a:ln w="9525">
            <a:solidFill>
              <a:srgbClr val="D5DDEA"/>
            </a:solidFill>
            <a:prstDash val="solid"/>
          </a:ln>
        </p:spPr>
      </p:sp>
      <p:sp>
        <p:nvSpPr>
          <p:cNvPr id="20" name="Text 15"/>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12 / 35</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FOUNDATIONS · LLMS</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EXAMPLE</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0A1628"/>
                </a:solidFill>
                <a:latin typeface="Oswald" pitchFamily="34" charset="0"/>
                <a:ea typeface="Oswald" pitchFamily="34" charset="-122"/>
                <a:cs typeface="Oswald" pitchFamily="34" charset="-120"/>
              </a:rPr>
              <a:t>Putting It Together</a:t>
            </a:r>
            <a:endParaRPr lang="en-US" sz="3400" dirty="0"/>
          </a:p>
        </p:txBody>
      </p:sp>
      <p:sp>
        <p:nvSpPr>
          <p:cNvPr id="5" name="Text 3"/>
          <p:cNvSpPr/>
          <p:nvPr/>
        </p:nvSpPr>
        <p:spPr>
          <a:xfrm>
            <a:off x="457200" y="1828800"/>
            <a:ext cx="5212080" cy="3840480"/>
          </a:xfrm>
          <a:prstGeom prst="rect">
            <a:avLst/>
          </a:prstGeom>
          <a:noFill/>
          <a:ln/>
        </p:spPr>
        <p:txBody>
          <a:bodyPr wrap="square" lIns="0" tIns="0" rIns="0" bIns="0" rtlCol="0" anchor="t"/>
          <a:lstStyle/>
          <a:p>
            <a:pPr algn="l" marL="342900" indent="-342900">
              <a:lnSpc>
                <a:spcPts val="2400"/>
              </a:lnSpc>
              <a:spcAft>
                <a:spcPts val="1800"/>
              </a:spcAft>
              <a:buSzPct val="100000"/>
              <a:buChar char="•"/>
            </a:pPr>
            <a:r>
              <a:rPr lang="en-US" sz="1600" dirty="0">
                <a:solidFill>
                  <a:srgbClr val="0A1628"/>
                </a:solidFill>
                <a:latin typeface="Plus Jakarta Sans" pitchFamily="34" charset="0"/>
                <a:ea typeface="Plus Jakarta Sans" pitchFamily="34" charset="-122"/>
                <a:cs typeface="Plus Jakarta Sans" pitchFamily="34" charset="-120"/>
              </a:rPr>
              <a:t>ChatGPT is the application.</a:t>
            </a:r>
            <a:endParaRPr lang="en-US" sz="1600" dirty="0"/>
          </a:p>
          <a:p>
            <a:pPr algn="l" marL="342900" indent="-342900">
              <a:lnSpc>
                <a:spcPts val="2400"/>
              </a:lnSpc>
              <a:spcAft>
                <a:spcPts val="1800"/>
              </a:spcAft>
              <a:buSzPct val="100000"/>
              <a:buChar char="•"/>
            </a:pPr>
            <a:r>
              <a:rPr lang="en-US" sz="1600" dirty="0">
                <a:solidFill>
                  <a:srgbClr val="0A1628"/>
                </a:solidFill>
                <a:latin typeface="Plus Jakarta Sans" pitchFamily="34" charset="0"/>
                <a:ea typeface="Plus Jakarta Sans" pitchFamily="34" charset="-122"/>
                <a:cs typeface="Plus Jakarta Sans" pitchFamily="34" charset="-120"/>
              </a:rPr>
              <a:t>GPT-5.5 is the LLM powering it.</a:t>
            </a:r>
            <a:endParaRPr lang="en-US" sz="1600" dirty="0"/>
          </a:p>
          <a:p>
            <a:pPr algn="l" marL="342900" indent="-342900">
              <a:lnSpc>
                <a:spcPts val="2400"/>
              </a:lnSpc>
              <a:buSzPct val="100000"/>
              <a:buChar char="•"/>
            </a:pPr>
            <a:r>
              <a:rPr lang="en-US" sz="1600" dirty="0">
                <a:solidFill>
                  <a:srgbClr val="0A1628"/>
                </a:solidFill>
                <a:latin typeface="Plus Jakarta Sans" pitchFamily="34" charset="0"/>
                <a:ea typeface="Plus Jakarta Sans" pitchFamily="34" charset="-122"/>
                <a:cs typeface="Plus Jakarta Sans" pitchFamily="34" charset="-120"/>
              </a:rPr>
              <a:t>An agent built in Claude Code (or an automation platform) might use GPT-5.5, Claude, or Gemini as its brain.</a:t>
            </a:r>
            <a:endParaRPr lang="en-US" sz="1600" dirty="0"/>
          </a:p>
        </p:txBody>
      </p:sp>
      <p:sp>
        <p:nvSpPr>
          <p:cNvPr id="6" name="Shape 4"/>
          <p:cNvSpPr/>
          <p:nvPr/>
        </p:nvSpPr>
        <p:spPr>
          <a:xfrm>
            <a:off x="6035040" y="1828800"/>
            <a:ext cx="5696712" cy="3840480"/>
          </a:xfrm>
          <a:prstGeom prst="roundRect">
            <a:avLst>
              <a:gd name="adj" fmla="val 2381"/>
            </a:avLst>
          </a:prstGeom>
          <a:solidFill>
            <a:srgbClr val="FFFFFF"/>
          </a:solidFill>
          <a:ln w="9525">
            <a:solidFill>
              <a:srgbClr val="D5DDEA"/>
            </a:solidFill>
            <a:prstDash val="solid"/>
          </a:ln>
        </p:spPr>
      </p:sp>
      <p:sp>
        <p:nvSpPr>
          <p:cNvPr id="7" name="Text 5"/>
          <p:cNvSpPr/>
          <p:nvPr/>
        </p:nvSpPr>
        <p:spPr>
          <a:xfrm>
            <a:off x="6355080" y="2148840"/>
            <a:ext cx="5056632" cy="365760"/>
          </a:xfrm>
          <a:prstGeom prst="rect">
            <a:avLst/>
          </a:prstGeom>
          <a:noFill/>
          <a:ln/>
        </p:spPr>
        <p:txBody>
          <a:bodyPr wrap="square" lIns="0" tIns="0" rIns="0" bIns="0" rtlCol="0" anchor="t"/>
          <a:lstStyle/>
          <a:p>
            <a:pPr algn="l" indent="0" marL="0">
              <a:buNone/>
            </a:pPr>
            <a:r>
              <a:rPr lang="en-US" sz="1300" b="1" spc="150" kern="0" dirty="0">
                <a:solidFill>
                  <a:srgbClr val="3D4759"/>
                </a:solidFill>
                <a:latin typeface="Oswald" pitchFamily="34" charset="0"/>
                <a:ea typeface="Oswald" pitchFamily="34" charset="-122"/>
                <a:cs typeface="Oswald" pitchFamily="34" charset="-120"/>
              </a:rPr>
              <a:t>HOW THE PIECES CONNECT</a:t>
            </a:r>
            <a:endParaRPr lang="en-US" sz="1300" dirty="0"/>
          </a:p>
        </p:txBody>
      </p:sp>
      <p:sp>
        <p:nvSpPr>
          <p:cNvPr id="8" name="Shape 6"/>
          <p:cNvSpPr/>
          <p:nvPr/>
        </p:nvSpPr>
        <p:spPr>
          <a:xfrm>
            <a:off x="6323076" y="3429000"/>
            <a:ext cx="1371600" cy="1188720"/>
          </a:xfrm>
          <a:prstGeom prst="roundRect">
            <a:avLst>
              <a:gd name="adj" fmla="val 6154"/>
            </a:avLst>
          </a:prstGeom>
          <a:solidFill>
            <a:srgbClr val="0A1628"/>
          </a:solidFill>
          <a:ln/>
        </p:spPr>
      </p:sp>
      <p:sp>
        <p:nvSpPr>
          <p:cNvPr id="9" name="Text 7"/>
          <p:cNvSpPr/>
          <p:nvPr/>
        </p:nvSpPr>
        <p:spPr>
          <a:xfrm>
            <a:off x="6323076" y="3429000"/>
            <a:ext cx="1371600" cy="1188720"/>
          </a:xfrm>
          <a:prstGeom prst="rect">
            <a:avLst/>
          </a:prstGeom>
          <a:noFill/>
          <a:ln/>
        </p:spPr>
        <p:txBody>
          <a:bodyPr wrap="square" lIns="0" tIns="0" rIns="0" bIns="0" rtlCol="0" anchor="ctr"/>
          <a:lstStyle/>
          <a:p>
            <a:pPr algn="ctr" indent="0" marL="0">
              <a:buNone/>
            </a:pPr>
            <a:r>
              <a:rPr lang="en-US" sz="1400" b="1" dirty="0">
                <a:solidFill>
                  <a:srgbClr val="FFFFFF"/>
                </a:solidFill>
                <a:latin typeface="Oswald" pitchFamily="34" charset="0"/>
                <a:ea typeface="Oswald" pitchFamily="34" charset="-122"/>
                <a:cs typeface="Oswald" pitchFamily="34" charset="-120"/>
              </a:rPr>
              <a:t>Application</a:t>
            </a:r>
            <a:endParaRPr lang="en-US" sz="1400" dirty="0"/>
          </a:p>
        </p:txBody>
      </p:sp>
      <p:pic>
        <p:nvPicPr>
          <p:cNvPr id="10" name="Image 0" descr="icons/arrowRight-blue.png">    </p:cNvPr>
          <p:cNvPicPr>
            <a:picLocks noChangeAspect="1"/>
          </p:cNvPicPr>
          <p:nvPr/>
        </p:nvPicPr>
        <p:blipFill>
          <a:blip r:embed="rId1"/>
          <a:stretch>
            <a:fillRect/>
          </a:stretch>
        </p:blipFill>
        <p:spPr>
          <a:xfrm>
            <a:off x="7763256" y="3840480"/>
            <a:ext cx="365760" cy="365760"/>
          </a:xfrm>
          <a:prstGeom prst="rect">
            <a:avLst/>
          </a:prstGeom>
        </p:spPr>
      </p:pic>
      <p:sp>
        <p:nvSpPr>
          <p:cNvPr id="11" name="Shape 8"/>
          <p:cNvSpPr/>
          <p:nvPr/>
        </p:nvSpPr>
        <p:spPr>
          <a:xfrm>
            <a:off x="8197596" y="3429000"/>
            <a:ext cx="1371600" cy="1188720"/>
          </a:xfrm>
          <a:prstGeom prst="roundRect">
            <a:avLst>
              <a:gd name="adj" fmla="val 6154"/>
            </a:avLst>
          </a:prstGeom>
          <a:solidFill>
            <a:srgbClr val="0066FF"/>
          </a:solidFill>
          <a:ln/>
        </p:spPr>
      </p:sp>
      <p:sp>
        <p:nvSpPr>
          <p:cNvPr id="12" name="Text 9"/>
          <p:cNvSpPr/>
          <p:nvPr/>
        </p:nvSpPr>
        <p:spPr>
          <a:xfrm>
            <a:off x="8197596" y="3429000"/>
            <a:ext cx="1371600" cy="1188720"/>
          </a:xfrm>
          <a:prstGeom prst="rect">
            <a:avLst/>
          </a:prstGeom>
          <a:noFill/>
          <a:ln/>
        </p:spPr>
        <p:txBody>
          <a:bodyPr wrap="square" lIns="0" tIns="0" rIns="0" bIns="0" rtlCol="0" anchor="ctr"/>
          <a:lstStyle/>
          <a:p>
            <a:pPr algn="ctr" indent="0" marL="0">
              <a:buNone/>
            </a:pPr>
            <a:r>
              <a:rPr lang="en-US" sz="1400" b="1" dirty="0">
                <a:solidFill>
                  <a:srgbClr val="FFFFFF"/>
                </a:solidFill>
                <a:latin typeface="Oswald" pitchFamily="34" charset="0"/>
                <a:ea typeface="Oswald" pitchFamily="34" charset="-122"/>
                <a:cs typeface="Oswald" pitchFamily="34" charset="-120"/>
              </a:rPr>
              <a:t>LLM</a:t>
            </a:r>
            <a:endParaRPr lang="en-US" sz="1400" dirty="0"/>
          </a:p>
        </p:txBody>
      </p:sp>
      <p:pic>
        <p:nvPicPr>
          <p:cNvPr id="13" name="Image 1" descr="icons/arrowRight-blue.png">    </p:cNvPr>
          <p:cNvPicPr>
            <a:picLocks noChangeAspect="1"/>
          </p:cNvPicPr>
          <p:nvPr/>
        </p:nvPicPr>
        <p:blipFill>
          <a:blip r:embed="rId2"/>
          <a:stretch>
            <a:fillRect/>
          </a:stretch>
        </p:blipFill>
        <p:spPr>
          <a:xfrm>
            <a:off x="9637776" y="3840480"/>
            <a:ext cx="365760" cy="365760"/>
          </a:xfrm>
          <a:prstGeom prst="rect">
            <a:avLst/>
          </a:prstGeom>
        </p:spPr>
      </p:pic>
      <p:sp>
        <p:nvSpPr>
          <p:cNvPr id="14" name="Shape 10"/>
          <p:cNvSpPr/>
          <p:nvPr/>
        </p:nvSpPr>
        <p:spPr>
          <a:xfrm>
            <a:off x="10072116" y="3429000"/>
            <a:ext cx="1371600" cy="1188720"/>
          </a:xfrm>
          <a:prstGeom prst="roundRect">
            <a:avLst>
              <a:gd name="adj" fmla="val 6154"/>
            </a:avLst>
          </a:prstGeom>
          <a:solidFill>
            <a:srgbClr val="3D4759"/>
          </a:solidFill>
          <a:ln/>
        </p:spPr>
      </p:sp>
      <p:sp>
        <p:nvSpPr>
          <p:cNvPr id="15" name="Text 11"/>
          <p:cNvSpPr/>
          <p:nvPr/>
        </p:nvSpPr>
        <p:spPr>
          <a:xfrm>
            <a:off x="10072116" y="3429000"/>
            <a:ext cx="1371600" cy="1188720"/>
          </a:xfrm>
          <a:prstGeom prst="rect">
            <a:avLst/>
          </a:prstGeom>
          <a:noFill/>
          <a:ln/>
        </p:spPr>
        <p:txBody>
          <a:bodyPr wrap="square" lIns="0" tIns="0" rIns="0" bIns="0" rtlCol="0" anchor="ctr"/>
          <a:lstStyle/>
          <a:p>
            <a:pPr algn="ctr" indent="0" marL="0">
              <a:buNone/>
            </a:pPr>
            <a:r>
              <a:rPr lang="en-US" sz="1400" b="1" dirty="0">
                <a:solidFill>
                  <a:srgbClr val="FFFFFF"/>
                </a:solidFill>
                <a:latin typeface="Oswald" pitchFamily="34" charset="0"/>
                <a:ea typeface="Oswald" pitchFamily="34" charset="-122"/>
                <a:cs typeface="Oswald" pitchFamily="34" charset="-120"/>
              </a:rPr>
              <a:t>Agent</a:t>
            </a:r>
            <a:endParaRPr lang="en-US" sz="1400" dirty="0"/>
          </a:p>
        </p:txBody>
      </p:sp>
      <p:sp>
        <p:nvSpPr>
          <p:cNvPr id="16" name="Text 12"/>
          <p:cNvSpPr/>
          <p:nvPr/>
        </p:nvSpPr>
        <p:spPr>
          <a:xfrm>
            <a:off x="6355080" y="4983480"/>
            <a:ext cx="5056632" cy="365760"/>
          </a:xfrm>
          <a:prstGeom prst="rect">
            <a:avLst/>
          </a:prstGeom>
          <a:noFill/>
          <a:ln/>
        </p:spPr>
        <p:txBody>
          <a:bodyPr wrap="square" lIns="0" tIns="0" rIns="0" bIns="0" rtlCol="0" anchor="t"/>
          <a:lstStyle/>
          <a:p>
            <a:pPr algn="l" indent="0" marL="0">
              <a:buNone/>
            </a:pPr>
            <a:r>
              <a:rPr lang="en-US" sz="1300" dirty="0">
                <a:solidFill>
                  <a:srgbClr val="3D4759"/>
                </a:solidFill>
                <a:latin typeface="Plus Jakarta Sans" pitchFamily="34" charset="0"/>
                <a:ea typeface="Plus Jakarta Sans" pitchFamily="34" charset="-122"/>
                <a:cs typeface="Plus Jakarta Sans" pitchFamily="34" charset="-120"/>
              </a:rPr>
              <a:t>Application → LLM → Agent</a:t>
            </a:r>
            <a:endParaRPr lang="en-US" sz="1300" dirty="0"/>
          </a:p>
        </p:txBody>
      </p:sp>
      <p:sp>
        <p:nvSpPr>
          <p:cNvPr id="17" name="Shape 13"/>
          <p:cNvSpPr/>
          <p:nvPr/>
        </p:nvSpPr>
        <p:spPr>
          <a:xfrm>
            <a:off x="457200" y="6446520"/>
            <a:ext cx="11277295" cy="0"/>
          </a:xfrm>
          <a:prstGeom prst="line">
            <a:avLst/>
          </a:prstGeom>
          <a:noFill/>
          <a:ln w="9525">
            <a:solidFill>
              <a:srgbClr val="D5DDEA"/>
            </a:solidFill>
            <a:prstDash val="solid"/>
          </a:ln>
        </p:spPr>
      </p:sp>
      <p:sp>
        <p:nvSpPr>
          <p:cNvPr id="18" name="Text 14"/>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13 / 35</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066FF"/>
          </a:solidFill>
          <a:ln/>
        </p:spPr>
      </p:sp>
      <p:sp>
        <p:nvSpPr>
          <p:cNvPr id="3" name="Text 1"/>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TRANSITION</a:t>
            </a:r>
            <a:endParaRPr lang="en-US" sz="1400" dirty="0"/>
          </a:p>
        </p:txBody>
      </p:sp>
      <p:sp>
        <p:nvSpPr>
          <p:cNvPr id="4" name="Text 2"/>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AEBACD"/>
                </a:solidFill>
                <a:latin typeface="Plus Jakarta Sans" pitchFamily="34" charset="0"/>
                <a:ea typeface="Plus Jakarta Sans" pitchFamily="34" charset="-122"/>
                <a:cs typeface="Plus Jakarta Sans" pitchFamily="34" charset="-120"/>
              </a:rPr>
              <a:t>APIS, MCP &amp; CONNECTORS</a:t>
            </a:r>
            <a:endParaRPr lang="en-US" sz="1200" dirty="0"/>
          </a:p>
        </p:txBody>
      </p:sp>
      <p:sp>
        <p:nvSpPr>
          <p:cNvPr id="5" name="Text 3"/>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FFFFFF"/>
                </a:solidFill>
                <a:latin typeface="Oswald" pitchFamily="34" charset="0"/>
                <a:ea typeface="Oswald" pitchFamily="34" charset="-122"/>
                <a:cs typeface="Oswald" pitchFamily="34" charset="-120"/>
              </a:rPr>
              <a:t>APIs, MCP &amp; Connectors</a:t>
            </a:r>
            <a:endParaRPr lang="en-US" sz="3400" dirty="0"/>
          </a:p>
        </p:txBody>
      </p:sp>
      <p:sp>
        <p:nvSpPr>
          <p:cNvPr id="6" name="Text 4"/>
          <p:cNvSpPr/>
          <p:nvPr/>
        </p:nvSpPr>
        <p:spPr>
          <a:xfrm>
            <a:off x="685800" y="1828800"/>
            <a:ext cx="6400800" cy="2651760"/>
          </a:xfrm>
          <a:prstGeom prst="rect">
            <a:avLst/>
          </a:prstGeom>
          <a:noFill/>
          <a:ln/>
        </p:spPr>
        <p:txBody>
          <a:bodyPr wrap="square" lIns="0" tIns="0" rIns="0" bIns="0" rtlCol="0" anchor="ctr"/>
          <a:lstStyle/>
          <a:p>
            <a:pPr algn="l" indent="0" marL="0">
              <a:buNone/>
            </a:pPr>
            <a:r>
              <a:rPr lang="en-US" sz="22000" b="1" dirty="0">
                <a:solidFill>
                  <a:srgbClr val="0066FF"/>
                </a:solidFill>
                <a:latin typeface="Oswald" pitchFamily="34" charset="0"/>
                <a:ea typeface="Oswald" pitchFamily="34" charset="-122"/>
                <a:cs typeface="Oswald" pitchFamily="34" charset="-120"/>
              </a:rPr>
              <a:t>03</a:t>
            </a:r>
            <a:endParaRPr lang="en-US" sz="22000" dirty="0"/>
          </a:p>
        </p:txBody>
      </p:sp>
      <p:sp>
        <p:nvSpPr>
          <p:cNvPr id="7" name="Text 5"/>
          <p:cNvSpPr/>
          <p:nvPr/>
        </p:nvSpPr>
        <p:spPr>
          <a:xfrm>
            <a:off x="731520" y="5257800"/>
            <a:ext cx="8412480" cy="548640"/>
          </a:xfrm>
          <a:prstGeom prst="rect">
            <a:avLst/>
          </a:prstGeom>
          <a:noFill/>
          <a:ln/>
        </p:spPr>
        <p:txBody>
          <a:bodyPr wrap="square" lIns="0" tIns="0" rIns="0" bIns="0" rtlCol="0" anchor="t"/>
          <a:lstStyle/>
          <a:p>
            <a:pPr algn="l" indent="0" marL="0">
              <a:buNone/>
            </a:pPr>
            <a:r>
              <a:rPr lang="en-US" sz="1700" dirty="0">
                <a:solidFill>
                  <a:srgbClr val="AEBACD"/>
                </a:solidFill>
                <a:latin typeface="Plus Jakarta Sans" pitchFamily="34" charset="0"/>
                <a:ea typeface="Plus Jakarta Sans" pitchFamily="34" charset="-122"/>
                <a:cs typeface="Plus Jakarta Sans" pitchFamily="34" charset="-120"/>
              </a:rPr>
              <a:t>Now let's mix in APIs — and the connectors (MCPs) that link them to AI.</a:t>
            </a:r>
            <a:endParaRPr lang="en-US" sz="1700" dirty="0"/>
          </a:p>
        </p:txBody>
      </p:sp>
      <p:sp>
        <p:nvSpPr>
          <p:cNvPr id="8" name="Shape 6"/>
          <p:cNvSpPr/>
          <p:nvPr/>
        </p:nvSpPr>
        <p:spPr>
          <a:xfrm>
            <a:off x="457200" y="6446520"/>
            <a:ext cx="11277295" cy="0"/>
          </a:xfrm>
          <a:prstGeom prst="line">
            <a:avLst/>
          </a:prstGeom>
          <a:noFill/>
          <a:ln w="9525">
            <a:solidFill>
              <a:srgbClr val="3D4759"/>
            </a:solidFill>
            <a:prstDash val="solid"/>
          </a:ln>
        </p:spPr>
      </p:sp>
      <p:sp>
        <p:nvSpPr>
          <p:cNvPr id="9" name="Text 7"/>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AEBACD"/>
                </a:solidFill>
                <a:latin typeface="Plus Jakarta Sans" pitchFamily="34" charset="0"/>
                <a:ea typeface="Plus Jakarta Sans" pitchFamily="34" charset="-122"/>
                <a:cs typeface="Plus Jakarta Sans" pitchFamily="34" charset="-120"/>
              </a:rPr>
              <a:t>14 / 35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463040" y="3840480"/>
            <a:ext cx="4206240" cy="4206240"/>
          </a:xfrm>
          <a:prstGeom prst="ellipse">
            <a:avLst/>
          </a:prstGeom>
          <a:solidFill>
            <a:srgbClr val="3D4759">
              <a:alpha val="18000"/>
            </a:srgbClr>
          </a:solidFill>
          <a:ln/>
        </p:spPr>
      </p:sp>
      <p:sp>
        <p:nvSpPr>
          <p:cNvPr id="3" name="Shape 1"/>
          <p:cNvSpPr/>
          <p:nvPr/>
        </p:nvSpPr>
        <p:spPr>
          <a:xfrm>
            <a:off x="9692640" y="-1645920"/>
            <a:ext cx="3657600" cy="3657600"/>
          </a:xfrm>
          <a:prstGeom prst="ellipse">
            <a:avLst/>
          </a:prstGeom>
          <a:solidFill>
            <a:srgbClr val="0066FF">
              <a:alpha val="16000"/>
            </a:srgbClr>
          </a:solidFill>
          <a:ln/>
        </p:spPr>
      </p:sp>
      <p:sp>
        <p:nvSpPr>
          <p:cNvPr id="4" name="Text 2"/>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APIS, MCP &amp; CONNECTORS</a:t>
            </a:r>
            <a:endParaRPr lang="en-US" sz="1400" dirty="0"/>
          </a:p>
        </p:txBody>
      </p:sp>
      <p:sp>
        <p:nvSpPr>
          <p:cNvPr id="5" name="Text 3"/>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AEBACD"/>
                </a:solidFill>
                <a:latin typeface="Plus Jakarta Sans" pitchFamily="34" charset="0"/>
                <a:ea typeface="Plus Jakarta Sans" pitchFamily="34" charset="-122"/>
                <a:cs typeface="Plus Jakarta Sans" pitchFamily="34" charset="-120"/>
              </a:rPr>
              <a:t>INTERACTIVE</a:t>
            </a:r>
            <a:endParaRPr lang="en-US" sz="1200" dirty="0"/>
          </a:p>
        </p:txBody>
      </p:sp>
      <p:sp>
        <p:nvSpPr>
          <p:cNvPr id="6" name="Text 4"/>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FFFFFF"/>
                </a:solidFill>
                <a:latin typeface="Oswald" pitchFamily="34" charset="0"/>
                <a:ea typeface="Oswald" pitchFamily="34" charset="-122"/>
                <a:cs typeface="Oswald" pitchFamily="34" charset="-120"/>
              </a:rPr>
              <a:t>Another Show of Hands</a:t>
            </a:r>
            <a:endParaRPr lang="en-US" sz="3400" dirty="0"/>
          </a:p>
        </p:txBody>
      </p:sp>
      <p:sp>
        <p:nvSpPr>
          <p:cNvPr id="7" name="Shape 5"/>
          <p:cNvSpPr/>
          <p:nvPr/>
        </p:nvSpPr>
        <p:spPr>
          <a:xfrm>
            <a:off x="1188720" y="2880360"/>
            <a:ext cx="1554480" cy="1554480"/>
          </a:xfrm>
          <a:prstGeom prst="ellipse">
            <a:avLst/>
          </a:prstGeom>
          <a:solidFill>
            <a:srgbClr val="0066FF"/>
          </a:solidFill>
          <a:ln w="15875">
            <a:solidFill>
              <a:srgbClr val="D5DDEA"/>
            </a:solidFill>
            <a:prstDash val="solid"/>
          </a:ln>
        </p:spPr>
      </p:sp>
      <p:pic>
        <p:nvPicPr>
          <p:cNvPr id="8" name="Image 0" descr="icons/hand-white.png">    </p:cNvPr>
          <p:cNvPicPr>
            <a:picLocks noChangeAspect="1"/>
          </p:cNvPicPr>
          <p:nvPr/>
        </p:nvPicPr>
        <p:blipFill>
          <a:blip r:embed="rId1"/>
          <a:stretch>
            <a:fillRect/>
          </a:stretch>
        </p:blipFill>
        <p:spPr>
          <a:xfrm>
            <a:off x="1508760" y="3200400"/>
            <a:ext cx="914400" cy="914400"/>
          </a:xfrm>
          <a:prstGeom prst="rect">
            <a:avLst/>
          </a:prstGeom>
        </p:spPr>
      </p:pic>
      <p:sp>
        <p:nvSpPr>
          <p:cNvPr id="9" name="Text 6"/>
          <p:cNvSpPr/>
          <p:nvPr/>
        </p:nvSpPr>
        <p:spPr>
          <a:xfrm>
            <a:off x="3291840" y="2743200"/>
            <a:ext cx="7315200" cy="1828800"/>
          </a:xfrm>
          <a:prstGeom prst="rect">
            <a:avLst/>
          </a:prstGeom>
          <a:noFill/>
          <a:ln/>
        </p:spPr>
        <p:txBody>
          <a:bodyPr wrap="square" lIns="0" tIns="0" rIns="0" bIns="0" rtlCol="0" anchor="ctr"/>
          <a:lstStyle/>
          <a:p>
            <a:pPr algn="l" indent="0" marL="0">
              <a:buNone/>
            </a:pPr>
            <a:r>
              <a:rPr lang="en-US" sz="2800" dirty="0">
                <a:solidFill>
                  <a:srgbClr val="FFFFFF"/>
                </a:solidFill>
                <a:latin typeface="Plus Jakarta Sans" pitchFamily="34" charset="0"/>
                <a:ea typeface="Plus Jakarta Sans" pitchFamily="34" charset="-122"/>
                <a:cs typeface="Plus Jakarta Sans" pitchFamily="34" charset="-120"/>
              </a:rPr>
              <a:t>Who knows what an API is, and how it works?</a:t>
            </a:r>
            <a:endParaRPr lang="en-US" sz="2800" dirty="0"/>
          </a:p>
        </p:txBody>
      </p:sp>
      <p:sp>
        <p:nvSpPr>
          <p:cNvPr id="10" name="Shape 7"/>
          <p:cNvSpPr/>
          <p:nvPr/>
        </p:nvSpPr>
        <p:spPr>
          <a:xfrm>
            <a:off x="1188720" y="5074920"/>
            <a:ext cx="9601200" cy="0"/>
          </a:xfrm>
          <a:prstGeom prst="line">
            <a:avLst/>
          </a:prstGeom>
          <a:noFill/>
          <a:ln w="9525">
            <a:solidFill>
              <a:srgbClr val="3D4759"/>
            </a:solidFill>
            <a:prstDash val="solid"/>
          </a:ln>
        </p:spPr>
      </p:sp>
      <p:sp>
        <p:nvSpPr>
          <p:cNvPr id="11" name="Text 8"/>
          <p:cNvSpPr/>
          <p:nvPr/>
        </p:nvSpPr>
        <p:spPr>
          <a:xfrm>
            <a:off x="1188720" y="5212080"/>
            <a:ext cx="9601200" cy="365760"/>
          </a:xfrm>
          <a:prstGeom prst="rect">
            <a:avLst/>
          </a:prstGeom>
          <a:noFill/>
          <a:ln/>
        </p:spPr>
        <p:txBody>
          <a:bodyPr wrap="square" lIns="0" tIns="0" rIns="0" bIns="0" rtlCol="0" anchor="ctr"/>
          <a:lstStyle/>
          <a:p>
            <a:pPr algn="l" indent="0" marL="0">
              <a:buNone/>
            </a:pPr>
            <a:r>
              <a:rPr lang="en-US" sz="1300" i="1" dirty="0">
                <a:solidFill>
                  <a:srgbClr val="AEBACD"/>
                </a:solidFill>
                <a:latin typeface="Plus Jakarta Sans" pitchFamily="34" charset="0"/>
                <a:ea typeface="Plus Jakarta Sans" pitchFamily="34" charset="-122"/>
                <a:cs typeface="Plus Jakarta Sans" pitchFamily="34" charset="-120"/>
              </a:rPr>
              <a:t>Raise an actual hand. Silence counts as an answer too.</a:t>
            </a:r>
            <a:endParaRPr lang="en-US" sz="1300" dirty="0"/>
          </a:p>
        </p:txBody>
      </p:sp>
      <p:sp>
        <p:nvSpPr>
          <p:cNvPr id="12" name="Shape 9"/>
          <p:cNvSpPr/>
          <p:nvPr/>
        </p:nvSpPr>
        <p:spPr>
          <a:xfrm>
            <a:off x="457200" y="6446520"/>
            <a:ext cx="11277295" cy="0"/>
          </a:xfrm>
          <a:prstGeom prst="line">
            <a:avLst/>
          </a:prstGeom>
          <a:noFill/>
          <a:ln w="9525">
            <a:solidFill>
              <a:srgbClr val="3D4759"/>
            </a:solidFill>
            <a:prstDash val="solid"/>
          </a:ln>
        </p:spPr>
      </p:sp>
      <p:sp>
        <p:nvSpPr>
          <p:cNvPr id="13" name="Text 10"/>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AEBACD"/>
                </a:solidFill>
                <a:latin typeface="Plus Jakarta Sans" pitchFamily="34" charset="0"/>
                <a:ea typeface="Plus Jakarta Sans" pitchFamily="34" charset="-122"/>
                <a:cs typeface="Plus Jakarta Sans" pitchFamily="34" charset="-120"/>
              </a:rPr>
              <a:t>15 / 35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APIS, MCP &amp; CONNECTORS</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ANALOGY</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0A1628"/>
                </a:solidFill>
                <a:latin typeface="Oswald" pitchFamily="34" charset="0"/>
                <a:ea typeface="Oswald" pitchFamily="34" charset="-122"/>
                <a:cs typeface="Oswald" pitchFamily="34" charset="-120"/>
              </a:rPr>
              <a:t>What Is an API?</a:t>
            </a:r>
            <a:endParaRPr lang="en-US" sz="3400" dirty="0"/>
          </a:p>
        </p:txBody>
      </p:sp>
      <p:sp>
        <p:nvSpPr>
          <p:cNvPr id="5" name="Text 3"/>
          <p:cNvSpPr/>
          <p:nvPr/>
        </p:nvSpPr>
        <p:spPr>
          <a:xfrm>
            <a:off x="457200" y="1874520"/>
            <a:ext cx="11274552" cy="457200"/>
          </a:xfrm>
          <a:prstGeom prst="rect">
            <a:avLst/>
          </a:prstGeom>
          <a:noFill/>
          <a:ln/>
        </p:spPr>
        <p:txBody>
          <a:bodyPr wrap="square" lIns="0" tIns="0" rIns="0" bIns="0" rtlCol="0" anchor="ctr"/>
          <a:lstStyle/>
          <a:p>
            <a:pPr algn="l" indent="0" marL="0">
              <a:buNone/>
            </a:pPr>
            <a:r>
              <a:rPr lang="en-US" sz="1600" dirty="0">
                <a:solidFill>
                  <a:srgbClr val="3D4759"/>
                </a:solidFill>
                <a:latin typeface="Plus Jakarta Sans" pitchFamily="34" charset="0"/>
                <a:ea typeface="Plus Jakarta Sans" pitchFamily="34" charset="-122"/>
                <a:cs typeface="Plus Jakarta Sans" pitchFamily="34" charset="-120"/>
              </a:rPr>
              <a:t>An API (Application Programming Interface) is how two pieces of software communicate.</a:t>
            </a:r>
            <a:endParaRPr lang="en-US" sz="1600" dirty="0"/>
          </a:p>
        </p:txBody>
      </p:sp>
      <p:sp>
        <p:nvSpPr>
          <p:cNvPr id="6" name="Shape 4"/>
          <p:cNvSpPr/>
          <p:nvPr/>
        </p:nvSpPr>
        <p:spPr>
          <a:xfrm>
            <a:off x="457200" y="2606040"/>
            <a:ext cx="3200400" cy="2286000"/>
          </a:xfrm>
          <a:prstGeom prst="roundRect">
            <a:avLst>
              <a:gd name="adj" fmla="val 4000"/>
            </a:avLst>
          </a:prstGeom>
          <a:solidFill>
            <a:srgbClr val="FFFFFF"/>
          </a:solidFill>
          <a:ln w="12700">
            <a:solidFill>
              <a:srgbClr val="D5DDEA"/>
            </a:solidFill>
            <a:prstDash val="solid"/>
          </a:ln>
        </p:spPr>
      </p:sp>
      <p:sp>
        <p:nvSpPr>
          <p:cNvPr id="7" name="Shape 5"/>
          <p:cNvSpPr/>
          <p:nvPr/>
        </p:nvSpPr>
        <p:spPr>
          <a:xfrm>
            <a:off x="1623060" y="2971800"/>
            <a:ext cx="868680" cy="868680"/>
          </a:xfrm>
          <a:prstGeom prst="ellipse">
            <a:avLst/>
          </a:prstGeom>
          <a:solidFill>
            <a:srgbClr val="0066FF"/>
          </a:solidFill>
          <a:ln/>
        </p:spPr>
      </p:sp>
      <p:pic>
        <p:nvPicPr>
          <p:cNvPr id="8" name="Image 0" descr="icons/user-white.png">    </p:cNvPr>
          <p:cNvPicPr>
            <a:picLocks noChangeAspect="1"/>
          </p:cNvPicPr>
          <p:nvPr/>
        </p:nvPicPr>
        <p:blipFill>
          <a:blip r:embed="rId1"/>
          <a:stretch>
            <a:fillRect/>
          </a:stretch>
        </p:blipFill>
        <p:spPr>
          <a:xfrm>
            <a:off x="1801368" y="3150108"/>
            <a:ext cx="512064" cy="512064"/>
          </a:xfrm>
          <a:prstGeom prst="rect">
            <a:avLst/>
          </a:prstGeom>
        </p:spPr>
      </p:pic>
      <p:sp>
        <p:nvSpPr>
          <p:cNvPr id="9" name="Text 6"/>
          <p:cNvSpPr/>
          <p:nvPr/>
        </p:nvSpPr>
        <p:spPr>
          <a:xfrm>
            <a:off x="457200" y="4023360"/>
            <a:ext cx="3200400" cy="502920"/>
          </a:xfrm>
          <a:prstGeom prst="rect">
            <a:avLst/>
          </a:prstGeom>
          <a:noFill/>
          <a:ln/>
        </p:spPr>
        <p:txBody>
          <a:bodyPr wrap="square" lIns="0" tIns="0" rIns="0" bIns="0" rtlCol="0" anchor="ctr"/>
          <a:lstStyle/>
          <a:p>
            <a:pPr algn="ctr" indent="0" marL="0">
              <a:buNone/>
            </a:pPr>
            <a:r>
              <a:rPr lang="en-US" sz="2400" b="1" dirty="0">
                <a:solidFill>
                  <a:srgbClr val="0A1628"/>
                </a:solidFill>
                <a:latin typeface="Oswald" pitchFamily="34" charset="0"/>
                <a:ea typeface="Oswald" pitchFamily="34" charset="-122"/>
                <a:cs typeface="Oswald" pitchFamily="34" charset="-120"/>
              </a:rPr>
              <a:t>You</a:t>
            </a:r>
            <a:endParaRPr lang="en-US" sz="2400" dirty="0"/>
          </a:p>
        </p:txBody>
      </p:sp>
      <p:sp>
        <p:nvSpPr>
          <p:cNvPr id="10" name="Text 7"/>
          <p:cNvSpPr/>
          <p:nvPr/>
        </p:nvSpPr>
        <p:spPr>
          <a:xfrm>
            <a:off x="457200" y="4480560"/>
            <a:ext cx="3200400" cy="320040"/>
          </a:xfrm>
          <a:prstGeom prst="rect">
            <a:avLst/>
          </a:prstGeom>
          <a:noFill/>
          <a:ln/>
        </p:spPr>
        <p:txBody>
          <a:bodyPr wrap="square" lIns="0" tIns="0" rIns="0" bIns="0" rtlCol="0" anchor="ctr"/>
          <a:lstStyle/>
          <a:p>
            <a:pPr algn="ctr" indent="0" marL="0">
              <a:buNone/>
            </a:pPr>
            <a:r>
              <a:rPr lang="en-US" sz="1300" dirty="0">
                <a:solidFill>
                  <a:srgbClr val="3D4759"/>
                </a:solidFill>
                <a:latin typeface="Plus Jakarta Sans" pitchFamily="34" charset="0"/>
                <a:ea typeface="Plus Jakarta Sans" pitchFamily="34" charset="-122"/>
                <a:cs typeface="Plus Jakarta Sans" pitchFamily="34" charset="-120"/>
              </a:rPr>
              <a:t>(Application)</a:t>
            </a:r>
            <a:endParaRPr lang="en-US" sz="1300" dirty="0"/>
          </a:p>
        </p:txBody>
      </p:sp>
      <p:sp>
        <p:nvSpPr>
          <p:cNvPr id="11" name="Shape 8"/>
          <p:cNvSpPr/>
          <p:nvPr/>
        </p:nvSpPr>
        <p:spPr>
          <a:xfrm>
            <a:off x="4041648" y="2606040"/>
            <a:ext cx="3200400" cy="2286000"/>
          </a:xfrm>
          <a:prstGeom prst="roundRect">
            <a:avLst>
              <a:gd name="adj" fmla="val 4000"/>
            </a:avLst>
          </a:prstGeom>
          <a:solidFill>
            <a:srgbClr val="0A1628"/>
          </a:solidFill>
          <a:ln w="12700">
            <a:solidFill>
              <a:srgbClr val="D5DDEA"/>
            </a:solidFill>
            <a:prstDash val="solid"/>
          </a:ln>
        </p:spPr>
      </p:sp>
      <p:sp>
        <p:nvSpPr>
          <p:cNvPr id="12" name="Shape 9"/>
          <p:cNvSpPr/>
          <p:nvPr/>
        </p:nvSpPr>
        <p:spPr>
          <a:xfrm>
            <a:off x="5207508" y="2971800"/>
            <a:ext cx="868680" cy="868680"/>
          </a:xfrm>
          <a:prstGeom prst="ellipse">
            <a:avLst/>
          </a:prstGeom>
          <a:solidFill>
            <a:srgbClr val="0066FF"/>
          </a:solidFill>
          <a:ln/>
        </p:spPr>
      </p:sp>
      <p:pic>
        <p:nvPicPr>
          <p:cNvPr id="13" name="Image 1" descr="icons/bellConcierge-white.png">    </p:cNvPr>
          <p:cNvPicPr>
            <a:picLocks noChangeAspect="1"/>
          </p:cNvPicPr>
          <p:nvPr/>
        </p:nvPicPr>
        <p:blipFill>
          <a:blip r:embed="rId2"/>
          <a:stretch>
            <a:fillRect/>
          </a:stretch>
        </p:blipFill>
        <p:spPr>
          <a:xfrm>
            <a:off x="5385816" y="3150108"/>
            <a:ext cx="512064" cy="512064"/>
          </a:xfrm>
          <a:prstGeom prst="rect">
            <a:avLst/>
          </a:prstGeom>
        </p:spPr>
      </p:pic>
      <p:sp>
        <p:nvSpPr>
          <p:cNvPr id="14" name="Text 10"/>
          <p:cNvSpPr/>
          <p:nvPr/>
        </p:nvSpPr>
        <p:spPr>
          <a:xfrm>
            <a:off x="4041648" y="4023360"/>
            <a:ext cx="320040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Oswald" pitchFamily="34" charset="0"/>
                <a:ea typeface="Oswald" pitchFamily="34" charset="-122"/>
                <a:cs typeface="Oswald" pitchFamily="34" charset="-120"/>
              </a:rPr>
              <a:t>Waiter</a:t>
            </a:r>
            <a:endParaRPr lang="en-US" sz="2400" dirty="0"/>
          </a:p>
        </p:txBody>
      </p:sp>
      <p:sp>
        <p:nvSpPr>
          <p:cNvPr id="15" name="Text 11"/>
          <p:cNvSpPr/>
          <p:nvPr/>
        </p:nvSpPr>
        <p:spPr>
          <a:xfrm>
            <a:off x="4041648" y="4480560"/>
            <a:ext cx="3200400" cy="320040"/>
          </a:xfrm>
          <a:prstGeom prst="rect">
            <a:avLst/>
          </a:prstGeom>
          <a:noFill/>
          <a:ln/>
        </p:spPr>
        <p:txBody>
          <a:bodyPr wrap="square" lIns="0" tIns="0" rIns="0" bIns="0" rtlCol="0" anchor="ctr"/>
          <a:lstStyle/>
          <a:p>
            <a:pPr algn="ctr" indent="0" marL="0">
              <a:buNone/>
            </a:pPr>
            <a:r>
              <a:rPr lang="en-US" sz="1300" dirty="0">
                <a:solidFill>
                  <a:srgbClr val="3D4759"/>
                </a:solidFill>
                <a:latin typeface="Plus Jakarta Sans" pitchFamily="34" charset="0"/>
                <a:ea typeface="Plus Jakarta Sans" pitchFamily="34" charset="-122"/>
                <a:cs typeface="Plus Jakarta Sans" pitchFamily="34" charset="-120"/>
              </a:rPr>
              <a:t>(API)</a:t>
            </a:r>
            <a:endParaRPr lang="en-US" sz="1300" dirty="0"/>
          </a:p>
        </p:txBody>
      </p:sp>
      <p:sp>
        <p:nvSpPr>
          <p:cNvPr id="16" name="Shape 12"/>
          <p:cNvSpPr/>
          <p:nvPr/>
        </p:nvSpPr>
        <p:spPr>
          <a:xfrm>
            <a:off x="7616952" y="2606040"/>
            <a:ext cx="3200400" cy="2286000"/>
          </a:xfrm>
          <a:prstGeom prst="roundRect">
            <a:avLst>
              <a:gd name="adj" fmla="val 4000"/>
            </a:avLst>
          </a:prstGeom>
          <a:solidFill>
            <a:srgbClr val="FFFFFF"/>
          </a:solidFill>
          <a:ln w="12700">
            <a:solidFill>
              <a:srgbClr val="D5DDEA"/>
            </a:solidFill>
            <a:prstDash val="solid"/>
          </a:ln>
        </p:spPr>
      </p:sp>
      <p:sp>
        <p:nvSpPr>
          <p:cNvPr id="17" name="Shape 13"/>
          <p:cNvSpPr/>
          <p:nvPr/>
        </p:nvSpPr>
        <p:spPr>
          <a:xfrm>
            <a:off x="8782812" y="2971800"/>
            <a:ext cx="868680" cy="868680"/>
          </a:xfrm>
          <a:prstGeom prst="ellipse">
            <a:avLst/>
          </a:prstGeom>
          <a:solidFill>
            <a:srgbClr val="0066FF"/>
          </a:solidFill>
          <a:ln/>
        </p:spPr>
      </p:sp>
      <p:pic>
        <p:nvPicPr>
          <p:cNvPr id="18" name="Image 2" descr="icons/utensils-white.png">    </p:cNvPr>
          <p:cNvPicPr>
            <a:picLocks noChangeAspect="1"/>
          </p:cNvPicPr>
          <p:nvPr/>
        </p:nvPicPr>
        <p:blipFill>
          <a:blip r:embed="rId3"/>
          <a:stretch>
            <a:fillRect/>
          </a:stretch>
        </p:blipFill>
        <p:spPr>
          <a:xfrm>
            <a:off x="8961120" y="3150108"/>
            <a:ext cx="512064" cy="512064"/>
          </a:xfrm>
          <a:prstGeom prst="rect">
            <a:avLst/>
          </a:prstGeom>
        </p:spPr>
      </p:pic>
      <p:sp>
        <p:nvSpPr>
          <p:cNvPr id="19" name="Text 14"/>
          <p:cNvSpPr/>
          <p:nvPr/>
        </p:nvSpPr>
        <p:spPr>
          <a:xfrm>
            <a:off x="7616952" y="4023360"/>
            <a:ext cx="3200400" cy="502920"/>
          </a:xfrm>
          <a:prstGeom prst="rect">
            <a:avLst/>
          </a:prstGeom>
          <a:noFill/>
          <a:ln/>
        </p:spPr>
        <p:txBody>
          <a:bodyPr wrap="square" lIns="0" tIns="0" rIns="0" bIns="0" rtlCol="0" anchor="ctr"/>
          <a:lstStyle/>
          <a:p>
            <a:pPr algn="ctr" indent="0" marL="0">
              <a:buNone/>
            </a:pPr>
            <a:r>
              <a:rPr lang="en-US" sz="2400" b="1" dirty="0">
                <a:solidFill>
                  <a:srgbClr val="0A1628"/>
                </a:solidFill>
                <a:latin typeface="Oswald" pitchFamily="34" charset="0"/>
                <a:ea typeface="Oswald" pitchFamily="34" charset="-122"/>
                <a:cs typeface="Oswald" pitchFamily="34" charset="-120"/>
              </a:rPr>
              <a:t>Kitchen</a:t>
            </a:r>
            <a:endParaRPr lang="en-US" sz="2400" dirty="0"/>
          </a:p>
        </p:txBody>
      </p:sp>
      <p:sp>
        <p:nvSpPr>
          <p:cNvPr id="20" name="Text 15"/>
          <p:cNvSpPr/>
          <p:nvPr/>
        </p:nvSpPr>
        <p:spPr>
          <a:xfrm>
            <a:off x="7616952" y="4480560"/>
            <a:ext cx="3200400" cy="320040"/>
          </a:xfrm>
          <a:prstGeom prst="rect">
            <a:avLst/>
          </a:prstGeom>
          <a:noFill/>
          <a:ln/>
        </p:spPr>
        <p:txBody>
          <a:bodyPr wrap="square" lIns="0" tIns="0" rIns="0" bIns="0" rtlCol="0" anchor="ctr"/>
          <a:lstStyle/>
          <a:p>
            <a:pPr algn="ctr" indent="0" marL="0">
              <a:buNone/>
            </a:pPr>
            <a:r>
              <a:rPr lang="en-US" sz="1300" dirty="0">
                <a:solidFill>
                  <a:srgbClr val="3D4759"/>
                </a:solidFill>
                <a:latin typeface="Plus Jakarta Sans" pitchFamily="34" charset="0"/>
                <a:ea typeface="Plus Jakarta Sans" pitchFamily="34" charset="-122"/>
                <a:cs typeface="Plus Jakarta Sans" pitchFamily="34" charset="-120"/>
              </a:rPr>
              <a:t>(Service)</a:t>
            </a:r>
            <a:endParaRPr lang="en-US" sz="1300" dirty="0"/>
          </a:p>
        </p:txBody>
      </p:sp>
      <p:pic>
        <p:nvPicPr>
          <p:cNvPr id="21" name="Image 3" descr="icons/arrowRight-blue.png">    </p:cNvPr>
          <p:cNvPicPr>
            <a:picLocks noChangeAspect="1"/>
          </p:cNvPicPr>
          <p:nvPr/>
        </p:nvPicPr>
        <p:blipFill>
          <a:blip r:embed="rId4"/>
          <a:stretch>
            <a:fillRect/>
          </a:stretch>
        </p:blipFill>
        <p:spPr>
          <a:xfrm>
            <a:off x="3621024" y="3520440"/>
            <a:ext cx="457200" cy="457200"/>
          </a:xfrm>
          <a:prstGeom prst="rect">
            <a:avLst/>
          </a:prstGeom>
        </p:spPr>
      </p:pic>
      <p:pic>
        <p:nvPicPr>
          <p:cNvPr id="22" name="Image 4" descr="icons/arrowRight-blue.png">    </p:cNvPr>
          <p:cNvPicPr>
            <a:picLocks noChangeAspect="1"/>
          </p:cNvPicPr>
          <p:nvPr/>
        </p:nvPicPr>
        <p:blipFill>
          <a:blip r:embed="rId5"/>
          <a:stretch>
            <a:fillRect/>
          </a:stretch>
        </p:blipFill>
        <p:spPr>
          <a:xfrm>
            <a:off x="7200900" y="3520440"/>
            <a:ext cx="457200" cy="457200"/>
          </a:xfrm>
          <a:prstGeom prst="rect">
            <a:avLst/>
          </a:prstGeom>
        </p:spPr>
      </p:pic>
      <p:sp>
        <p:nvSpPr>
          <p:cNvPr id="23" name="Shape 16"/>
          <p:cNvSpPr/>
          <p:nvPr/>
        </p:nvSpPr>
        <p:spPr>
          <a:xfrm>
            <a:off x="457200" y="5212080"/>
            <a:ext cx="54864" cy="685800"/>
          </a:xfrm>
          <a:prstGeom prst="rect">
            <a:avLst/>
          </a:prstGeom>
          <a:solidFill>
            <a:srgbClr val="0066FF"/>
          </a:solidFill>
          <a:ln/>
        </p:spPr>
      </p:sp>
      <p:sp>
        <p:nvSpPr>
          <p:cNvPr id="24" name="Text 17"/>
          <p:cNvSpPr/>
          <p:nvPr/>
        </p:nvSpPr>
        <p:spPr>
          <a:xfrm>
            <a:off x="685800" y="5166360"/>
            <a:ext cx="10515600" cy="777240"/>
          </a:xfrm>
          <a:prstGeom prst="rect">
            <a:avLst/>
          </a:prstGeom>
          <a:noFill/>
          <a:ln/>
        </p:spPr>
        <p:txBody>
          <a:bodyPr wrap="square" lIns="0" tIns="0" rIns="0" bIns="0" rtlCol="0" anchor="ctr"/>
          <a:lstStyle/>
          <a:p>
            <a:pPr algn="l" indent="0" marL="0">
              <a:buNone/>
            </a:pPr>
            <a:r>
              <a:rPr lang="en-US" sz="1700" i="1" dirty="0">
                <a:solidFill>
                  <a:srgbClr val="0A1628"/>
                </a:solidFill>
                <a:latin typeface="Plus Jakarta Sans" pitchFamily="34" charset="0"/>
                <a:ea typeface="Plus Jakarta Sans" pitchFamily="34" charset="-122"/>
                <a:cs typeface="Plus Jakarta Sans" pitchFamily="34" charset="-120"/>
              </a:rPr>
              <a:t>You don't walk into the kitchen. That boundary is the entire point of an API.</a:t>
            </a:r>
            <a:endParaRPr lang="en-US" sz="1700" dirty="0"/>
          </a:p>
        </p:txBody>
      </p:sp>
      <p:sp>
        <p:nvSpPr>
          <p:cNvPr id="25" name="Shape 18"/>
          <p:cNvSpPr/>
          <p:nvPr/>
        </p:nvSpPr>
        <p:spPr>
          <a:xfrm>
            <a:off x="457200" y="6446520"/>
            <a:ext cx="11277295" cy="0"/>
          </a:xfrm>
          <a:prstGeom prst="line">
            <a:avLst/>
          </a:prstGeom>
          <a:noFill/>
          <a:ln w="9525">
            <a:solidFill>
              <a:srgbClr val="D5DDEA"/>
            </a:solidFill>
            <a:prstDash val="solid"/>
          </a:ln>
        </p:spPr>
      </p:sp>
      <p:sp>
        <p:nvSpPr>
          <p:cNvPr id="26" name="Text 19"/>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16 / 35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APIS, MCP &amp; CONNECTORS</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EXAMPLE</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0A1628"/>
                </a:solidFill>
                <a:latin typeface="Oswald" pitchFamily="34" charset="0"/>
                <a:ea typeface="Oswald" pitchFamily="34" charset="-122"/>
                <a:cs typeface="Oswald" pitchFamily="34" charset="-120"/>
              </a:rPr>
              <a:t>An API in Action</a:t>
            </a:r>
            <a:endParaRPr lang="en-US" sz="3400" dirty="0"/>
          </a:p>
        </p:txBody>
      </p:sp>
      <p:sp>
        <p:nvSpPr>
          <p:cNvPr id="5" name="Shape 3"/>
          <p:cNvSpPr/>
          <p:nvPr/>
        </p:nvSpPr>
        <p:spPr>
          <a:xfrm>
            <a:off x="457200" y="1920240"/>
            <a:ext cx="11274552" cy="3291840"/>
          </a:xfrm>
          <a:prstGeom prst="roundRect">
            <a:avLst>
              <a:gd name="adj" fmla="val 3333"/>
            </a:avLst>
          </a:prstGeom>
          <a:solidFill>
            <a:srgbClr val="3D4759">
              <a:alpha val="7000"/>
            </a:srgbClr>
          </a:solidFill>
          <a:ln/>
        </p:spPr>
      </p:sp>
      <p:sp>
        <p:nvSpPr>
          <p:cNvPr id="6" name="Shape 4"/>
          <p:cNvSpPr/>
          <p:nvPr/>
        </p:nvSpPr>
        <p:spPr>
          <a:xfrm>
            <a:off x="1280160" y="2743200"/>
            <a:ext cx="2743200" cy="1645920"/>
          </a:xfrm>
          <a:prstGeom prst="roundRect">
            <a:avLst>
              <a:gd name="adj" fmla="val 5556"/>
            </a:avLst>
          </a:prstGeom>
          <a:solidFill>
            <a:srgbClr val="0A1628"/>
          </a:solidFill>
          <a:ln/>
        </p:spPr>
      </p:sp>
      <p:sp>
        <p:nvSpPr>
          <p:cNvPr id="7" name="Text 5"/>
          <p:cNvSpPr/>
          <p:nvPr/>
        </p:nvSpPr>
        <p:spPr>
          <a:xfrm>
            <a:off x="1280160" y="2743200"/>
            <a:ext cx="2743200" cy="1645920"/>
          </a:xfrm>
          <a:prstGeom prst="rect">
            <a:avLst/>
          </a:prstGeom>
          <a:noFill/>
          <a:ln/>
        </p:spPr>
        <p:txBody>
          <a:bodyPr wrap="square" lIns="0" tIns="0" rIns="0" bIns="0" rtlCol="0" anchor="ctr"/>
          <a:lstStyle/>
          <a:p>
            <a:pPr algn="ctr" indent="0" marL="0">
              <a:buNone/>
            </a:pPr>
            <a:r>
              <a:rPr lang="en-US" sz="2600" b="1" dirty="0">
                <a:solidFill>
                  <a:srgbClr val="FFFFFF"/>
                </a:solidFill>
                <a:latin typeface="Oswald" pitchFamily="34" charset="0"/>
                <a:ea typeface="Oswald" pitchFamily="34" charset="-122"/>
                <a:cs typeface="Oswald" pitchFamily="34" charset="-120"/>
              </a:rPr>
              <a:t>Client</a:t>
            </a:r>
            <a:endParaRPr lang="en-US" sz="2600" dirty="0"/>
          </a:p>
        </p:txBody>
      </p:sp>
      <p:sp>
        <p:nvSpPr>
          <p:cNvPr id="8" name="Shape 6"/>
          <p:cNvSpPr/>
          <p:nvPr/>
        </p:nvSpPr>
        <p:spPr>
          <a:xfrm>
            <a:off x="8165592" y="2743200"/>
            <a:ext cx="2743200" cy="1645920"/>
          </a:xfrm>
          <a:prstGeom prst="roundRect">
            <a:avLst>
              <a:gd name="adj" fmla="val 5556"/>
            </a:avLst>
          </a:prstGeom>
          <a:solidFill>
            <a:srgbClr val="0066FF"/>
          </a:solidFill>
          <a:ln/>
        </p:spPr>
      </p:sp>
      <p:sp>
        <p:nvSpPr>
          <p:cNvPr id="9" name="Text 7"/>
          <p:cNvSpPr/>
          <p:nvPr/>
        </p:nvSpPr>
        <p:spPr>
          <a:xfrm>
            <a:off x="8165592" y="2743200"/>
            <a:ext cx="2743200" cy="1645920"/>
          </a:xfrm>
          <a:prstGeom prst="rect">
            <a:avLst/>
          </a:prstGeom>
          <a:noFill/>
          <a:ln/>
        </p:spPr>
        <p:txBody>
          <a:bodyPr wrap="square" lIns="0" tIns="0" rIns="0" bIns="0" rtlCol="0" anchor="ctr"/>
          <a:lstStyle/>
          <a:p>
            <a:pPr algn="ctr" indent="0" marL="0">
              <a:buNone/>
            </a:pPr>
            <a:r>
              <a:rPr lang="en-US" sz="2600" b="1" dirty="0">
                <a:solidFill>
                  <a:srgbClr val="FFFFFF"/>
                </a:solidFill>
                <a:latin typeface="Oswald" pitchFamily="34" charset="0"/>
                <a:ea typeface="Oswald" pitchFamily="34" charset="-122"/>
                <a:cs typeface="Oswald" pitchFamily="34" charset="-120"/>
              </a:rPr>
              <a:t>API</a:t>
            </a:r>
            <a:endParaRPr lang="en-US" sz="2600" dirty="0"/>
          </a:p>
        </p:txBody>
      </p:sp>
      <p:sp>
        <p:nvSpPr>
          <p:cNvPr id="10" name="Shape 8"/>
          <p:cNvSpPr/>
          <p:nvPr/>
        </p:nvSpPr>
        <p:spPr>
          <a:xfrm>
            <a:off x="5728716" y="2240280"/>
            <a:ext cx="731520" cy="731520"/>
          </a:xfrm>
          <a:prstGeom prst="ellipse">
            <a:avLst/>
          </a:prstGeom>
          <a:solidFill>
            <a:srgbClr val="FFFFFF"/>
          </a:solidFill>
          <a:ln w="12700">
            <a:solidFill>
              <a:srgbClr val="D5DDEA"/>
            </a:solidFill>
            <a:prstDash val="solid"/>
          </a:ln>
        </p:spPr>
      </p:sp>
      <p:pic>
        <p:nvPicPr>
          <p:cNvPr id="11" name="Image 0" descr="icons/arrowsRotate-blue.png">    </p:cNvPr>
          <p:cNvPicPr>
            <a:picLocks noChangeAspect="1"/>
          </p:cNvPicPr>
          <p:nvPr/>
        </p:nvPicPr>
        <p:blipFill>
          <a:blip r:embed="rId1"/>
          <a:stretch>
            <a:fillRect/>
          </a:stretch>
        </p:blipFill>
        <p:spPr>
          <a:xfrm>
            <a:off x="5875020" y="2386584"/>
            <a:ext cx="438912" cy="438912"/>
          </a:xfrm>
          <a:prstGeom prst="rect">
            <a:avLst/>
          </a:prstGeom>
        </p:spPr>
      </p:pic>
      <p:sp>
        <p:nvSpPr>
          <p:cNvPr id="12" name="Shape 9"/>
          <p:cNvSpPr/>
          <p:nvPr/>
        </p:nvSpPr>
        <p:spPr>
          <a:xfrm>
            <a:off x="4023360" y="3200400"/>
            <a:ext cx="4142232" cy="0"/>
          </a:xfrm>
          <a:prstGeom prst="line">
            <a:avLst/>
          </a:prstGeom>
          <a:noFill/>
          <a:ln w="28575">
            <a:solidFill>
              <a:srgbClr val="0A1628"/>
            </a:solidFill>
            <a:prstDash val="solid"/>
            <a:tailEnd type="triangle"/>
          </a:ln>
        </p:spPr>
      </p:sp>
      <p:sp>
        <p:nvSpPr>
          <p:cNvPr id="13" name="Text 10"/>
          <p:cNvSpPr/>
          <p:nvPr/>
        </p:nvSpPr>
        <p:spPr>
          <a:xfrm>
            <a:off x="4023360" y="2816352"/>
            <a:ext cx="4142232" cy="320040"/>
          </a:xfrm>
          <a:prstGeom prst="rect">
            <a:avLst/>
          </a:prstGeom>
          <a:noFill/>
          <a:ln/>
        </p:spPr>
        <p:txBody>
          <a:bodyPr wrap="square" lIns="0" tIns="0" rIns="0" bIns="0" rtlCol="0" anchor="b"/>
          <a:lstStyle/>
          <a:p>
            <a:pPr algn="ctr" indent="0" marL="0">
              <a:buNone/>
            </a:pPr>
            <a:r>
              <a:rPr lang="en-US" sz="1300" dirty="0">
                <a:solidFill>
                  <a:srgbClr val="0A1628"/>
                </a:solidFill>
                <a:latin typeface="Plus Jakarta Sans" pitchFamily="34" charset="0"/>
                <a:ea typeface="Plus Jakarta Sans" pitchFamily="34" charset="-122"/>
                <a:cs typeface="Plus Jakarta Sans" pitchFamily="34" charset="-120"/>
              </a:rPr>
              <a:t>Request</a:t>
            </a:r>
            <a:endParaRPr lang="en-US" sz="1300" dirty="0"/>
          </a:p>
        </p:txBody>
      </p:sp>
      <p:sp>
        <p:nvSpPr>
          <p:cNvPr id="14" name="Shape 11"/>
          <p:cNvSpPr/>
          <p:nvPr/>
        </p:nvSpPr>
        <p:spPr>
          <a:xfrm>
            <a:off x="4023360" y="3931920"/>
            <a:ext cx="4142232" cy="0"/>
          </a:xfrm>
          <a:prstGeom prst="line">
            <a:avLst/>
          </a:prstGeom>
          <a:noFill/>
          <a:ln w="28575">
            <a:solidFill>
              <a:srgbClr val="0066FF"/>
            </a:solidFill>
            <a:prstDash val="solid"/>
            <a:headEnd type="triangle"/>
          </a:ln>
        </p:spPr>
      </p:sp>
      <p:sp>
        <p:nvSpPr>
          <p:cNvPr id="15" name="Text 12"/>
          <p:cNvSpPr/>
          <p:nvPr/>
        </p:nvSpPr>
        <p:spPr>
          <a:xfrm>
            <a:off x="4023360" y="4005072"/>
            <a:ext cx="4142232" cy="320040"/>
          </a:xfrm>
          <a:prstGeom prst="rect">
            <a:avLst/>
          </a:prstGeom>
          <a:noFill/>
          <a:ln/>
        </p:spPr>
        <p:txBody>
          <a:bodyPr wrap="square" lIns="0" tIns="0" rIns="0" bIns="0" rtlCol="0" anchor="t"/>
          <a:lstStyle/>
          <a:p>
            <a:pPr algn="ctr" indent="0" marL="0">
              <a:buNone/>
            </a:pPr>
            <a:r>
              <a:rPr lang="en-US" sz="1300" dirty="0">
                <a:solidFill>
                  <a:srgbClr val="0066FF"/>
                </a:solidFill>
                <a:latin typeface="Plus Jakarta Sans" pitchFamily="34" charset="0"/>
                <a:ea typeface="Plus Jakarta Sans" pitchFamily="34" charset="-122"/>
                <a:cs typeface="Plus Jakarta Sans" pitchFamily="34" charset="-120"/>
              </a:rPr>
              <a:t>Response</a:t>
            </a:r>
            <a:endParaRPr lang="en-US" sz="1300" dirty="0"/>
          </a:p>
        </p:txBody>
      </p:sp>
      <p:sp>
        <p:nvSpPr>
          <p:cNvPr id="16" name="Text 13"/>
          <p:cNvSpPr/>
          <p:nvPr/>
        </p:nvSpPr>
        <p:spPr>
          <a:xfrm>
            <a:off x="457200" y="5440680"/>
            <a:ext cx="11274552" cy="365760"/>
          </a:xfrm>
          <a:prstGeom prst="rect">
            <a:avLst/>
          </a:prstGeom>
          <a:noFill/>
          <a:ln/>
        </p:spPr>
        <p:txBody>
          <a:bodyPr wrap="square" lIns="0" tIns="0" rIns="0" bIns="0" rtlCol="0" anchor="ctr"/>
          <a:lstStyle/>
          <a:p>
            <a:pPr algn="l" indent="0" marL="0">
              <a:buNone/>
            </a:pPr>
            <a:r>
              <a:rPr lang="en-US" sz="1200" i="1" dirty="0">
                <a:solidFill>
                  <a:srgbClr val="3D4759"/>
                </a:solidFill>
                <a:latin typeface="Plus Jakarta Sans" pitchFamily="34" charset="0"/>
                <a:ea typeface="Plus Jakarta Sans" pitchFamily="34" charset="-122"/>
                <a:cs typeface="Plus Jakarta Sans" pitchFamily="34" charset="-120"/>
              </a:rPr>
              <a:t>Illustrative example — swap in a live API call/screenshot here if available.</a:t>
            </a:r>
            <a:endParaRPr lang="en-US" sz="1200" dirty="0"/>
          </a:p>
        </p:txBody>
      </p:sp>
      <p:sp>
        <p:nvSpPr>
          <p:cNvPr id="17" name="Shape 14"/>
          <p:cNvSpPr/>
          <p:nvPr/>
        </p:nvSpPr>
        <p:spPr>
          <a:xfrm>
            <a:off x="457200" y="6446520"/>
            <a:ext cx="11277295" cy="0"/>
          </a:xfrm>
          <a:prstGeom prst="line">
            <a:avLst/>
          </a:prstGeom>
          <a:noFill/>
          <a:ln w="9525">
            <a:solidFill>
              <a:srgbClr val="D5DDEA"/>
            </a:solidFill>
            <a:prstDash val="solid"/>
          </a:ln>
        </p:spPr>
      </p:sp>
      <p:sp>
        <p:nvSpPr>
          <p:cNvPr id="18" name="Text 15"/>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17 / 35</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APIS, MCP &amp; CONNECTORS</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TAXONOMY</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0A1628"/>
                </a:solidFill>
                <a:latin typeface="Oswald" pitchFamily="34" charset="0"/>
                <a:ea typeface="Oswald" pitchFamily="34" charset="-122"/>
                <a:cs typeface="Oswald" pitchFamily="34" charset="-120"/>
              </a:rPr>
              <a:t>Forms of APIs</a:t>
            </a:r>
            <a:endParaRPr lang="en-US" sz="3400" dirty="0"/>
          </a:p>
        </p:txBody>
      </p:sp>
      <p:sp>
        <p:nvSpPr>
          <p:cNvPr id="5" name="Text 3"/>
          <p:cNvSpPr/>
          <p:nvPr/>
        </p:nvSpPr>
        <p:spPr>
          <a:xfrm>
            <a:off x="457200" y="1874520"/>
            <a:ext cx="11274552" cy="457200"/>
          </a:xfrm>
          <a:prstGeom prst="rect">
            <a:avLst/>
          </a:prstGeom>
          <a:noFill/>
          <a:ln/>
        </p:spPr>
        <p:txBody>
          <a:bodyPr wrap="square" lIns="0" tIns="0" rIns="0" bIns="0" rtlCol="0" anchor="ctr"/>
          <a:lstStyle/>
          <a:p>
            <a:pPr algn="l" indent="0" marL="0">
              <a:buNone/>
            </a:pPr>
            <a:r>
              <a:rPr lang="en-US" sz="1600" dirty="0">
                <a:solidFill>
                  <a:srgbClr val="3D4759"/>
                </a:solidFill>
                <a:latin typeface="Plus Jakarta Sans" pitchFamily="34" charset="0"/>
                <a:ea typeface="Plus Jakarta Sans" pitchFamily="34" charset="-122"/>
                <a:cs typeface="Plus Jakarta Sans" pitchFamily="34" charset="-120"/>
              </a:rPr>
              <a:t>APIs come in many shapes. Two of them matter for tonight.</a:t>
            </a:r>
            <a:endParaRPr lang="en-US" sz="1600" dirty="0"/>
          </a:p>
        </p:txBody>
      </p:sp>
      <p:sp>
        <p:nvSpPr>
          <p:cNvPr id="6" name="Shape 4"/>
          <p:cNvSpPr/>
          <p:nvPr/>
        </p:nvSpPr>
        <p:spPr>
          <a:xfrm>
            <a:off x="1706728" y="2606040"/>
            <a:ext cx="3931920" cy="2743200"/>
          </a:xfrm>
          <a:prstGeom prst="roundRect">
            <a:avLst>
              <a:gd name="adj" fmla="val 4000"/>
            </a:avLst>
          </a:prstGeom>
          <a:solidFill>
            <a:srgbClr val="FFFFFF"/>
          </a:solidFill>
          <a:ln w="12700">
            <a:solidFill>
              <a:srgbClr val="D5DDEA"/>
            </a:solidFill>
            <a:prstDash val="solid"/>
          </a:ln>
        </p:spPr>
      </p:sp>
      <p:sp>
        <p:nvSpPr>
          <p:cNvPr id="7" name="Shape 5"/>
          <p:cNvSpPr/>
          <p:nvPr/>
        </p:nvSpPr>
        <p:spPr>
          <a:xfrm>
            <a:off x="3215488" y="3017520"/>
            <a:ext cx="914400" cy="914400"/>
          </a:xfrm>
          <a:prstGeom prst="ellipse">
            <a:avLst/>
          </a:prstGeom>
          <a:solidFill>
            <a:srgbClr val="0A1628"/>
          </a:solidFill>
          <a:ln/>
        </p:spPr>
      </p:sp>
      <p:pic>
        <p:nvPicPr>
          <p:cNvPr id="8" name="Image 0" descr="icons/code-white.png">    </p:cNvPr>
          <p:cNvPicPr>
            <a:picLocks noChangeAspect="1"/>
          </p:cNvPicPr>
          <p:nvPr/>
        </p:nvPicPr>
        <p:blipFill>
          <a:blip r:embed="rId1"/>
          <a:stretch>
            <a:fillRect/>
          </a:stretch>
        </p:blipFill>
        <p:spPr>
          <a:xfrm>
            <a:off x="3398368" y="3200400"/>
            <a:ext cx="548640" cy="548640"/>
          </a:xfrm>
          <a:prstGeom prst="rect">
            <a:avLst/>
          </a:prstGeom>
        </p:spPr>
      </p:pic>
      <p:sp>
        <p:nvSpPr>
          <p:cNvPr id="9" name="Text 6"/>
          <p:cNvSpPr/>
          <p:nvPr/>
        </p:nvSpPr>
        <p:spPr>
          <a:xfrm>
            <a:off x="1706728" y="4160520"/>
            <a:ext cx="3931920" cy="502920"/>
          </a:xfrm>
          <a:prstGeom prst="rect">
            <a:avLst/>
          </a:prstGeom>
          <a:noFill/>
          <a:ln/>
        </p:spPr>
        <p:txBody>
          <a:bodyPr wrap="square" lIns="0" tIns="0" rIns="0" bIns="0" rtlCol="0" anchor="ctr"/>
          <a:lstStyle/>
          <a:p>
            <a:pPr algn="ctr" indent="0" marL="0">
              <a:buNone/>
            </a:pPr>
            <a:r>
              <a:rPr lang="en-US" sz="2600" b="1" dirty="0">
                <a:solidFill>
                  <a:srgbClr val="0A1628"/>
                </a:solidFill>
                <a:latin typeface="Oswald" pitchFamily="34" charset="0"/>
                <a:ea typeface="Oswald" pitchFamily="34" charset="-122"/>
                <a:cs typeface="Oswald" pitchFamily="34" charset="-120"/>
              </a:rPr>
              <a:t>REST</a:t>
            </a:r>
            <a:endParaRPr lang="en-US" sz="2600" dirty="0"/>
          </a:p>
        </p:txBody>
      </p:sp>
      <p:sp>
        <p:nvSpPr>
          <p:cNvPr id="10" name="Text 7"/>
          <p:cNvSpPr/>
          <p:nvPr/>
        </p:nvSpPr>
        <p:spPr>
          <a:xfrm>
            <a:off x="2026768" y="4663440"/>
            <a:ext cx="3291840" cy="594360"/>
          </a:xfrm>
          <a:prstGeom prst="rect">
            <a:avLst/>
          </a:prstGeom>
          <a:noFill/>
          <a:ln/>
        </p:spPr>
        <p:txBody>
          <a:bodyPr wrap="square" lIns="0" tIns="0" rIns="0" bIns="0" rtlCol="0" anchor="t"/>
          <a:lstStyle/>
          <a:p>
            <a:pPr algn="ctr" indent="0" marL="0">
              <a:buNone/>
            </a:pPr>
            <a:r>
              <a:rPr lang="en-US" sz="1300" dirty="0">
                <a:solidFill>
                  <a:srgbClr val="3D4759"/>
                </a:solidFill>
                <a:latin typeface="Plus Jakarta Sans" pitchFamily="34" charset="0"/>
                <a:ea typeface="Plus Jakarta Sans" pitchFamily="34" charset="-122"/>
                <a:cs typeface="Plus Jakarta Sans" pitchFamily="34" charset="-120"/>
              </a:rPr>
              <a:t>The traditional web API standard — one specific endpoint, one specific response.</a:t>
            </a:r>
            <a:endParaRPr lang="en-US" sz="1300" dirty="0"/>
          </a:p>
        </p:txBody>
      </p:sp>
      <p:sp>
        <p:nvSpPr>
          <p:cNvPr id="11" name="Shape 8"/>
          <p:cNvSpPr/>
          <p:nvPr/>
        </p:nvSpPr>
        <p:spPr>
          <a:xfrm>
            <a:off x="6553048" y="2606040"/>
            <a:ext cx="3931920" cy="2743200"/>
          </a:xfrm>
          <a:prstGeom prst="roundRect">
            <a:avLst>
              <a:gd name="adj" fmla="val 4000"/>
            </a:avLst>
          </a:prstGeom>
          <a:solidFill>
            <a:srgbClr val="FFFFFF"/>
          </a:solidFill>
          <a:ln w="12700">
            <a:solidFill>
              <a:srgbClr val="D5DDEA"/>
            </a:solidFill>
            <a:prstDash val="solid"/>
          </a:ln>
        </p:spPr>
      </p:sp>
      <p:sp>
        <p:nvSpPr>
          <p:cNvPr id="12" name="Shape 9"/>
          <p:cNvSpPr/>
          <p:nvPr/>
        </p:nvSpPr>
        <p:spPr>
          <a:xfrm>
            <a:off x="8061808" y="3017520"/>
            <a:ext cx="914400" cy="914400"/>
          </a:xfrm>
          <a:prstGeom prst="ellipse">
            <a:avLst/>
          </a:prstGeom>
          <a:solidFill>
            <a:srgbClr val="0A1628"/>
          </a:solidFill>
          <a:ln/>
        </p:spPr>
      </p:sp>
      <p:pic>
        <p:nvPicPr>
          <p:cNvPr id="13" name="Image 1" descr="icons/plug-white.png">    </p:cNvPr>
          <p:cNvPicPr>
            <a:picLocks noChangeAspect="1"/>
          </p:cNvPicPr>
          <p:nvPr/>
        </p:nvPicPr>
        <p:blipFill>
          <a:blip r:embed="rId2"/>
          <a:stretch>
            <a:fillRect/>
          </a:stretch>
        </p:blipFill>
        <p:spPr>
          <a:xfrm>
            <a:off x="8244688" y="3200400"/>
            <a:ext cx="548640" cy="548640"/>
          </a:xfrm>
          <a:prstGeom prst="rect">
            <a:avLst/>
          </a:prstGeom>
        </p:spPr>
      </p:pic>
      <p:sp>
        <p:nvSpPr>
          <p:cNvPr id="14" name="Text 10"/>
          <p:cNvSpPr/>
          <p:nvPr/>
        </p:nvSpPr>
        <p:spPr>
          <a:xfrm>
            <a:off x="6553048" y="4160520"/>
            <a:ext cx="3931920" cy="502920"/>
          </a:xfrm>
          <a:prstGeom prst="rect">
            <a:avLst/>
          </a:prstGeom>
          <a:noFill/>
          <a:ln/>
        </p:spPr>
        <p:txBody>
          <a:bodyPr wrap="square" lIns="0" tIns="0" rIns="0" bIns="0" rtlCol="0" anchor="ctr"/>
          <a:lstStyle/>
          <a:p>
            <a:pPr algn="ctr" indent="0" marL="0">
              <a:buNone/>
            </a:pPr>
            <a:r>
              <a:rPr lang="en-US" sz="2600" b="1" dirty="0">
                <a:solidFill>
                  <a:srgbClr val="0A1628"/>
                </a:solidFill>
                <a:latin typeface="Oswald" pitchFamily="34" charset="0"/>
                <a:ea typeface="Oswald" pitchFamily="34" charset="-122"/>
                <a:cs typeface="Oswald" pitchFamily="34" charset="-120"/>
              </a:rPr>
              <a:t>MCP</a:t>
            </a:r>
            <a:endParaRPr lang="en-US" sz="2600" dirty="0"/>
          </a:p>
        </p:txBody>
      </p:sp>
      <p:sp>
        <p:nvSpPr>
          <p:cNvPr id="15" name="Text 11"/>
          <p:cNvSpPr/>
          <p:nvPr/>
        </p:nvSpPr>
        <p:spPr>
          <a:xfrm>
            <a:off x="6873088" y="4663440"/>
            <a:ext cx="3291840" cy="594360"/>
          </a:xfrm>
          <a:prstGeom prst="rect">
            <a:avLst/>
          </a:prstGeom>
          <a:noFill/>
          <a:ln/>
        </p:spPr>
        <p:txBody>
          <a:bodyPr wrap="square" lIns="0" tIns="0" rIns="0" bIns="0" rtlCol="0" anchor="t"/>
          <a:lstStyle/>
          <a:p>
            <a:pPr algn="ctr" indent="0" marL="0">
              <a:buNone/>
            </a:pPr>
            <a:r>
              <a:rPr lang="en-US" sz="1300" dirty="0">
                <a:solidFill>
                  <a:srgbClr val="3D4759"/>
                </a:solidFill>
                <a:latin typeface="Plus Jakarta Sans" pitchFamily="34" charset="0"/>
                <a:ea typeface="Plus Jakarta Sans" pitchFamily="34" charset="-122"/>
                <a:cs typeface="Plus Jakarta Sans" pitchFamily="34" charset="-120"/>
              </a:rPr>
              <a:t>The emerging standard for AI tool access — one connection, many capabilities.</a:t>
            </a:r>
            <a:endParaRPr lang="en-US" sz="1300" dirty="0"/>
          </a:p>
        </p:txBody>
      </p:sp>
      <p:sp>
        <p:nvSpPr>
          <p:cNvPr id="16" name="Shape 12"/>
          <p:cNvSpPr/>
          <p:nvPr/>
        </p:nvSpPr>
        <p:spPr>
          <a:xfrm>
            <a:off x="5844388" y="3726180"/>
            <a:ext cx="502920" cy="502920"/>
          </a:xfrm>
          <a:prstGeom prst="ellipse">
            <a:avLst/>
          </a:prstGeom>
          <a:solidFill>
            <a:srgbClr val="F4F7FC"/>
          </a:solidFill>
          <a:ln w="15875">
            <a:solidFill>
              <a:srgbClr val="D5DDEA"/>
            </a:solidFill>
            <a:prstDash val="solid"/>
          </a:ln>
        </p:spPr>
      </p:sp>
      <p:sp>
        <p:nvSpPr>
          <p:cNvPr id="17" name="Text 13"/>
          <p:cNvSpPr/>
          <p:nvPr/>
        </p:nvSpPr>
        <p:spPr>
          <a:xfrm>
            <a:off x="5844388" y="3726180"/>
            <a:ext cx="502920" cy="502920"/>
          </a:xfrm>
          <a:prstGeom prst="rect">
            <a:avLst/>
          </a:prstGeom>
          <a:noFill/>
          <a:ln/>
        </p:spPr>
        <p:txBody>
          <a:bodyPr wrap="square" lIns="0" tIns="0" rIns="0" bIns="0" rtlCol="0" anchor="ctr"/>
          <a:lstStyle/>
          <a:p>
            <a:pPr algn="ctr" indent="0" marL="0">
              <a:buNone/>
            </a:pPr>
            <a:r>
              <a:rPr lang="en-US" sz="2000" b="1" dirty="0">
                <a:solidFill>
                  <a:srgbClr val="0066FF"/>
                </a:solidFill>
                <a:latin typeface="Oswald" pitchFamily="34" charset="0"/>
                <a:ea typeface="Oswald" pitchFamily="34" charset="-122"/>
                <a:cs typeface="Oswald" pitchFamily="34" charset="-120"/>
              </a:rPr>
              <a:t>+</a:t>
            </a:r>
            <a:endParaRPr lang="en-US" sz="2000" dirty="0"/>
          </a:p>
        </p:txBody>
      </p:sp>
      <p:sp>
        <p:nvSpPr>
          <p:cNvPr id="18" name="Text 14"/>
          <p:cNvSpPr/>
          <p:nvPr/>
        </p:nvSpPr>
        <p:spPr>
          <a:xfrm>
            <a:off x="457200" y="5669280"/>
            <a:ext cx="11274552" cy="457200"/>
          </a:xfrm>
          <a:prstGeom prst="rect">
            <a:avLst/>
          </a:prstGeom>
          <a:noFill/>
          <a:ln/>
        </p:spPr>
        <p:txBody>
          <a:bodyPr wrap="square" lIns="0" tIns="0" rIns="0" bIns="0" rtlCol="0" anchor="ctr"/>
          <a:lstStyle/>
          <a:p>
            <a:pPr algn="l" indent="0" marL="0">
              <a:buNone/>
            </a:pPr>
            <a:r>
              <a:rPr lang="en-US" sz="1800" b="1" dirty="0">
                <a:solidFill>
                  <a:srgbClr val="0066FF"/>
                </a:solidFill>
                <a:latin typeface="Oswald" pitchFamily="34" charset="0"/>
                <a:ea typeface="Oswald" pitchFamily="34" charset="-122"/>
                <a:cs typeface="Oswald" pitchFamily="34" charset="-120"/>
              </a:rPr>
              <a:t>We'll focus only on REST and MCP.</a:t>
            </a:r>
            <a:endParaRPr lang="en-US" sz="1800" dirty="0"/>
          </a:p>
        </p:txBody>
      </p:sp>
      <p:sp>
        <p:nvSpPr>
          <p:cNvPr id="19" name="Shape 15"/>
          <p:cNvSpPr/>
          <p:nvPr/>
        </p:nvSpPr>
        <p:spPr>
          <a:xfrm>
            <a:off x="457200" y="6446520"/>
            <a:ext cx="11277295" cy="0"/>
          </a:xfrm>
          <a:prstGeom prst="line">
            <a:avLst/>
          </a:prstGeom>
          <a:noFill/>
          <a:ln w="9525">
            <a:solidFill>
              <a:srgbClr val="D5DDEA"/>
            </a:solidFill>
            <a:prstDash val="solid"/>
          </a:ln>
        </p:spPr>
      </p:sp>
      <p:sp>
        <p:nvSpPr>
          <p:cNvPr id="20" name="Text 16"/>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18 / 35</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APIS, MCP &amp; CONNECTORS</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DEFINITION</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0A1628"/>
                </a:solidFill>
                <a:latin typeface="Oswald" pitchFamily="34" charset="0"/>
                <a:ea typeface="Oswald" pitchFamily="34" charset="-122"/>
                <a:cs typeface="Oswald" pitchFamily="34" charset="-120"/>
              </a:rPr>
              <a:t>What Is MCP?</a:t>
            </a:r>
            <a:endParaRPr lang="en-US" sz="3400" dirty="0"/>
          </a:p>
        </p:txBody>
      </p:sp>
      <p:sp>
        <p:nvSpPr>
          <p:cNvPr id="5" name="Text 3"/>
          <p:cNvSpPr/>
          <p:nvPr/>
        </p:nvSpPr>
        <p:spPr>
          <a:xfrm>
            <a:off x="457200" y="1828800"/>
            <a:ext cx="11274552" cy="457200"/>
          </a:xfrm>
          <a:prstGeom prst="rect">
            <a:avLst/>
          </a:prstGeom>
          <a:noFill/>
          <a:ln/>
        </p:spPr>
        <p:txBody>
          <a:bodyPr wrap="square" lIns="0" tIns="0" rIns="0" bIns="0" rtlCol="0" anchor="ctr"/>
          <a:lstStyle/>
          <a:p>
            <a:pPr algn="l" indent="0" marL="0">
              <a:buNone/>
            </a:pPr>
            <a:r>
              <a:rPr lang="en-US" sz="1600" dirty="0">
                <a:solidFill>
                  <a:srgbClr val="3D4759"/>
                </a:solidFill>
                <a:latin typeface="Plus Jakarta Sans" pitchFamily="34" charset="0"/>
                <a:ea typeface="Plus Jakarta Sans" pitchFamily="34" charset="-122"/>
                <a:cs typeface="Plus Jakarta Sans" pitchFamily="34" charset="-120"/>
              </a:rPr>
              <a:t>An open standard that lets AI models connect to external tools, data, and services in a consistent way.</a:t>
            </a:r>
            <a:endParaRPr lang="en-US" sz="1600" dirty="0"/>
          </a:p>
        </p:txBody>
      </p:sp>
      <p:sp>
        <p:nvSpPr>
          <p:cNvPr id="6" name="Shape 4"/>
          <p:cNvSpPr/>
          <p:nvPr/>
        </p:nvSpPr>
        <p:spPr>
          <a:xfrm>
            <a:off x="457200" y="2468880"/>
            <a:ext cx="5547208" cy="2834640"/>
          </a:xfrm>
          <a:prstGeom prst="rect">
            <a:avLst/>
          </a:prstGeom>
          <a:solidFill>
            <a:srgbClr val="FFFFFF"/>
          </a:solidFill>
          <a:ln w="12700">
            <a:solidFill>
              <a:srgbClr val="D5DDEA"/>
            </a:solidFill>
            <a:prstDash val="solid"/>
          </a:ln>
        </p:spPr>
      </p:sp>
      <p:sp>
        <p:nvSpPr>
          <p:cNvPr id="7" name="Shape 5"/>
          <p:cNvSpPr/>
          <p:nvPr/>
        </p:nvSpPr>
        <p:spPr>
          <a:xfrm>
            <a:off x="457200" y="2468880"/>
            <a:ext cx="5547208" cy="640080"/>
          </a:xfrm>
          <a:prstGeom prst="rect">
            <a:avLst/>
          </a:prstGeom>
          <a:solidFill>
            <a:srgbClr val="0A1628"/>
          </a:solidFill>
          <a:ln/>
        </p:spPr>
      </p:sp>
      <p:pic>
        <p:nvPicPr>
          <p:cNvPr id="8" name="Image 0" descr="icons/link-white.png">    </p:cNvPr>
          <p:cNvPicPr>
            <a:picLocks noChangeAspect="1"/>
          </p:cNvPicPr>
          <p:nvPr/>
        </p:nvPicPr>
        <p:blipFill>
          <a:blip r:embed="rId1"/>
          <a:stretch>
            <a:fillRect/>
          </a:stretch>
        </p:blipFill>
        <p:spPr>
          <a:xfrm>
            <a:off x="731520" y="2615184"/>
            <a:ext cx="347472" cy="347472"/>
          </a:xfrm>
          <a:prstGeom prst="rect">
            <a:avLst/>
          </a:prstGeom>
        </p:spPr>
      </p:pic>
      <p:sp>
        <p:nvSpPr>
          <p:cNvPr id="9" name="Text 6"/>
          <p:cNvSpPr/>
          <p:nvPr/>
        </p:nvSpPr>
        <p:spPr>
          <a:xfrm>
            <a:off x="1234440" y="2468880"/>
            <a:ext cx="4541368" cy="640080"/>
          </a:xfrm>
          <a:prstGeom prst="rect">
            <a:avLst/>
          </a:prstGeom>
          <a:noFill/>
          <a:ln/>
        </p:spPr>
        <p:txBody>
          <a:bodyPr wrap="square" lIns="0" tIns="0" rIns="0" bIns="0" rtlCol="0" anchor="ctr"/>
          <a:lstStyle/>
          <a:p>
            <a:pPr algn="l" indent="0" marL="0">
              <a:buNone/>
            </a:pPr>
            <a:r>
              <a:rPr lang="en-US" sz="2200" b="1" dirty="0">
                <a:solidFill>
                  <a:srgbClr val="FFFFFF"/>
                </a:solidFill>
                <a:latin typeface="Oswald" pitchFamily="34" charset="0"/>
                <a:ea typeface="Oswald" pitchFamily="34" charset="-122"/>
                <a:cs typeface="Oswald" pitchFamily="34" charset="-120"/>
              </a:rPr>
              <a:t>API</a:t>
            </a:r>
            <a:endParaRPr lang="en-US" sz="2200" dirty="0"/>
          </a:p>
        </p:txBody>
      </p:sp>
      <p:sp>
        <p:nvSpPr>
          <p:cNvPr id="10" name="Text 7"/>
          <p:cNvSpPr/>
          <p:nvPr/>
        </p:nvSpPr>
        <p:spPr>
          <a:xfrm>
            <a:off x="822960" y="3429000"/>
            <a:ext cx="4815688" cy="1645920"/>
          </a:xfrm>
          <a:prstGeom prst="rect">
            <a:avLst/>
          </a:prstGeom>
          <a:noFill/>
          <a:ln/>
        </p:spPr>
        <p:txBody>
          <a:bodyPr wrap="square" lIns="0" tIns="0" rIns="0" bIns="0" rtlCol="0" anchor="t"/>
          <a:lstStyle/>
          <a:p>
            <a:pPr algn="l" indent="0" marL="0">
              <a:buNone/>
            </a:pPr>
            <a:r>
              <a:rPr lang="en-US" sz="1600" dirty="0">
                <a:solidFill>
                  <a:srgbClr val="3D4759"/>
                </a:solidFill>
                <a:latin typeface="Plus Jakarta Sans" pitchFamily="34" charset="0"/>
                <a:ea typeface="Plus Jakarta Sans" pitchFamily="34" charset="-122"/>
                <a:cs typeface="Plus Jakarta Sans" pitchFamily="34" charset="-120"/>
              </a:rPr>
              <a:t>One application talking to another application.</a:t>
            </a:r>
            <a:endParaRPr lang="en-US" sz="1600" dirty="0"/>
          </a:p>
        </p:txBody>
      </p:sp>
      <p:sp>
        <p:nvSpPr>
          <p:cNvPr id="11" name="Shape 8"/>
          <p:cNvSpPr/>
          <p:nvPr/>
        </p:nvSpPr>
        <p:spPr>
          <a:xfrm>
            <a:off x="6004408" y="2468880"/>
            <a:ext cx="5547208" cy="2834640"/>
          </a:xfrm>
          <a:prstGeom prst="rect">
            <a:avLst/>
          </a:prstGeom>
          <a:solidFill>
            <a:srgbClr val="0066FF">
              <a:alpha val="8000"/>
            </a:srgbClr>
          </a:solidFill>
          <a:ln w="12700">
            <a:solidFill>
              <a:srgbClr val="D5DDEA"/>
            </a:solidFill>
            <a:prstDash val="solid"/>
          </a:ln>
        </p:spPr>
      </p:sp>
      <p:sp>
        <p:nvSpPr>
          <p:cNvPr id="12" name="Shape 9"/>
          <p:cNvSpPr/>
          <p:nvPr/>
        </p:nvSpPr>
        <p:spPr>
          <a:xfrm>
            <a:off x="6004408" y="2468880"/>
            <a:ext cx="5547208" cy="640080"/>
          </a:xfrm>
          <a:prstGeom prst="rect">
            <a:avLst/>
          </a:prstGeom>
          <a:solidFill>
            <a:srgbClr val="0066FF"/>
          </a:solidFill>
          <a:ln/>
        </p:spPr>
      </p:sp>
      <p:pic>
        <p:nvPicPr>
          <p:cNvPr id="13" name="Image 1" descr="icons/networkWired-white.png">    </p:cNvPr>
          <p:cNvPicPr>
            <a:picLocks noChangeAspect="1"/>
          </p:cNvPicPr>
          <p:nvPr/>
        </p:nvPicPr>
        <p:blipFill>
          <a:blip r:embed="rId2"/>
          <a:stretch>
            <a:fillRect/>
          </a:stretch>
        </p:blipFill>
        <p:spPr>
          <a:xfrm>
            <a:off x="6278728" y="2615184"/>
            <a:ext cx="347472" cy="347472"/>
          </a:xfrm>
          <a:prstGeom prst="rect">
            <a:avLst/>
          </a:prstGeom>
        </p:spPr>
      </p:pic>
      <p:sp>
        <p:nvSpPr>
          <p:cNvPr id="14" name="Text 10"/>
          <p:cNvSpPr/>
          <p:nvPr/>
        </p:nvSpPr>
        <p:spPr>
          <a:xfrm>
            <a:off x="6781648" y="2468880"/>
            <a:ext cx="4541368" cy="640080"/>
          </a:xfrm>
          <a:prstGeom prst="rect">
            <a:avLst/>
          </a:prstGeom>
          <a:noFill/>
          <a:ln/>
        </p:spPr>
        <p:txBody>
          <a:bodyPr wrap="square" lIns="0" tIns="0" rIns="0" bIns="0" rtlCol="0" anchor="ctr"/>
          <a:lstStyle/>
          <a:p>
            <a:pPr algn="l" indent="0" marL="0">
              <a:buNone/>
            </a:pPr>
            <a:r>
              <a:rPr lang="en-US" sz="2200" b="1" dirty="0">
                <a:solidFill>
                  <a:srgbClr val="FFFFFF"/>
                </a:solidFill>
                <a:latin typeface="Oswald" pitchFamily="34" charset="0"/>
                <a:ea typeface="Oswald" pitchFamily="34" charset="-122"/>
                <a:cs typeface="Oswald" pitchFamily="34" charset="-120"/>
              </a:rPr>
              <a:t>MCP</a:t>
            </a:r>
            <a:endParaRPr lang="en-US" sz="2200" dirty="0"/>
          </a:p>
        </p:txBody>
      </p:sp>
      <p:sp>
        <p:nvSpPr>
          <p:cNvPr id="15" name="Text 11"/>
          <p:cNvSpPr/>
          <p:nvPr/>
        </p:nvSpPr>
        <p:spPr>
          <a:xfrm>
            <a:off x="6370168" y="3429000"/>
            <a:ext cx="4815688" cy="1645920"/>
          </a:xfrm>
          <a:prstGeom prst="rect">
            <a:avLst/>
          </a:prstGeom>
          <a:noFill/>
          <a:ln/>
        </p:spPr>
        <p:txBody>
          <a:bodyPr wrap="square" lIns="0" tIns="0" rIns="0" bIns="0" rtlCol="0" anchor="t"/>
          <a:lstStyle/>
          <a:p>
            <a:pPr algn="l" indent="0" marL="0">
              <a:buNone/>
            </a:pPr>
            <a:r>
              <a:rPr lang="en-US" sz="1600" dirty="0">
                <a:solidFill>
                  <a:srgbClr val="3D4759"/>
                </a:solidFill>
                <a:latin typeface="Plus Jakarta Sans" pitchFamily="34" charset="0"/>
                <a:ea typeface="Plus Jakarta Sans" pitchFamily="34" charset="-122"/>
                <a:cs typeface="Plus Jakarta Sans" pitchFamily="34" charset="-120"/>
              </a:rPr>
              <a:t>A standard way for an AI model to discover and use many tools, without a custom integration for each one.</a:t>
            </a:r>
            <a:endParaRPr lang="en-US" sz="1600" dirty="0"/>
          </a:p>
        </p:txBody>
      </p:sp>
      <p:sp>
        <p:nvSpPr>
          <p:cNvPr id="16" name="Shape 12"/>
          <p:cNvSpPr/>
          <p:nvPr/>
        </p:nvSpPr>
        <p:spPr>
          <a:xfrm>
            <a:off x="5748376" y="3630168"/>
            <a:ext cx="512064" cy="512064"/>
          </a:xfrm>
          <a:prstGeom prst="ellipse">
            <a:avLst/>
          </a:prstGeom>
          <a:solidFill>
            <a:srgbClr val="0A1628"/>
          </a:solidFill>
          <a:ln w="31750">
            <a:solidFill>
              <a:srgbClr val="F4F7FC"/>
            </a:solidFill>
            <a:prstDash val="solid"/>
          </a:ln>
        </p:spPr>
      </p:sp>
      <p:sp>
        <p:nvSpPr>
          <p:cNvPr id="17" name="Shape 13"/>
          <p:cNvSpPr/>
          <p:nvPr/>
        </p:nvSpPr>
        <p:spPr>
          <a:xfrm>
            <a:off x="457200" y="5577840"/>
            <a:ext cx="54864" cy="548640"/>
          </a:xfrm>
          <a:prstGeom prst="rect">
            <a:avLst/>
          </a:prstGeom>
          <a:solidFill>
            <a:srgbClr val="0066FF"/>
          </a:solidFill>
          <a:ln/>
        </p:spPr>
      </p:sp>
      <p:sp>
        <p:nvSpPr>
          <p:cNvPr id="18" name="Text 14"/>
          <p:cNvSpPr/>
          <p:nvPr/>
        </p:nvSpPr>
        <p:spPr>
          <a:xfrm>
            <a:off x="685800" y="5532120"/>
            <a:ext cx="10515600" cy="640080"/>
          </a:xfrm>
          <a:prstGeom prst="rect">
            <a:avLst/>
          </a:prstGeom>
          <a:noFill/>
          <a:ln/>
        </p:spPr>
        <p:txBody>
          <a:bodyPr wrap="square" lIns="0" tIns="0" rIns="0" bIns="0" rtlCol="0" anchor="ctr"/>
          <a:lstStyle/>
          <a:p>
            <a:pPr algn="l" indent="0" marL="0">
              <a:buNone/>
            </a:pPr>
            <a:r>
              <a:rPr lang="en-US" sz="1700" i="1" dirty="0">
                <a:solidFill>
                  <a:srgbClr val="0A1628"/>
                </a:solidFill>
                <a:latin typeface="Plus Jakarta Sans" pitchFamily="34" charset="0"/>
                <a:ea typeface="Plus Jakarta Sans" pitchFamily="34" charset="-122"/>
                <a:cs typeface="Plus Jakarta Sans" pitchFamily="34" charset="-120"/>
              </a:rPr>
              <a:t>An API is a phone line to one number. MCP is a directory that dials the right one for you.</a:t>
            </a:r>
            <a:endParaRPr lang="en-US" sz="1700" dirty="0"/>
          </a:p>
        </p:txBody>
      </p:sp>
      <p:sp>
        <p:nvSpPr>
          <p:cNvPr id="19" name="Shape 15"/>
          <p:cNvSpPr/>
          <p:nvPr/>
        </p:nvSpPr>
        <p:spPr>
          <a:xfrm>
            <a:off x="457200" y="6446520"/>
            <a:ext cx="11277295" cy="0"/>
          </a:xfrm>
          <a:prstGeom prst="line">
            <a:avLst/>
          </a:prstGeom>
          <a:noFill/>
          <a:ln w="9525">
            <a:solidFill>
              <a:srgbClr val="D5DDEA"/>
            </a:solidFill>
            <a:prstDash val="solid"/>
          </a:ln>
        </p:spPr>
      </p:sp>
      <p:sp>
        <p:nvSpPr>
          <p:cNvPr id="20" name="Text 16"/>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19 / 35</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APIS, MCP &amp; CONNECTORS</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WHY IT MATTERS</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0A1628"/>
                </a:solidFill>
                <a:latin typeface="Oswald" pitchFamily="34" charset="0"/>
                <a:ea typeface="Oswald" pitchFamily="34" charset="-122"/>
                <a:cs typeface="Oswald" pitchFamily="34" charset="-120"/>
              </a:rPr>
              <a:t>Making MCP Easy for Everyone</a:t>
            </a:r>
            <a:endParaRPr lang="en-US" sz="3400" dirty="0"/>
          </a:p>
        </p:txBody>
      </p:sp>
      <p:sp>
        <p:nvSpPr>
          <p:cNvPr id="5" name="Text 3"/>
          <p:cNvSpPr/>
          <p:nvPr/>
        </p:nvSpPr>
        <p:spPr>
          <a:xfrm>
            <a:off x="457200" y="2286000"/>
            <a:ext cx="5852160" cy="1097280"/>
          </a:xfrm>
          <a:prstGeom prst="rect">
            <a:avLst/>
          </a:prstGeom>
          <a:noFill/>
          <a:ln/>
        </p:spPr>
        <p:txBody>
          <a:bodyPr wrap="square" lIns="0" tIns="0" rIns="0" bIns="0" rtlCol="0" anchor="t"/>
          <a:lstStyle/>
          <a:p>
            <a:pPr algn="l" indent="0" marL="0">
              <a:buNone/>
            </a:pPr>
            <a:r>
              <a:rPr lang="en-US" sz="2000" dirty="0">
                <a:solidFill>
                  <a:srgbClr val="3D4759"/>
                </a:solidFill>
                <a:latin typeface="Plus Jakarta Sans" pitchFamily="34" charset="0"/>
                <a:ea typeface="Plus Jakarta Sans" pitchFamily="34" charset="-122"/>
                <a:cs typeface="Plus Jakarta Sans" pitchFamily="34" charset="-120"/>
              </a:rPr>
              <a:t>How do companies make MCP simple for a normal consumer to access?</a:t>
            </a:r>
            <a:endParaRPr lang="en-US" sz="2000" dirty="0"/>
          </a:p>
        </p:txBody>
      </p:sp>
      <p:sp>
        <p:nvSpPr>
          <p:cNvPr id="6" name="Text 4"/>
          <p:cNvSpPr/>
          <p:nvPr/>
        </p:nvSpPr>
        <p:spPr>
          <a:xfrm>
            <a:off x="457200" y="3429000"/>
            <a:ext cx="5852160" cy="1188720"/>
          </a:xfrm>
          <a:prstGeom prst="rect">
            <a:avLst/>
          </a:prstGeom>
          <a:noFill/>
          <a:ln/>
        </p:spPr>
        <p:txBody>
          <a:bodyPr wrap="square" lIns="0" tIns="0" rIns="0" bIns="0" rtlCol="0" anchor="t"/>
          <a:lstStyle/>
          <a:p>
            <a:pPr algn="l" indent="0" marL="0">
              <a:buNone/>
            </a:pPr>
            <a:r>
              <a:rPr lang="en-US" sz="6000" b="1" dirty="0">
                <a:solidFill>
                  <a:srgbClr val="0066FF"/>
                </a:solidFill>
                <a:latin typeface="Oswald" pitchFamily="34" charset="0"/>
                <a:ea typeface="Oswald" pitchFamily="34" charset="-122"/>
                <a:cs typeface="Oswald" pitchFamily="34" charset="-120"/>
              </a:rPr>
              <a:t>Connectors.</a:t>
            </a:r>
            <a:endParaRPr lang="en-US" sz="6000" dirty="0"/>
          </a:p>
        </p:txBody>
      </p:sp>
      <p:sp>
        <p:nvSpPr>
          <p:cNvPr id="7" name="Shape 5"/>
          <p:cNvSpPr/>
          <p:nvPr/>
        </p:nvSpPr>
        <p:spPr>
          <a:xfrm>
            <a:off x="8229600" y="2514600"/>
            <a:ext cx="2377440" cy="2377440"/>
          </a:xfrm>
          <a:prstGeom prst="ellipse">
            <a:avLst/>
          </a:prstGeom>
          <a:solidFill>
            <a:srgbClr val="0A1628"/>
          </a:solidFill>
          <a:ln/>
        </p:spPr>
      </p:sp>
      <p:pic>
        <p:nvPicPr>
          <p:cNvPr id="8" name="Image 0" descr="icons/plug-white.png">    </p:cNvPr>
          <p:cNvPicPr>
            <a:picLocks noChangeAspect="1"/>
          </p:cNvPicPr>
          <p:nvPr/>
        </p:nvPicPr>
        <p:blipFill>
          <a:blip r:embed="rId1"/>
          <a:stretch>
            <a:fillRect/>
          </a:stretch>
        </p:blipFill>
        <p:spPr>
          <a:xfrm>
            <a:off x="8732520" y="3017520"/>
            <a:ext cx="1371600" cy="1371600"/>
          </a:xfrm>
          <a:prstGeom prst="rect">
            <a:avLst/>
          </a:prstGeom>
        </p:spPr>
      </p:pic>
      <p:sp>
        <p:nvSpPr>
          <p:cNvPr id="9" name="Shape 6"/>
          <p:cNvSpPr/>
          <p:nvPr/>
        </p:nvSpPr>
        <p:spPr>
          <a:xfrm>
            <a:off x="7726680" y="3584448"/>
            <a:ext cx="237744" cy="237744"/>
          </a:xfrm>
          <a:prstGeom prst="ellipse">
            <a:avLst/>
          </a:prstGeom>
          <a:solidFill>
            <a:srgbClr val="0066FF"/>
          </a:solidFill>
          <a:ln/>
        </p:spPr>
      </p:sp>
      <p:sp>
        <p:nvSpPr>
          <p:cNvPr id="10" name="Shape 7"/>
          <p:cNvSpPr/>
          <p:nvPr/>
        </p:nvSpPr>
        <p:spPr>
          <a:xfrm>
            <a:off x="10872216" y="3584448"/>
            <a:ext cx="237744" cy="237744"/>
          </a:xfrm>
          <a:prstGeom prst="ellipse">
            <a:avLst/>
          </a:prstGeom>
          <a:solidFill>
            <a:srgbClr val="0066FF"/>
          </a:solidFill>
          <a:ln/>
        </p:spPr>
      </p:sp>
      <p:sp>
        <p:nvSpPr>
          <p:cNvPr id="11" name="Shape 8"/>
          <p:cNvSpPr/>
          <p:nvPr/>
        </p:nvSpPr>
        <p:spPr>
          <a:xfrm>
            <a:off x="7845552" y="3703320"/>
            <a:ext cx="384048" cy="0"/>
          </a:xfrm>
          <a:prstGeom prst="line">
            <a:avLst/>
          </a:prstGeom>
          <a:noFill/>
          <a:ln w="19050">
            <a:solidFill>
              <a:srgbClr val="D5DDEA"/>
            </a:solidFill>
            <a:prstDash val="solid"/>
          </a:ln>
        </p:spPr>
      </p:sp>
      <p:sp>
        <p:nvSpPr>
          <p:cNvPr id="12" name="Shape 9"/>
          <p:cNvSpPr/>
          <p:nvPr/>
        </p:nvSpPr>
        <p:spPr>
          <a:xfrm>
            <a:off x="10607040" y="3703320"/>
            <a:ext cx="384048" cy="0"/>
          </a:xfrm>
          <a:prstGeom prst="line">
            <a:avLst/>
          </a:prstGeom>
          <a:noFill/>
          <a:ln w="19050">
            <a:solidFill>
              <a:srgbClr val="D5DDEA"/>
            </a:solidFill>
            <a:prstDash val="solid"/>
          </a:ln>
        </p:spPr>
      </p:sp>
      <p:sp>
        <p:nvSpPr>
          <p:cNvPr id="13" name="Shape 10"/>
          <p:cNvSpPr/>
          <p:nvPr/>
        </p:nvSpPr>
        <p:spPr>
          <a:xfrm>
            <a:off x="457200" y="6446520"/>
            <a:ext cx="11277295" cy="0"/>
          </a:xfrm>
          <a:prstGeom prst="line">
            <a:avLst/>
          </a:prstGeom>
          <a:noFill/>
          <a:ln w="9525">
            <a:solidFill>
              <a:srgbClr val="D5DDEA"/>
            </a:solidFill>
            <a:prstDash val="solid"/>
          </a:ln>
        </p:spPr>
      </p:sp>
      <p:sp>
        <p:nvSpPr>
          <p:cNvPr id="14" name="Text 11"/>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20 / 35</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APIS, MCP &amp; CONNECTORS</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IN PRACTICE</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000" b="1" dirty="0">
                <a:solidFill>
                  <a:srgbClr val="0A1628"/>
                </a:solidFill>
                <a:latin typeface="Oswald" pitchFamily="34" charset="0"/>
                <a:ea typeface="Oswald" pitchFamily="34" charset="-122"/>
                <a:cs typeface="Oswald" pitchFamily="34" charset="-120"/>
              </a:rPr>
              <a:t>What Is a Connector — and Why It Matters</a:t>
            </a:r>
            <a:endParaRPr lang="en-US" sz="3000" dirty="0"/>
          </a:p>
        </p:txBody>
      </p:sp>
      <p:sp>
        <p:nvSpPr>
          <p:cNvPr id="5" name="Text 3"/>
          <p:cNvSpPr/>
          <p:nvPr/>
        </p:nvSpPr>
        <p:spPr>
          <a:xfrm>
            <a:off x="457200" y="2057400"/>
            <a:ext cx="5120640" cy="1280160"/>
          </a:xfrm>
          <a:prstGeom prst="rect">
            <a:avLst/>
          </a:prstGeom>
          <a:noFill/>
          <a:ln/>
        </p:spPr>
        <p:txBody>
          <a:bodyPr wrap="square" lIns="0" tIns="0" rIns="0" bIns="0" rtlCol="0" anchor="t"/>
          <a:lstStyle/>
          <a:p>
            <a:pPr algn="l" indent="0" marL="0">
              <a:buNone/>
            </a:pPr>
            <a:r>
              <a:rPr lang="en-US" sz="1600" dirty="0">
                <a:solidFill>
                  <a:srgbClr val="3D4759"/>
                </a:solidFill>
                <a:latin typeface="Plus Jakarta Sans" pitchFamily="34" charset="0"/>
                <a:ea typeface="Plus Jakarta Sans" pitchFamily="34" charset="-122"/>
                <a:cs typeface="Plus Jakarta Sans" pitchFamily="34" charset="-120"/>
              </a:rPr>
              <a:t>Connectors make it seamless to link different applications — and Claude Code lets you expand even further.</a:t>
            </a:r>
            <a:endParaRPr lang="en-US" sz="1600" dirty="0"/>
          </a:p>
        </p:txBody>
      </p:sp>
      <p:sp>
        <p:nvSpPr>
          <p:cNvPr id="6" name="Shape 4"/>
          <p:cNvSpPr/>
          <p:nvPr/>
        </p:nvSpPr>
        <p:spPr>
          <a:xfrm>
            <a:off x="457200" y="3520440"/>
            <a:ext cx="4114800" cy="502920"/>
          </a:xfrm>
          <a:prstGeom prst="roundRect">
            <a:avLst>
              <a:gd name="adj" fmla="val 50909"/>
            </a:avLst>
          </a:prstGeom>
          <a:solidFill>
            <a:srgbClr val="0A1628"/>
          </a:solidFill>
          <a:ln/>
        </p:spPr>
      </p:sp>
      <p:sp>
        <p:nvSpPr>
          <p:cNvPr id="7" name="Shape 5"/>
          <p:cNvSpPr/>
          <p:nvPr/>
        </p:nvSpPr>
        <p:spPr>
          <a:xfrm>
            <a:off x="713232" y="3730752"/>
            <a:ext cx="109728" cy="109728"/>
          </a:xfrm>
          <a:prstGeom prst="ellipse">
            <a:avLst/>
          </a:prstGeom>
          <a:solidFill>
            <a:srgbClr val="0066FF"/>
          </a:solidFill>
          <a:ln/>
        </p:spPr>
      </p:sp>
      <p:sp>
        <p:nvSpPr>
          <p:cNvPr id="8" name="Text 6"/>
          <p:cNvSpPr/>
          <p:nvPr/>
        </p:nvSpPr>
        <p:spPr>
          <a:xfrm>
            <a:off x="960120" y="3520440"/>
            <a:ext cx="3520440" cy="502920"/>
          </a:xfrm>
          <a:prstGeom prst="rect">
            <a:avLst/>
          </a:prstGeom>
          <a:noFill/>
          <a:ln/>
        </p:spPr>
        <p:txBody>
          <a:bodyPr wrap="square" lIns="0" tIns="0" rIns="0" bIns="0" rtlCol="0" anchor="ctr"/>
          <a:lstStyle/>
          <a:p>
            <a:pPr algn="l" indent="0" marL="0">
              <a:buNone/>
            </a:pPr>
            <a:r>
              <a:rPr lang="en-US" sz="1200" b="1" spc="100" kern="0" dirty="0">
                <a:solidFill>
                  <a:srgbClr val="FFFFFF"/>
                </a:solidFill>
                <a:latin typeface="Oswald" pitchFamily="34" charset="0"/>
                <a:ea typeface="Oswald" pitchFamily="34" charset="-122"/>
                <a:cs typeface="Oswald" pitchFamily="34" charset="-120"/>
              </a:rPr>
              <a:t>LIVE EXAMPLE SHOWN IN CLAUDE CODE</a:t>
            </a:r>
            <a:endParaRPr lang="en-US" sz="1200" dirty="0"/>
          </a:p>
        </p:txBody>
      </p:sp>
      <p:pic>
        <p:nvPicPr>
          <p:cNvPr id="9" name="Image 0" descr="icons/link-navy.png">    </p:cNvPr>
          <p:cNvPicPr>
            <a:picLocks noChangeAspect="1"/>
          </p:cNvPicPr>
          <p:nvPr/>
        </p:nvPicPr>
        <p:blipFill>
          <a:blip r:embed="rId1"/>
          <a:stretch>
            <a:fillRect/>
          </a:stretch>
        </p:blipFill>
        <p:spPr>
          <a:xfrm>
            <a:off x="457200" y="4343400"/>
            <a:ext cx="502920" cy="502920"/>
          </a:xfrm>
          <a:prstGeom prst="rect">
            <a:avLst/>
          </a:prstGeom>
        </p:spPr>
      </p:pic>
      <p:sp>
        <p:nvSpPr>
          <p:cNvPr id="10" name="Text 7"/>
          <p:cNvSpPr/>
          <p:nvPr/>
        </p:nvSpPr>
        <p:spPr>
          <a:xfrm>
            <a:off x="1097280" y="4343400"/>
            <a:ext cx="4480560" cy="502920"/>
          </a:xfrm>
          <a:prstGeom prst="rect">
            <a:avLst/>
          </a:prstGeom>
          <a:noFill/>
          <a:ln/>
        </p:spPr>
        <p:txBody>
          <a:bodyPr wrap="square" lIns="0" tIns="0" rIns="0" bIns="0" rtlCol="0" anchor="ctr"/>
          <a:lstStyle/>
          <a:p>
            <a:pPr algn="l" indent="0" marL="0">
              <a:buNone/>
            </a:pPr>
            <a:r>
              <a:rPr lang="en-US" sz="1300" i="1" dirty="0">
                <a:solidFill>
                  <a:srgbClr val="3D4759"/>
                </a:solidFill>
                <a:latin typeface="Plus Jakarta Sans" pitchFamily="34" charset="0"/>
                <a:ea typeface="Plus Jakarta Sans" pitchFamily="34" charset="-122"/>
                <a:cs typeface="Plus Jakarta Sans" pitchFamily="34" charset="-120"/>
              </a:rPr>
              <a:t>One connector, many downstream apps.</a:t>
            </a:r>
            <a:endParaRPr lang="en-US" sz="1300" dirty="0"/>
          </a:p>
        </p:txBody>
      </p:sp>
      <p:sp>
        <p:nvSpPr>
          <p:cNvPr id="11" name="Shape 8"/>
          <p:cNvSpPr/>
          <p:nvPr/>
        </p:nvSpPr>
        <p:spPr>
          <a:xfrm>
            <a:off x="8138160" y="3108960"/>
            <a:ext cx="1920240" cy="640080"/>
          </a:xfrm>
          <a:prstGeom prst="rect">
            <a:avLst/>
          </a:prstGeom>
          <a:solidFill>
            <a:srgbClr val="0066FF"/>
          </a:solidFill>
          <a:ln/>
        </p:spPr>
      </p:sp>
      <p:sp>
        <p:nvSpPr>
          <p:cNvPr id="12" name="Text 9"/>
          <p:cNvSpPr/>
          <p:nvPr/>
        </p:nvSpPr>
        <p:spPr>
          <a:xfrm>
            <a:off x="8138160" y="3108960"/>
            <a:ext cx="192024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Oswald" pitchFamily="34" charset="0"/>
                <a:ea typeface="Oswald" pitchFamily="34" charset="-122"/>
                <a:cs typeface="Oswald" pitchFamily="34" charset="-120"/>
              </a:rPr>
              <a:t>Claude Code</a:t>
            </a:r>
            <a:endParaRPr lang="en-US" sz="1500" dirty="0"/>
          </a:p>
        </p:txBody>
      </p:sp>
      <p:sp>
        <p:nvSpPr>
          <p:cNvPr id="13" name="Shape 10"/>
          <p:cNvSpPr/>
          <p:nvPr/>
        </p:nvSpPr>
        <p:spPr>
          <a:xfrm>
            <a:off x="6400800" y="2743200"/>
            <a:ext cx="1737360" cy="1371600"/>
          </a:xfrm>
          <a:prstGeom prst="roundRect">
            <a:avLst>
              <a:gd name="adj" fmla="val 6667"/>
            </a:avLst>
          </a:prstGeom>
          <a:solidFill>
            <a:srgbClr val="0A1628"/>
          </a:solidFill>
          <a:ln/>
        </p:spPr>
      </p:sp>
      <p:sp>
        <p:nvSpPr>
          <p:cNvPr id="14" name="Text 11"/>
          <p:cNvSpPr/>
          <p:nvPr/>
        </p:nvSpPr>
        <p:spPr>
          <a:xfrm>
            <a:off x="6400800" y="2743200"/>
            <a:ext cx="1737360" cy="1371600"/>
          </a:xfrm>
          <a:prstGeom prst="rect">
            <a:avLst/>
          </a:prstGeom>
          <a:noFill/>
          <a:ln/>
        </p:spPr>
        <p:txBody>
          <a:bodyPr wrap="square" lIns="0" tIns="0" rIns="0" bIns="0" rtlCol="0" anchor="ctr"/>
          <a:lstStyle/>
          <a:p>
            <a:pPr algn="ctr" indent="0" marL="0">
              <a:buNone/>
            </a:pPr>
            <a:r>
              <a:rPr lang="en-US" sz="1600" dirty="0">
                <a:solidFill>
                  <a:srgbClr val="FFFFFF"/>
                </a:solidFill>
                <a:latin typeface="Plus Jakarta Sans" pitchFamily="34" charset="0"/>
                <a:ea typeface="Plus Jakarta Sans" pitchFamily="34" charset="-122"/>
                <a:cs typeface="Plus Jakarta Sans" pitchFamily="34" charset="-120"/>
              </a:rPr>
              <a:t>App A</a:t>
            </a:r>
            <a:endParaRPr lang="en-US" sz="1600" dirty="0"/>
          </a:p>
        </p:txBody>
      </p:sp>
      <p:sp>
        <p:nvSpPr>
          <p:cNvPr id="15" name="Shape 12"/>
          <p:cNvSpPr/>
          <p:nvPr/>
        </p:nvSpPr>
        <p:spPr>
          <a:xfrm>
            <a:off x="10058400" y="2743200"/>
            <a:ext cx="1737360" cy="1371600"/>
          </a:xfrm>
          <a:prstGeom prst="roundRect">
            <a:avLst>
              <a:gd name="adj" fmla="val 6667"/>
            </a:avLst>
          </a:prstGeom>
          <a:solidFill>
            <a:srgbClr val="0A1628"/>
          </a:solidFill>
          <a:ln/>
        </p:spPr>
      </p:sp>
      <p:sp>
        <p:nvSpPr>
          <p:cNvPr id="16" name="Text 13"/>
          <p:cNvSpPr/>
          <p:nvPr/>
        </p:nvSpPr>
        <p:spPr>
          <a:xfrm>
            <a:off x="10058400" y="2743200"/>
            <a:ext cx="1737360" cy="1371600"/>
          </a:xfrm>
          <a:prstGeom prst="rect">
            <a:avLst/>
          </a:prstGeom>
          <a:noFill/>
          <a:ln/>
        </p:spPr>
        <p:txBody>
          <a:bodyPr wrap="square" lIns="0" tIns="0" rIns="0" bIns="0" rtlCol="0" anchor="ctr"/>
          <a:lstStyle/>
          <a:p>
            <a:pPr algn="ctr" indent="0" marL="0">
              <a:buNone/>
            </a:pPr>
            <a:r>
              <a:rPr lang="en-US" sz="1600" dirty="0">
                <a:solidFill>
                  <a:srgbClr val="FFFFFF"/>
                </a:solidFill>
                <a:latin typeface="Plus Jakarta Sans" pitchFamily="34" charset="0"/>
                <a:ea typeface="Plus Jakarta Sans" pitchFamily="34" charset="-122"/>
                <a:cs typeface="Plus Jakarta Sans" pitchFamily="34" charset="-120"/>
              </a:rPr>
              <a:t>App B</a:t>
            </a:r>
            <a:endParaRPr lang="en-US" sz="1600" dirty="0"/>
          </a:p>
        </p:txBody>
      </p:sp>
      <p:sp>
        <p:nvSpPr>
          <p:cNvPr id="17" name="Shape 14"/>
          <p:cNvSpPr/>
          <p:nvPr/>
        </p:nvSpPr>
        <p:spPr>
          <a:xfrm>
            <a:off x="8037576" y="3328416"/>
            <a:ext cx="201168" cy="201168"/>
          </a:xfrm>
          <a:prstGeom prst="ellipse">
            <a:avLst/>
          </a:prstGeom>
          <a:solidFill>
            <a:srgbClr val="F4F7FC"/>
          </a:solidFill>
          <a:ln/>
        </p:spPr>
      </p:sp>
      <p:sp>
        <p:nvSpPr>
          <p:cNvPr id="18" name="Shape 15"/>
          <p:cNvSpPr/>
          <p:nvPr/>
        </p:nvSpPr>
        <p:spPr>
          <a:xfrm>
            <a:off x="9957816" y="3328416"/>
            <a:ext cx="201168" cy="201168"/>
          </a:xfrm>
          <a:prstGeom prst="ellipse">
            <a:avLst/>
          </a:prstGeom>
          <a:solidFill>
            <a:srgbClr val="F4F7FC"/>
          </a:solidFill>
          <a:ln/>
        </p:spPr>
      </p:sp>
      <p:sp>
        <p:nvSpPr>
          <p:cNvPr id="19" name="Text 16"/>
          <p:cNvSpPr/>
          <p:nvPr/>
        </p:nvSpPr>
        <p:spPr>
          <a:xfrm>
            <a:off x="6217920" y="4297680"/>
            <a:ext cx="5760720" cy="365760"/>
          </a:xfrm>
          <a:prstGeom prst="rect">
            <a:avLst/>
          </a:prstGeom>
          <a:noFill/>
          <a:ln/>
        </p:spPr>
        <p:txBody>
          <a:bodyPr wrap="square" lIns="0" tIns="0" rIns="0" bIns="0" rtlCol="0" anchor="t"/>
          <a:lstStyle/>
          <a:p>
            <a:pPr algn="ctr" indent="0" marL="0">
              <a:buNone/>
            </a:pPr>
            <a:r>
              <a:rPr lang="en-US" sz="1200" i="1" dirty="0">
                <a:solidFill>
                  <a:srgbClr val="3D4759"/>
                </a:solidFill>
                <a:latin typeface="Plus Jakarta Sans" pitchFamily="34" charset="0"/>
                <a:ea typeface="Plus Jakarta Sans" pitchFamily="34" charset="-122"/>
                <a:cs typeface="Plus Jakarta Sans" pitchFamily="34" charset="-120"/>
              </a:rPr>
              <a:t>+ more apps, one connector</a:t>
            </a:r>
            <a:endParaRPr lang="en-US" sz="1200" dirty="0"/>
          </a:p>
        </p:txBody>
      </p:sp>
      <p:sp>
        <p:nvSpPr>
          <p:cNvPr id="20" name="Shape 17"/>
          <p:cNvSpPr/>
          <p:nvPr/>
        </p:nvSpPr>
        <p:spPr>
          <a:xfrm>
            <a:off x="457200" y="6446520"/>
            <a:ext cx="11277295" cy="0"/>
          </a:xfrm>
          <a:prstGeom prst="line">
            <a:avLst/>
          </a:prstGeom>
          <a:noFill/>
          <a:ln w="9525">
            <a:solidFill>
              <a:srgbClr val="D5DDEA"/>
            </a:solidFill>
            <a:prstDash val="solid"/>
          </a:ln>
        </p:spPr>
      </p:sp>
      <p:sp>
        <p:nvSpPr>
          <p:cNvPr id="21" name="Text 18"/>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21 / 35</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APIS, MCP &amp; CONNECTORS</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THE PAYOFF</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0A1628"/>
                </a:solidFill>
                <a:latin typeface="Oswald" pitchFamily="34" charset="0"/>
                <a:ea typeface="Oswald" pitchFamily="34" charset="-122"/>
                <a:cs typeface="Oswald" pitchFamily="34" charset="-120"/>
              </a:rPr>
              <a:t>One Bridge, Every Tool</a:t>
            </a:r>
            <a:endParaRPr lang="en-US" sz="3400" dirty="0"/>
          </a:p>
        </p:txBody>
      </p:sp>
      <p:sp>
        <p:nvSpPr>
          <p:cNvPr id="5" name="Text 3"/>
          <p:cNvSpPr/>
          <p:nvPr/>
        </p:nvSpPr>
        <p:spPr>
          <a:xfrm>
            <a:off x="457200" y="1783080"/>
            <a:ext cx="11277295" cy="502920"/>
          </a:xfrm>
          <a:prstGeom prst="rect">
            <a:avLst/>
          </a:prstGeom>
          <a:noFill/>
          <a:ln/>
        </p:spPr>
        <p:txBody>
          <a:bodyPr wrap="square" rtlCol="0" anchor="t"/>
          <a:lstStyle/>
          <a:p>
            <a:pPr algn="l" indent="0" marL="0">
              <a:buNone/>
            </a:pPr>
            <a:r>
              <a:rPr lang="en-US" sz="1600" dirty="0">
                <a:solidFill>
                  <a:srgbClr val="3D4759"/>
                </a:solidFill>
                <a:latin typeface="Plus Jakarta Sans" pitchFamily="34" charset="0"/>
                <a:ea typeface="Plus Jakarta Sans" pitchFamily="34" charset="-122"/>
                <a:cs typeface="Plus Jakarta Sans" pitchFamily="34" charset="-120"/>
              </a:rPr>
              <a:t>You'll use this across every project you touch — imagine a single bridge, built once, that lets every one of these tools cross and reach each other.</a:t>
            </a:r>
            <a:endParaRPr lang="en-US" sz="1600" dirty="0"/>
          </a:p>
        </p:txBody>
      </p:sp>
      <p:sp>
        <p:nvSpPr>
          <p:cNvPr id="6" name="Shape 4"/>
          <p:cNvSpPr/>
          <p:nvPr/>
        </p:nvSpPr>
        <p:spPr>
          <a:xfrm>
            <a:off x="6080760" y="2926080"/>
            <a:ext cx="0" cy="1600200"/>
          </a:xfrm>
          <a:prstGeom prst="line">
            <a:avLst/>
          </a:prstGeom>
          <a:noFill/>
          <a:ln w="25400">
            <a:solidFill>
              <a:srgbClr val="D5DDEA"/>
            </a:solidFill>
            <a:prstDash val="solid"/>
          </a:ln>
        </p:spPr>
      </p:sp>
      <p:sp>
        <p:nvSpPr>
          <p:cNvPr id="7" name="Shape 5"/>
          <p:cNvSpPr/>
          <p:nvPr/>
        </p:nvSpPr>
        <p:spPr>
          <a:xfrm flipV="1">
            <a:off x="6080760" y="4032504"/>
            <a:ext cx="2606040" cy="493776"/>
          </a:xfrm>
          <a:prstGeom prst="line">
            <a:avLst/>
          </a:prstGeom>
          <a:noFill/>
          <a:ln w="25400">
            <a:solidFill>
              <a:srgbClr val="D5DDEA"/>
            </a:solidFill>
            <a:prstDash val="solid"/>
          </a:ln>
        </p:spPr>
      </p:sp>
      <p:sp>
        <p:nvSpPr>
          <p:cNvPr id="8" name="Shape 6"/>
          <p:cNvSpPr/>
          <p:nvPr/>
        </p:nvSpPr>
        <p:spPr>
          <a:xfrm>
            <a:off x="6080760" y="4526280"/>
            <a:ext cx="1609344" cy="1298448"/>
          </a:xfrm>
          <a:prstGeom prst="line">
            <a:avLst/>
          </a:prstGeom>
          <a:noFill/>
          <a:ln w="25400">
            <a:solidFill>
              <a:srgbClr val="D5DDEA"/>
            </a:solidFill>
            <a:prstDash val="solid"/>
          </a:ln>
        </p:spPr>
      </p:sp>
      <p:sp>
        <p:nvSpPr>
          <p:cNvPr id="9" name="Shape 7"/>
          <p:cNvSpPr/>
          <p:nvPr/>
        </p:nvSpPr>
        <p:spPr>
          <a:xfrm flipV="1">
            <a:off x="4471416" y="4526280"/>
            <a:ext cx="1609344" cy="1298448"/>
          </a:xfrm>
          <a:prstGeom prst="line">
            <a:avLst/>
          </a:prstGeom>
          <a:noFill/>
          <a:ln w="25400">
            <a:solidFill>
              <a:srgbClr val="D5DDEA"/>
            </a:solidFill>
            <a:prstDash val="solid"/>
          </a:ln>
        </p:spPr>
      </p:sp>
      <p:sp>
        <p:nvSpPr>
          <p:cNvPr id="10" name="Shape 8"/>
          <p:cNvSpPr/>
          <p:nvPr/>
        </p:nvSpPr>
        <p:spPr>
          <a:xfrm>
            <a:off x="3474720" y="4032504"/>
            <a:ext cx="2606040" cy="493776"/>
          </a:xfrm>
          <a:prstGeom prst="line">
            <a:avLst/>
          </a:prstGeom>
          <a:noFill/>
          <a:ln w="25400">
            <a:solidFill>
              <a:srgbClr val="D5DDEA"/>
            </a:solidFill>
            <a:prstDash val="solid"/>
          </a:ln>
        </p:spPr>
      </p:sp>
      <p:sp>
        <p:nvSpPr>
          <p:cNvPr id="11" name="Shape 9"/>
          <p:cNvSpPr/>
          <p:nvPr/>
        </p:nvSpPr>
        <p:spPr>
          <a:xfrm>
            <a:off x="5623560" y="2468880"/>
            <a:ext cx="914400" cy="914400"/>
          </a:xfrm>
          <a:prstGeom prst="ellipse">
            <a:avLst/>
          </a:prstGeom>
          <a:solidFill>
            <a:srgbClr val="3D4759"/>
          </a:solidFill>
          <a:ln/>
        </p:spPr>
      </p:sp>
      <p:sp>
        <p:nvSpPr>
          <p:cNvPr id="12" name="Text 10"/>
          <p:cNvSpPr/>
          <p:nvPr/>
        </p:nvSpPr>
        <p:spPr>
          <a:xfrm>
            <a:off x="5623560" y="2468880"/>
            <a:ext cx="914400" cy="914400"/>
          </a:xfrm>
          <a:prstGeom prst="rect">
            <a:avLst/>
          </a:prstGeom>
          <a:noFill/>
          <a:ln/>
        </p:spPr>
        <p:txBody>
          <a:bodyPr wrap="square" lIns="0" tIns="0" rIns="0" bIns="0" rtlCol="0" anchor="ctr"/>
          <a:lstStyle/>
          <a:p>
            <a:pPr algn="ctr" indent="0" marL="0">
              <a:buNone/>
            </a:pPr>
            <a:r>
              <a:rPr lang="en-US" sz="1300" dirty="0">
                <a:solidFill>
                  <a:srgbClr val="FFFFFF"/>
                </a:solidFill>
                <a:latin typeface="Plus Jakarta Sans" pitchFamily="34" charset="0"/>
                <a:ea typeface="Plus Jakarta Sans" pitchFamily="34" charset="-122"/>
                <a:cs typeface="Plus Jakarta Sans" pitchFamily="34" charset="-120"/>
              </a:rPr>
              <a:t>Email</a:t>
            </a:r>
            <a:endParaRPr lang="en-US" sz="1300" dirty="0"/>
          </a:p>
        </p:txBody>
      </p:sp>
      <p:sp>
        <p:nvSpPr>
          <p:cNvPr id="13" name="Shape 11"/>
          <p:cNvSpPr/>
          <p:nvPr/>
        </p:nvSpPr>
        <p:spPr>
          <a:xfrm>
            <a:off x="8229600" y="3575304"/>
            <a:ext cx="914400" cy="914400"/>
          </a:xfrm>
          <a:prstGeom prst="ellipse">
            <a:avLst/>
          </a:prstGeom>
          <a:solidFill>
            <a:srgbClr val="3D4759"/>
          </a:solidFill>
          <a:ln/>
        </p:spPr>
      </p:sp>
      <p:sp>
        <p:nvSpPr>
          <p:cNvPr id="14" name="Text 12"/>
          <p:cNvSpPr/>
          <p:nvPr/>
        </p:nvSpPr>
        <p:spPr>
          <a:xfrm>
            <a:off x="8229600" y="3575304"/>
            <a:ext cx="914400" cy="914400"/>
          </a:xfrm>
          <a:prstGeom prst="rect">
            <a:avLst/>
          </a:prstGeom>
          <a:noFill/>
          <a:ln/>
        </p:spPr>
        <p:txBody>
          <a:bodyPr wrap="square" lIns="0" tIns="0" rIns="0" bIns="0" rtlCol="0" anchor="ctr"/>
          <a:lstStyle/>
          <a:p>
            <a:pPr algn="ctr" indent="0" marL="0">
              <a:buNone/>
            </a:pPr>
            <a:r>
              <a:rPr lang="en-US" sz="1300" dirty="0">
                <a:solidFill>
                  <a:srgbClr val="FFFFFF"/>
                </a:solidFill>
                <a:latin typeface="Plus Jakarta Sans" pitchFamily="34" charset="0"/>
                <a:ea typeface="Plus Jakarta Sans" pitchFamily="34" charset="-122"/>
                <a:cs typeface="Plus Jakarta Sans" pitchFamily="34" charset="-120"/>
              </a:rPr>
              <a:t>Calendar</a:t>
            </a:r>
            <a:endParaRPr lang="en-US" sz="1300" dirty="0"/>
          </a:p>
        </p:txBody>
      </p:sp>
      <p:sp>
        <p:nvSpPr>
          <p:cNvPr id="15" name="Shape 13"/>
          <p:cNvSpPr/>
          <p:nvPr/>
        </p:nvSpPr>
        <p:spPr>
          <a:xfrm>
            <a:off x="7232904" y="5367528"/>
            <a:ext cx="914400" cy="914400"/>
          </a:xfrm>
          <a:prstGeom prst="ellipse">
            <a:avLst/>
          </a:prstGeom>
          <a:solidFill>
            <a:srgbClr val="3D4759"/>
          </a:solidFill>
          <a:ln/>
        </p:spPr>
      </p:sp>
      <p:sp>
        <p:nvSpPr>
          <p:cNvPr id="16" name="Text 14"/>
          <p:cNvSpPr/>
          <p:nvPr/>
        </p:nvSpPr>
        <p:spPr>
          <a:xfrm>
            <a:off x="7232904" y="5367528"/>
            <a:ext cx="914400" cy="914400"/>
          </a:xfrm>
          <a:prstGeom prst="rect">
            <a:avLst/>
          </a:prstGeom>
          <a:noFill/>
          <a:ln/>
        </p:spPr>
        <p:txBody>
          <a:bodyPr wrap="square" lIns="0" tIns="0" rIns="0" bIns="0" rtlCol="0" anchor="ctr"/>
          <a:lstStyle/>
          <a:p>
            <a:pPr algn="ctr" indent="0" marL="0">
              <a:buNone/>
            </a:pPr>
            <a:r>
              <a:rPr lang="en-US" sz="1300" dirty="0">
                <a:solidFill>
                  <a:srgbClr val="FFFFFF"/>
                </a:solidFill>
                <a:latin typeface="Plus Jakarta Sans" pitchFamily="34" charset="0"/>
                <a:ea typeface="Plus Jakarta Sans" pitchFamily="34" charset="-122"/>
                <a:cs typeface="Plus Jakarta Sans" pitchFamily="34" charset="-120"/>
              </a:rPr>
              <a:t>CRM</a:t>
            </a:r>
            <a:endParaRPr lang="en-US" sz="1300" dirty="0"/>
          </a:p>
        </p:txBody>
      </p:sp>
      <p:sp>
        <p:nvSpPr>
          <p:cNvPr id="17" name="Shape 15"/>
          <p:cNvSpPr/>
          <p:nvPr/>
        </p:nvSpPr>
        <p:spPr>
          <a:xfrm>
            <a:off x="4014216" y="5367528"/>
            <a:ext cx="914400" cy="914400"/>
          </a:xfrm>
          <a:prstGeom prst="ellipse">
            <a:avLst/>
          </a:prstGeom>
          <a:solidFill>
            <a:srgbClr val="3D4759"/>
          </a:solidFill>
          <a:ln/>
        </p:spPr>
      </p:sp>
      <p:sp>
        <p:nvSpPr>
          <p:cNvPr id="18" name="Text 16"/>
          <p:cNvSpPr/>
          <p:nvPr/>
        </p:nvSpPr>
        <p:spPr>
          <a:xfrm>
            <a:off x="4014216" y="5367528"/>
            <a:ext cx="914400" cy="914400"/>
          </a:xfrm>
          <a:prstGeom prst="rect">
            <a:avLst/>
          </a:prstGeom>
          <a:noFill/>
          <a:ln/>
        </p:spPr>
        <p:txBody>
          <a:bodyPr wrap="square" lIns="0" tIns="0" rIns="0" bIns="0" rtlCol="0" anchor="ctr"/>
          <a:lstStyle/>
          <a:p>
            <a:pPr algn="ctr" indent="0" marL="0">
              <a:buNone/>
            </a:pPr>
            <a:r>
              <a:rPr lang="en-US" sz="1300" dirty="0">
                <a:solidFill>
                  <a:srgbClr val="FFFFFF"/>
                </a:solidFill>
                <a:latin typeface="Plus Jakarta Sans" pitchFamily="34" charset="0"/>
                <a:ea typeface="Plus Jakarta Sans" pitchFamily="34" charset="-122"/>
                <a:cs typeface="Plus Jakarta Sans" pitchFamily="34" charset="-120"/>
              </a:rPr>
              <a:t>Chat</a:t>
            </a:r>
            <a:endParaRPr lang="en-US" sz="1300" dirty="0"/>
          </a:p>
        </p:txBody>
      </p:sp>
      <p:sp>
        <p:nvSpPr>
          <p:cNvPr id="19" name="Shape 17"/>
          <p:cNvSpPr/>
          <p:nvPr/>
        </p:nvSpPr>
        <p:spPr>
          <a:xfrm>
            <a:off x="3017520" y="3575304"/>
            <a:ext cx="914400" cy="914400"/>
          </a:xfrm>
          <a:prstGeom prst="ellipse">
            <a:avLst/>
          </a:prstGeom>
          <a:solidFill>
            <a:srgbClr val="3D4759"/>
          </a:solidFill>
          <a:ln/>
        </p:spPr>
      </p:sp>
      <p:sp>
        <p:nvSpPr>
          <p:cNvPr id="20" name="Text 18"/>
          <p:cNvSpPr/>
          <p:nvPr/>
        </p:nvSpPr>
        <p:spPr>
          <a:xfrm>
            <a:off x="3017520" y="3575304"/>
            <a:ext cx="914400" cy="914400"/>
          </a:xfrm>
          <a:prstGeom prst="rect">
            <a:avLst/>
          </a:prstGeom>
          <a:noFill/>
          <a:ln/>
        </p:spPr>
        <p:txBody>
          <a:bodyPr wrap="square" lIns="0" tIns="0" rIns="0" bIns="0" rtlCol="0" anchor="ctr"/>
          <a:lstStyle/>
          <a:p>
            <a:pPr algn="ctr" indent="0" marL="0">
              <a:buNone/>
            </a:pPr>
            <a:r>
              <a:rPr lang="en-US" sz="1300" dirty="0">
                <a:solidFill>
                  <a:srgbClr val="FFFFFF"/>
                </a:solidFill>
                <a:latin typeface="Plus Jakarta Sans" pitchFamily="34" charset="0"/>
                <a:ea typeface="Plus Jakarta Sans" pitchFamily="34" charset="-122"/>
                <a:cs typeface="Plus Jakarta Sans" pitchFamily="34" charset="-120"/>
              </a:rPr>
              <a:t>Docs</a:t>
            </a:r>
            <a:endParaRPr lang="en-US" sz="1300" dirty="0"/>
          </a:p>
        </p:txBody>
      </p:sp>
      <p:sp>
        <p:nvSpPr>
          <p:cNvPr id="21" name="Shape 19"/>
          <p:cNvSpPr/>
          <p:nvPr/>
        </p:nvSpPr>
        <p:spPr>
          <a:xfrm>
            <a:off x="5486400" y="3931920"/>
            <a:ext cx="1188720" cy="1188720"/>
          </a:xfrm>
          <a:prstGeom prst="ellipse">
            <a:avLst/>
          </a:prstGeom>
          <a:solidFill>
            <a:srgbClr val="0066FF"/>
          </a:solidFill>
          <a:ln/>
        </p:spPr>
      </p:sp>
      <p:pic>
        <p:nvPicPr>
          <p:cNvPr id="22" name="Image 0" descr="icons/sitemap-white.png">    </p:cNvPr>
          <p:cNvPicPr>
            <a:picLocks noChangeAspect="1"/>
          </p:cNvPicPr>
          <p:nvPr/>
        </p:nvPicPr>
        <p:blipFill>
          <a:blip r:embed="rId1"/>
          <a:stretch>
            <a:fillRect/>
          </a:stretch>
        </p:blipFill>
        <p:spPr>
          <a:xfrm>
            <a:off x="5824728" y="4270248"/>
            <a:ext cx="512064" cy="512064"/>
          </a:xfrm>
          <a:prstGeom prst="rect">
            <a:avLst/>
          </a:prstGeom>
        </p:spPr>
      </p:pic>
      <p:sp>
        <p:nvSpPr>
          <p:cNvPr id="23" name="Text 20"/>
          <p:cNvSpPr/>
          <p:nvPr/>
        </p:nvSpPr>
        <p:spPr>
          <a:xfrm>
            <a:off x="5166360" y="5212080"/>
            <a:ext cx="1828800" cy="274320"/>
          </a:xfrm>
          <a:prstGeom prst="rect">
            <a:avLst/>
          </a:prstGeom>
          <a:noFill/>
          <a:ln/>
        </p:spPr>
        <p:txBody>
          <a:bodyPr wrap="square" lIns="0" tIns="0" rIns="0" bIns="0" rtlCol="0" anchor="t"/>
          <a:lstStyle/>
          <a:p>
            <a:pPr algn="ctr" indent="0" marL="0">
              <a:buNone/>
            </a:pPr>
            <a:r>
              <a:rPr lang="en-US" sz="1100" b="1" spc="100" kern="0" dirty="0">
                <a:solidFill>
                  <a:srgbClr val="0066FF"/>
                </a:solidFill>
                <a:latin typeface="Oswald" pitchFamily="34" charset="0"/>
                <a:ea typeface="Oswald" pitchFamily="34" charset="-122"/>
                <a:cs typeface="Oswald" pitchFamily="34" charset="-120"/>
              </a:rPr>
              <a:t>THE BRIDGE</a:t>
            </a:r>
            <a:endParaRPr lang="en-US" sz="1100" dirty="0"/>
          </a:p>
        </p:txBody>
      </p:sp>
      <p:sp>
        <p:nvSpPr>
          <p:cNvPr id="24" name="Shape 21"/>
          <p:cNvSpPr/>
          <p:nvPr/>
        </p:nvSpPr>
        <p:spPr>
          <a:xfrm>
            <a:off x="457200" y="6446520"/>
            <a:ext cx="11277295" cy="0"/>
          </a:xfrm>
          <a:prstGeom prst="line">
            <a:avLst/>
          </a:prstGeom>
          <a:noFill/>
          <a:ln w="9525">
            <a:solidFill>
              <a:srgbClr val="D5DDEA"/>
            </a:solidFill>
            <a:prstDash val="solid"/>
          </a:ln>
        </p:spPr>
      </p:sp>
      <p:sp>
        <p:nvSpPr>
          <p:cNvPr id="25" name="Text 22"/>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22 / 35</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066FF"/>
          </a:solidFill>
          <a:ln/>
        </p:spPr>
      </p:sp>
      <p:sp>
        <p:nvSpPr>
          <p:cNvPr id="3" name="Shape 1"/>
          <p:cNvSpPr/>
          <p:nvPr/>
        </p:nvSpPr>
        <p:spPr>
          <a:xfrm>
            <a:off x="7863840" y="457200"/>
            <a:ext cx="3840480" cy="3840480"/>
          </a:xfrm>
          <a:prstGeom prst="ellipse">
            <a:avLst/>
          </a:prstGeom>
          <a:ln w="19050">
            <a:solidFill>
              <a:srgbClr val="3D4759">
                <a:alpha val="70000"/>
              </a:srgbClr>
            </a:solidFill>
            <a:prstDash val="solid"/>
          </a:ln>
        </p:spPr>
      </p:sp>
      <p:sp>
        <p:nvSpPr>
          <p:cNvPr id="4" name="Shape 2"/>
          <p:cNvSpPr/>
          <p:nvPr/>
        </p:nvSpPr>
        <p:spPr>
          <a:xfrm>
            <a:off x="8961120" y="1554480"/>
            <a:ext cx="1737360" cy="1737360"/>
          </a:xfrm>
          <a:prstGeom prst="ellipse">
            <a:avLst/>
          </a:prstGeom>
          <a:solidFill>
            <a:srgbClr val="0066FF">
              <a:alpha val="16000"/>
            </a:srgbClr>
          </a:solidFill>
          <a:ln/>
        </p:spPr>
      </p:sp>
      <p:sp>
        <p:nvSpPr>
          <p:cNvPr id="5" name="Text 3"/>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TRANSITION</a:t>
            </a:r>
            <a:endParaRPr lang="en-US" sz="1400" dirty="0"/>
          </a:p>
        </p:txBody>
      </p:sp>
      <p:sp>
        <p:nvSpPr>
          <p:cNvPr id="6" name="Text 4"/>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AEBACD"/>
                </a:solidFill>
                <a:latin typeface="Plus Jakarta Sans" pitchFamily="34" charset="0"/>
                <a:ea typeface="Plus Jakarta Sans" pitchFamily="34" charset="-122"/>
                <a:cs typeface="Plus Jakarta Sans" pitchFamily="34" charset="-120"/>
              </a:rPr>
              <a:t>WHAT ARE AI AGENTS</a:t>
            </a:r>
            <a:endParaRPr lang="en-US" sz="1200" dirty="0"/>
          </a:p>
        </p:txBody>
      </p:sp>
      <p:sp>
        <p:nvSpPr>
          <p:cNvPr id="7" name="Text 5"/>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000" b="1" dirty="0">
                <a:solidFill>
                  <a:srgbClr val="FFFFFF"/>
                </a:solidFill>
                <a:latin typeface="Oswald" pitchFamily="34" charset="0"/>
                <a:ea typeface="Oswald" pitchFamily="34" charset="-122"/>
                <a:cs typeface="Oswald" pitchFamily="34" charset="-120"/>
              </a:rPr>
              <a:t>What Are AI Agents?</a:t>
            </a:r>
            <a:endParaRPr lang="en-US" sz="3000" dirty="0"/>
          </a:p>
        </p:txBody>
      </p:sp>
      <p:sp>
        <p:nvSpPr>
          <p:cNvPr id="8" name="Text 6"/>
          <p:cNvSpPr/>
          <p:nvPr/>
        </p:nvSpPr>
        <p:spPr>
          <a:xfrm>
            <a:off x="685800" y="1920240"/>
            <a:ext cx="5486400" cy="2743200"/>
          </a:xfrm>
          <a:prstGeom prst="rect">
            <a:avLst/>
          </a:prstGeom>
          <a:noFill/>
          <a:ln/>
        </p:spPr>
        <p:txBody>
          <a:bodyPr wrap="square" lIns="0" tIns="0" rIns="0" bIns="0" rtlCol="0" anchor="ctr"/>
          <a:lstStyle/>
          <a:p>
            <a:pPr algn="l" indent="0" marL="0">
              <a:buNone/>
            </a:pPr>
            <a:r>
              <a:rPr lang="en-US" sz="21000" b="1" dirty="0">
                <a:solidFill>
                  <a:srgbClr val="0066FF"/>
                </a:solidFill>
                <a:latin typeface="Oswald" pitchFamily="34" charset="0"/>
                <a:ea typeface="Oswald" pitchFamily="34" charset="-122"/>
                <a:cs typeface="Oswald" pitchFamily="34" charset="-120"/>
              </a:rPr>
              <a:t>04</a:t>
            </a:r>
            <a:endParaRPr lang="en-US" sz="21000" dirty="0"/>
          </a:p>
        </p:txBody>
      </p:sp>
      <p:sp>
        <p:nvSpPr>
          <p:cNvPr id="9" name="Text 7"/>
          <p:cNvSpPr/>
          <p:nvPr/>
        </p:nvSpPr>
        <p:spPr>
          <a:xfrm>
            <a:off x="731520" y="5074920"/>
            <a:ext cx="7863840" cy="548640"/>
          </a:xfrm>
          <a:prstGeom prst="rect">
            <a:avLst/>
          </a:prstGeom>
          <a:noFill/>
          <a:ln/>
        </p:spPr>
        <p:txBody>
          <a:bodyPr wrap="square" rtlCol="0" anchor="t"/>
          <a:lstStyle/>
          <a:p>
            <a:pPr algn="l" indent="0" marL="0">
              <a:buNone/>
            </a:pPr>
            <a:r>
              <a:rPr lang="en-US" sz="1800" dirty="0">
                <a:solidFill>
                  <a:srgbClr val="AEBACD"/>
                </a:solidFill>
                <a:latin typeface="Plus Jakarta Sans" pitchFamily="34" charset="0"/>
                <a:ea typeface="Plus Jakarta Sans" pitchFamily="34" charset="-122"/>
                <a:cs typeface="Plus Jakarta Sans" pitchFamily="34" charset="-120"/>
              </a:rPr>
              <a:t>Now for the fun part — and the platform we'll build in tonight: Claude.</a:t>
            </a:r>
            <a:endParaRPr lang="en-US" sz="1800" dirty="0"/>
          </a:p>
        </p:txBody>
      </p:sp>
      <p:sp>
        <p:nvSpPr>
          <p:cNvPr id="10" name="Shape 8"/>
          <p:cNvSpPr/>
          <p:nvPr/>
        </p:nvSpPr>
        <p:spPr>
          <a:xfrm>
            <a:off x="457200" y="6446520"/>
            <a:ext cx="11277295" cy="0"/>
          </a:xfrm>
          <a:prstGeom prst="line">
            <a:avLst/>
          </a:prstGeom>
          <a:noFill/>
          <a:ln w="9525">
            <a:solidFill>
              <a:srgbClr val="3D4759"/>
            </a:solidFill>
            <a:prstDash val="solid"/>
          </a:ln>
        </p:spPr>
      </p:sp>
      <p:sp>
        <p:nvSpPr>
          <p:cNvPr id="11" name="Text 9"/>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AEBACD"/>
                </a:solidFill>
                <a:latin typeface="Plus Jakarta Sans" pitchFamily="34" charset="0"/>
                <a:ea typeface="Plus Jakarta Sans" pitchFamily="34" charset="-122"/>
                <a:cs typeface="Plus Jakarta Sans" pitchFamily="34" charset="-120"/>
              </a:rPr>
              <a:t>23 / 35</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WHAT ARE AI AGENTS</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DEFINITION</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0A1628"/>
                </a:solidFill>
                <a:latin typeface="Oswald" pitchFamily="34" charset="0"/>
                <a:ea typeface="Oswald" pitchFamily="34" charset="-122"/>
                <a:cs typeface="Oswald" pitchFamily="34" charset="-120"/>
              </a:rPr>
              <a:t>What Exactly Is an AI Agent?</a:t>
            </a:r>
            <a:endParaRPr lang="en-US" sz="3400" dirty="0"/>
          </a:p>
        </p:txBody>
      </p:sp>
      <p:sp>
        <p:nvSpPr>
          <p:cNvPr id="5" name="Shape 3"/>
          <p:cNvSpPr/>
          <p:nvPr/>
        </p:nvSpPr>
        <p:spPr>
          <a:xfrm>
            <a:off x="457200" y="1965960"/>
            <a:ext cx="91440" cy="1965960"/>
          </a:xfrm>
          <a:prstGeom prst="rect">
            <a:avLst/>
          </a:prstGeom>
          <a:solidFill>
            <a:srgbClr val="0066FF"/>
          </a:solidFill>
          <a:ln/>
        </p:spPr>
      </p:sp>
      <p:sp>
        <p:nvSpPr>
          <p:cNvPr id="6" name="Text 4"/>
          <p:cNvSpPr/>
          <p:nvPr/>
        </p:nvSpPr>
        <p:spPr>
          <a:xfrm>
            <a:off x="822960" y="1965960"/>
            <a:ext cx="7315200" cy="1965960"/>
          </a:xfrm>
          <a:prstGeom prst="rect">
            <a:avLst/>
          </a:prstGeom>
          <a:noFill/>
          <a:ln/>
        </p:spPr>
        <p:txBody>
          <a:bodyPr wrap="square" rtlCol="0" anchor="t"/>
          <a:lstStyle/>
          <a:p>
            <a:pPr algn="l" indent="0" marL="0">
              <a:lnSpc>
                <a:spcPct val="125000"/>
              </a:lnSpc>
              <a:buNone/>
            </a:pPr>
            <a:r>
              <a:rPr lang="en-US" sz="2500" i="1" dirty="0">
                <a:solidFill>
                  <a:srgbClr val="0A1628"/>
                </a:solidFill>
                <a:latin typeface="Plus Jakarta Sans" pitchFamily="34" charset="0"/>
                <a:ea typeface="Plus Jakarta Sans" pitchFamily="34" charset="-122"/>
                <a:cs typeface="Plus Jakarta Sans" pitchFamily="34" charset="-120"/>
              </a:rPr>
              <a:t>A software system that uses AI to pursue a goal — perceiving information, reasoning about next steps, and taking action through tools, often in an iterative feedback loop.</a:t>
            </a:r>
            <a:endParaRPr lang="en-US" sz="2500" dirty="0"/>
          </a:p>
        </p:txBody>
      </p:sp>
      <p:pic>
        <p:nvPicPr>
          <p:cNvPr id="7" name="Image 0" descr="icons/bullseye-blue.png">    </p:cNvPr>
          <p:cNvPicPr>
            <a:picLocks noChangeAspect="1"/>
          </p:cNvPicPr>
          <p:nvPr/>
        </p:nvPicPr>
        <p:blipFill>
          <a:blip r:embed="rId1"/>
          <a:stretch>
            <a:fillRect/>
          </a:stretch>
        </p:blipFill>
        <p:spPr>
          <a:xfrm>
            <a:off x="9692640" y="2057400"/>
            <a:ext cx="1554480" cy="1554480"/>
          </a:xfrm>
          <a:prstGeom prst="rect">
            <a:avLst/>
          </a:prstGeom>
        </p:spPr>
      </p:pic>
      <p:sp>
        <p:nvSpPr>
          <p:cNvPr id="8" name="Text 5"/>
          <p:cNvSpPr/>
          <p:nvPr/>
        </p:nvSpPr>
        <p:spPr>
          <a:xfrm>
            <a:off x="822960" y="4343400"/>
            <a:ext cx="5486400" cy="274320"/>
          </a:xfrm>
          <a:prstGeom prst="rect">
            <a:avLst/>
          </a:prstGeom>
          <a:noFill/>
          <a:ln/>
        </p:spPr>
        <p:txBody>
          <a:bodyPr wrap="square" lIns="0" tIns="0" rIns="0" bIns="0" rtlCol="0" anchor="ctr"/>
          <a:lstStyle/>
          <a:p>
            <a:pPr algn="l" indent="0" marL="0">
              <a:buNone/>
            </a:pPr>
            <a:r>
              <a:rPr lang="en-US" sz="1200" b="1" spc="200" kern="0" dirty="0">
                <a:solidFill>
                  <a:srgbClr val="3D4759"/>
                </a:solidFill>
                <a:latin typeface="Oswald" pitchFamily="34" charset="0"/>
                <a:ea typeface="Oswald" pitchFamily="34" charset="-122"/>
                <a:cs typeface="Oswald" pitchFamily="34" charset="-120"/>
              </a:rPr>
              <a:t>THE FEEDBACK LOOP</a:t>
            </a:r>
            <a:endParaRPr lang="en-US" sz="1200" dirty="0"/>
          </a:p>
        </p:txBody>
      </p:sp>
      <p:sp>
        <p:nvSpPr>
          <p:cNvPr id="9" name="Shape 6"/>
          <p:cNvSpPr/>
          <p:nvPr/>
        </p:nvSpPr>
        <p:spPr>
          <a:xfrm>
            <a:off x="822960" y="4709160"/>
            <a:ext cx="1508760" cy="502920"/>
          </a:xfrm>
          <a:prstGeom prst="roundRect">
            <a:avLst>
              <a:gd name="adj" fmla="val 50000"/>
            </a:avLst>
          </a:prstGeom>
          <a:solidFill>
            <a:srgbClr val="0066FF">
              <a:alpha val="12000"/>
            </a:srgbClr>
          </a:solidFill>
          <a:ln w="12700">
            <a:solidFill>
              <a:srgbClr val="0066FF">
                <a:alpha val="40000"/>
              </a:srgbClr>
            </a:solidFill>
            <a:prstDash val="solid"/>
          </a:ln>
        </p:spPr>
      </p:sp>
      <p:sp>
        <p:nvSpPr>
          <p:cNvPr id="10" name="Text 7"/>
          <p:cNvSpPr/>
          <p:nvPr/>
        </p:nvSpPr>
        <p:spPr>
          <a:xfrm>
            <a:off x="822960" y="4709160"/>
            <a:ext cx="1508760" cy="502920"/>
          </a:xfrm>
          <a:prstGeom prst="rect">
            <a:avLst/>
          </a:prstGeom>
          <a:noFill/>
          <a:ln/>
        </p:spPr>
        <p:txBody>
          <a:bodyPr wrap="square" lIns="0" tIns="0" rIns="0" bIns="0" rtlCol="0" anchor="ctr"/>
          <a:lstStyle/>
          <a:p>
            <a:pPr algn="ctr" indent="0" marL="0">
              <a:buNone/>
            </a:pPr>
            <a:r>
              <a:rPr lang="en-US" sz="1300" b="1" spc="100" kern="0" dirty="0">
                <a:solidFill>
                  <a:srgbClr val="0066FF"/>
                </a:solidFill>
                <a:latin typeface="Oswald" pitchFamily="34" charset="0"/>
                <a:ea typeface="Oswald" pitchFamily="34" charset="-122"/>
                <a:cs typeface="Oswald" pitchFamily="34" charset="-120"/>
              </a:rPr>
              <a:t>PERCEIVE</a:t>
            </a:r>
            <a:endParaRPr lang="en-US" sz="1300" dirty="0"/>
          </a:p>
        </p:txBody>
      </p:sp>
      <p:pic>
        <p:nvPicPr>
          <p:cNvPr id="11" name="Image 1" descr="icons/arrowRight-blue.png">    </p:cNvPr>
          <p:cNvPicPr>
            <a:picLocks noChangeAspect="1"/>
          </p:cNvPicPr>
          <p:nvPr/>
        </p:nvPicPr>
        <p:blipFill>
          <a:blip r:embed="rId2"/>
          <a:stretch>
            <a:fillRect/>
          </a:stretch>
        </p:blipFill>
        <p:spPr>
          <a:xfrm>
            <a:off x="2487168" y="4814316"/>
            <a:ext cx="292608" cy="292608"/>
          </a:xfrm>
          <a:prstGeom prst="rect">
            <a:avLst/>
          </a:prstGeom>
        </p:spPr>
      </p:pic>
      <p:sp>
        <p:nvSpPr>
          <p:cNvPr id="12" name="Shape 8"/>
          <p:cNvSpPr/>
          <p:nvPr/>
        </p:nvSpPr>
        <p:spPr>
          <a:xfrm>
            <a:off x="2935224" y="4709160"/>
            <a:ext cx="1508760" cy="502920"/>
          </a:xfrm>
          <a:prstGeom prst="roundRect">
            <a:avLst>
              <a:gd name="adj" fmla="val 50000"/>
            </a:avLst>
          </a:prstGeom>
          <a:solidFill>
            <a:srgbClr val="0066FF">
              <a:alpha val="12000"/>
            </a:srgbClr>
          </a:solidFill>
          <a:ln w="12700">
            <a:solidFill>
              <a:srgbClr val="0066FF">
                <a:alpha val="40000"/>
              </a:srgbClr>
            </a:solidFill>
            <a:prstDash val="solid"/>
          </a:ln>
        </p:spPr>
      </p:sp>
      <p:sp>
        <p:nvSpPr>
          <p:cNvPr id="13" name="Text 9"/>
          <p:cNvSpPr/>
          <p:nvPr/>
        </p:nvSpPr>
        <p:spPr>
          <a:xfrm>
            <a:off x="2935224" y="4709160"/>
            <a:ext cx="1508760" cy="502920"/>
          </a:xfrm>
          <a:prstGeom prst="rect">
            <a:avLst/>
          </a:prstGeom>
          <a:noFill/>
          <a:ln/>
        </p:spPr>
        <p:txBody>
          <a:bodyPr wrap="square" lIns="0" tIns="0" rIns="0" bIns="0" rtlCol="0" anchor="ctr"/>
          <a:lstStyle/>
          <a:p>
            <a:pPr algn="ctr" indent="0" marL="0">
              <a:buNone/>
            </a:pPr>
            <a:r>
              <a:rPr lang="en-US" sz="1300" b="1" spc="100" kern="0" dirty="0">
                <a:solidFill>
                  <a:srgbClr val="0066FF"/>
                </a:solidFill>
                <a:latin typeface="Oswald" pitchFamily="34" charset="0"/>
                <a:ea typeface="Oswald" pitchFamily="34" charset="-122"/>
                <a:cs typeface="Oswald" pitchFamily="34" charset="-120"/>
              </a:rPr>
              <a:t>REASON</a:t>
            </a:r>
            <a:endParaRPr lang="en-US" sz="1300" dirty="0"/>
          </a:p>
        </p:txBody>
      </p:sp>
      <p:pic>
        <p:nvPicPr>
          <p:cNvPr id="14" name="Image 2" descr="icons/arrowRight-blue.png">    </p:cNvPr>
          <p:cNvPicPr>
            <a:picLocks noChangeAspect="1"/>
          </p:cNvPicPr>
          <p:nvPr/>
        </p:nvPicPr>
        <p:blipFill>
          <a:blip r:embed="rId3"/>
          <a:stretch>
            <a:fillRect/>
          </a:stretch>
        </p:blipFill>
        <p:spPr>
          <a:xfrm>
            <a:off x="4599432" y="4814316"/>
            <a:ext cx="292608" cy="292608"/>
          </a:xfrm>
          <a:prstGeom prst="rect">
            <a:avLst/>
          </a:prstGeom>
        </p:spPr>
      </p:pic>
      <p:sp>
        <p:nvSpPr>
          <p:cNvPr id="15" name="Shape 10"/>
          <p:cNvSpPr/>
          <p:nvPr/>
        </p:nvSpPr>
        <p:spPr>
          <a:xfrm>
            <a:off x="5047488" y="4709160"/>
            <a:ext cx="1508760" cy="502920"/>
          </a:xfrm>
          <a:prstGeom prst="roundRect">
            <a:avLst>
              <a:gd name="adj" fmla="val 50000"/>
            </a:avLst>
          </a:prstGeom>
          <a:solidFill>
            <a:srgbClr val="0066FF">
              <a:alpha val="12000"/>
            </a:srgbClr>
          </a:solidFill>
          <a:ln w="12700">
            <a:solidFill>
              <a:srgbClr val="0066FF">
                <a:alpha val="40000"/>
              </a:srgbClr>
            </a:solidFill>
            <a:prstDash val="solid"/>
          </a:ln>
        </p:spPr>
      </p:sp>
      <p:sp>
        <p:nvSpPr>
          <p:cNvPr id="16" name="Text 11"/>
          <p:cNvSpPr/>
          <p:nvPr/>
        </p:nvSpPr>
        <p:spPr>
          <a:xfrm>
            <a:off x="5047488" y="4709160"/>
            <a:ext cx="1508760" cy="502920"/>
          </a:xfrm>
          <a:prstGeom prst="rect">
            <a:avLst/>
          </a:prstGeom>
          <a:noFill/>
          <a:ln/>
        </p:spPr>
        <p:txBody>
          <a:bodyPr wrap="square" lIns="0" tIns="0" rIns="0" bIns="0" rtlCol="0" anchor="ctr"/>
          <a:lstStyle/>
          <a:p>
            <a:pPr algn="ctr" indent="0" marL="0">
              <a:buNone/>
            </a:pPr>
            <a:r>
              <a:rPr lang="en-US" sz="1300" b="1" spc="100" kern="0" dirty="0">
                <a:solidFill>
                  <a:srgbClr val="0066FF"/>
                </a:solidFill>
                <a:latin typeface="Oswald" pitchFamily="34" charset="0"/>
                <a:ea typeface="Oswald" pitchFamily="34" charset="-122"/>
                <a:cs typeface="Oswald" pitchFamily="34" charset="-120"/>
              </a:rPr>
              <a:t>ACT</a:t>
            </a:r>
            <a:endParaRPr lang="en-US" sz="1300" dirty="0"/>
          </a:p>
        </p:txBody>
      </p:sp>
      <p:pic>
        <p:nvPicPr>
          <p:cNvPr id="17" name="Image 3" descr="icons/arrowRight-blue.png">    </p:cNvPr>
          <p:cNvPicPr>
            <a:picLocks noChangeAspect="1"/>
          </p:cNvPicPr>
          <p:nvPr/>
        </p:nvPicPr>
        <p:blipFill>
          <a:blip r:embed="rId4"/>
          <a:stretch>
            <a:fillRect/>
          </a:stretch>
        </p:blipFill>
        <p:spPr>
          <a:xfrm>
            <a:off x="6711696" y="4814316"/>
            <a:ext cx="292608" cy="292608"/>
          </a:xfrm>
          <a:prstGeom prst="rect">
            <a:avLst/>
          </a:prstGeom>
        </p:spPr>
      </p:pic>
      <p:sp>
        <p:nvSpPr>
          <p:cNvPr id="18" name="Shape 12"/>
          <p:cNvSpPr/>
          <p:nvPr/>
        </p:nvSpPr>
        <p:spPr>
          <a:xfrm>
            <a:off x="7159752" y="4709160"/>
            <a:ext cx="1508760" cy="502920"/>
          </a:xfrm>
          <a:prstGeom prst="roundRect">
            <a:avLst>
              <a:gd name="adj" fmla="val 50000"/>
            </a:avLst>
          </a:prstGeom>
          <a:solidFill>
            <a:srgbClr val="0066FF">
              <a:alpha val="12000"/>
            </a:srgbClr>
          </a:solidFill>
          <a:ln w="12700">
            <a:solidFill>
              <a:srgbClr val="0066FF">
                <a:alpha val="40000"/>
              </a:srgbClr>
            </a:solidFill>
            <a:prstDash val="solid"/>
          </a:ln>
        </p:spPr>
      </p:sp>
      <p:sp>
        <p:nvSpPr>
          <p:cNvPr id="19" name="Text 13"/>
          <p:cNvSpPr/>
          <p:nvPr/>
        </p:nvSpPr>
        <p:spPr>
          <a:xfrm>
            <a:off x="7159752" y="4709160"/>
            <a:ext cx="1508760" cy="502920"/>
          </a:xfrm>
          <a:prstGeom prst="rect">
            <a:avLst/>
          </a:prstGeom>
          <a:noFill/>
          <a:ln/>
        </p:spPr>
        <p:txBody>
          <a:bodyPr wrap="square" lIns="0" tIns="0" rIns="0" bIns="0" rtlCol="0" anchor="ctr"/>
          <a:lstStyle/>
          <a:p>
            <a:pPr algn="ctr" indent="0" marL="0">
              <a:buNone/>
            </a:pPr>
            <a:r>
              <a:rPr lang="en-US" sz="1300" b="1" spc="100" kern="0" dirty="0">
                <a:solidFill>
                  <a:srgbClr val="0066FF"/>
                </a:solidFill>
                <a:latin typeface="Oswald" pitchFamily="34" charset="0"/>
                <a:ea typeface="Oswald" pitchFamily="34" charset="-122"/>
                <a:cs typeface="Oswald" pitchFamily="34" charset="-120"/>
              </a:rPr>
              <a:t>REPEAT</a:t>
            </a:r>
            <a:endParaRPr lang="en-US" sz="1300" dirty="0"/>
          </a:p>
        </p:txBody>
      </p:sp>
      <p:sp>
        <p:nvSpPr>
          <p:cNvPr id="20" name="Shape 14"/>
          <p:cNvSpPr/>
          <p:nvPr/>
        </p:nvSpPr>
        <p:spPr>
          <a:xfrm>
            <a:off x="457200" y="6446520"/>
            <a:ext cx="11277295" cy="0"/>
          </a:xfrm>
          <a:prstGeom prst="line">
            <a:avLst/>
          </a:prstGeom>
          <a:noFill/>
          <a:ln w="9525">
            <a:solidFill>
              <a:srgbClr val="D5DDEA"/>
            </a:solidFill>
            <a:prstDash val="solid"/>
          </a:ln>
        </p:spPr>
      </p:sp>
      <p:sp>
        <p:nvSpPr>
          <p:cNvPr id="21" name="Text 15"/>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24 / 35</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WHAT ARE AI AGENTS</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THE MANUAL</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0A1628"/>
                </a:solidFill>
                <a:latin typeface="Oswald" pitchFamily="34" charset="0"/>
                <a:ea typeface="Oswald" pitchFamily="34" charset="-122"/>
                <a:cs typeface="Oswald" pitchFamily="34" charset="-120"/>
              </a:rPr>
              <a:t>Every Agent Needs a Manual</a:t>
            </a:r>
            <a:endParaRPr lang="en-US" sz="3400" dirty="0"/>
          </a:p>
        </p:txBody>
      </p:sp>
      <p:sp>
        <p:nvSpPr>
          <p:cNvPr id="5" name="Text 3"/>
          <p:cNvSpPr/>
          <p:nvPr/>
        </p:nvSpPr>
        <p:spPr>
          <a:xfrm>
            <a:off x="457200" y="1783080"/>
            <a:ext cx="11277295" cy="502920"/>
          </a:xfrm>
          <a:prstGeom prst="rect">
            <a:avLst/>
          </a:prstGeom>
          <a:noFill/>
          <a:ln/>
        </p:spPr>
        <p:txBody>
          <a:bodyPr wrap="square" rtlCol="0" anchor="t"/>
          <a:lstStyle/>
          <a:p>
            <a:pPr algn="l" indent="0" marL="0">
              <a:buNone/>
            </a:pPr>
            <a:r>
              <a:rPr lang="en-US" sz="1600" dirty="0">
                <a:solidFill>
                  <a:srgbClr val="3D4759"/>
                </a:solidFill>
                <a:latin typeface="Plus Jakarta Sans" pitchFamily="34" charset="0"/>
                <a:ea typeface="Plus Jakarta Sans" pitchFamily="34" charset="-122"/>
                <a:cs typeface="Plus Jakarta Sans" pitchFamily="34" charset="-120"/>
              </a:rPr>
              <a:t>Think of any agent you build as carrying its own manual — two files that tell it what it can do and how it should behave.</a:t>
            </a:r>
            <a:endParaRPr lang="en-US" sz="1600" dirty="0"/>
          </a:p>
        </p:txBody>
      </p:sp>
      <p:sp>
        <p:nvSpPr>
          <p:cNvPr id="6" name="Shape 4"/>
          <p:cNvSpPr/>
          <p:nvPr/>
        </p:nvSpPr>
        <p:spPr>
          <a:xfrm>
            <a:off x="457200" y="2331720"/>
            <a:ext cx="5349240" cy="3977640"/>
          </a:xfrm>
          <a:prstGeom prst="roundRect">
            <a:avLst>
              <a:gd name="adj" fmla="val 2299"/>
            </a:avLst>
          </a:prstGeom>
          <a:solidFill>
            <a:srgbClr val="0A1628"/>
          </a:solidFill>
          <a:ln/>
        </p:spPr>
      </p:sp>
      <p:sp>
        <p:nvSpPr>
          <p:cNvPr id="7" name="Shape 5"/>
          <p:cNvSpPr/>
          <p:nvPr/>
        </p:nvSpPr>
        <p:spPr>
          <a:xfrm>
            <a:off x="868680" y="2743200"/>
            <a:ext cx="731520" cy="731520"/>
          </a:xfrm>
          <a:prstGeom prst="ellipse">
            <a:avLst/>
          </a:prstGeom>
          <a:solidFill>
            <a:srgbClr val="0066FF"/>
          </a:solidFill>
          <a:ln/>
        </p:spPr>
      </p:sp>
      <p:pic>
        <p:nvPicPr>
          <p:cNvPr id="8" name="Image 0" descr="icons/toolbox-white.png">    </p:cNvPr>
          <p:cNvPicPr>
            <a:picLocks noChangeAspect="1"/>
          </p:cNvPicPr>
          <p:nvPr/>
        </p:nvPicPr>
        <p:blipFill>
          <a:blip r:embed="rId1"/>
          <a:stretch>
            <a:fillRect/>
          </a:stretch>
        </p:blipFill>
        <p:spPr>
          <a:xfrm>
            <a:off x="1051560" y="2926080"/>
            <a:ext cx="365760" cy="365760"/>
          </a:xfrm>
          <a:prstGeom prst="rect">
            <a:avLst/>
          </a:prstGeom>
        </p:spPr>
      </p:pic>
      <p:sp>
        <p:nvSpPr>
          <p:cNvPr id="9" name="Text 6"/>
          <p:cNvSpPr/>
          <p:nvPr/>
        </p:nvSpPr>
        <p:spPr>
          <a:xfrm>
            <a:off x="1783080" y="2743200"/>
            <a:ext cx="3703320" cy="731520"/>
          </a:xfrm>
          <a:prstGeom prst="rect">
            <a:avLst/>
          </a:prstGeom>
          <a:noFill/>
          <a:ln/>
        </p:spPr>
        <p:txBody>
          <a:bodyPr wrap="square" rtlCol="0" anchor="ctr"/>
          <a:lstStyle/>
          <a:p>
            <a:pPr algn="l" indent="0" marL="0">
              <a:buNone/>
            </a:pPr>
            <a:r>
              <a:rPr lang="en-US" sz="2400" b="1" dirty="0">
                <a:solidFill>
                  <a:srgbClr val="FFFFFF"/>
                </a:solidFill>
                <a:latin typeface="Oswald" pitchFamily="34" charset="0"/>
                <a:ea typeface="Oswald" pitchFamily="34" charset="-122"/>
                <a:cs typeface="Oswald" pitchFamily="34" charset="-120"/>
              </a:rPr>
              <a:t>SKILL.md</a:t>
            </a:r>
            <a:endParaRPr lang="en-US" sz="2400" dirty="0"/>
          </a:p>
        </p:txBody>
      </p:sp>
      <p:sp>
        <p:nvSpPr>
          <p:cNvPr id="10" name="Text 7"/>
          <p:cNvSpPr/>
          <p:nvPr/>
        </p:nvSpPr>
        <p:spPr>
          <a:xfrm>
            <a:off x="868680" y="3749040"/>
            <a:ext cx="4526280" cy="2286000"/>
          </a:xfrm>
          <a:prstGeom prst="rect">
            <a:avLst/>
          </a:prstGeom>
          <a:noFill/>
          <a:ln/>
        </p:spPr>
        <p:txBody>
          <a:bodyPr wrap="square" rtlCol="0" anchor="t"/>
          <a:lstStyle/>
          <a:p>
            <a:pPr algn="l" indent="0" marL="0">
              <a:lnSpc>
                <a:spcPct val="130000"/>
              </a:lnSpc>
              <a:buNone/>
            </a:pPr>
            <a:r>
              <a:rPr lang="en-US" sz="1600" dirty="0">
                <a:solidFill>
                  <a:srgbClr val="AEBACD"/>
                </a:solidFill>
                <a:latin typeface="Plus Jakarta Sans" pitchFamily="34" charset="0"/>
                <a:ea typeface="Plus Jakarta Sans" pitchFamily="34" charset="-122"/>
                <a:cs typeface="Plus Jakarta Sans" pitchFamily="34" charset="-120"/>
              </a:rPr>
              <a:t>The toolbox: what the agent is capable of doing — the specific skills, scripts, and procedures it can reach for.</a:t>
            </a:r>
            <a:endParaRPr lang="en-US" sz="1600" dirty="0"/>
          </a:p>
        </p:txBody>
      </p:sp>
      <p:sp>
        <p:nvSpPr>
          <p:cNvPr id="11" name="Shape 8"/>
          <p:cNvSpPr/>
          <p:nvPr/>
        </p:nvSpPr>
        <p:spPr>
          <a:xfrm>
            <a:off x="6355080" y="2331720"/>
            <a:ext cx="5349240" cy="3977640"/>
          </a:xfrm>
          <a:prstGeom prst="roundRect">
            <a:avLst>
              <a:gd name="adj" fmla="val 2299"/>
            </a:avLst>
          </a:prstGeom>
          <a:solidFill>
            <a:srgbClr val="0A1628"/>
          </a:solidFill>
          <a:ln/>
        </p:spPr>
      </p:sp>
      <p:sp>
        <p:nvSpPr>
          <p:cNvPr id="12" name="Shape 9"/>
          <p:cNvSpPr/>
          <p:nvPr/>
        </p:nvSpPr>
        <p:spPr>
          <a:xfrm>
            <a:off x="6766560" y="2743200"/>
            <a:ext cx="731520" cy="731520"/>
          </a:xfrm>
          <a:prstGeom prst="ellipse">
            <a:avLst/>
          </a:prstGeom>
          <a:solidFill>
            <a:srgbClr val="0066FF"/>
          </a:solidFill>
          <a:ln/>
        </p:spPr>
      </p:sp>
      <p:pic>
        <p:nvPicPr>
          <p:cNvPr id="13" name="Image 1" descr="icons/book-white.png">    </p:cNvPr>
          <p:cNvPicPr>
            <a:picLocks noChangeAspect="1"/>
          </p:cNvPicPr>
          <p:nvPr/>
        </p:nvPicPr>
        <p:blipFill>
          <a:blip r:embed="rId2"/>
          <a:stretch>
            <a:fillRect/>
          </a:stretch>
        </p:blipFill>
        <p:spPr>
          <a:xfrm>
            <a:off x="6949440" y="2926080"/>
            <a:ext cx="365760" cy="365760"/>
          </a:xfrm>
          <a:prstGeom prst="rect">
            <a:avLst/>
          </a:prstGeom>
        </p:spPr>
      </p:pic>
      <p:sp>
        <p:nvSpPr>
          <p:cNvPr id="14" name="Text 10"/>
          <p:cNvSpPr/>
          <p:nvPr/>
        </p:nvSpPr>
        <p:spPr>
          <a:xfrm>
            <a:off x="7680960" y="2743200"/>
            <a:ext cx="3703320" cy="731520"/>
          </a:xfrm>
          <a:prstGeom prst="rect">
            <a:avLst/>
          </a:prstGeom>
          <a:noFill/>
          <a:ln/>
        </p:spPr>
        <p:txBody>
          <a:bodyPr wrap="square" rtlCol="0" anchor="ctr"/>
          <a:lstStyle/>
          <a:p>
            <a:pPr algn="l" indent="0" marL="0">
              <a:buNone/>
            </a:pPr>
            <a:r>
              <a:rPr lang="en-US" sz="2400" b="1" dirty="0">
                <a:solidFill>
                  <a:srgbClr val="FFFFFF"/>
                </a:solidFill>
                <a:latin typeface="Oswald" pitchFamily="34" charset="0"/>
                <a:ea typeface="Oswald" pitchFamily="34" charset="-122"/>
                <a:cs typeface="Oswald" pitchFamily="34" charset="-120"/>
              </a:rPr>
              <a:t>CLAUDE.md</a:t>
            </a:r>
            <a:endParaRPr lang="en-US" sz="2400" dirty="0"/>
          </a:p>
        </p:txBody>
      </p:sp>
      <p:sp>
        <p:nvSpPr>
          <p:cNvPr id="15" name="Text 11"/>
          <p:cNvSpPr/>
          <p:nvPr/>
        </p:nvSpPr>
        <p:spPr>
          <a:xfrm>
            <a:off x="6766560" y="3749040"/>
            <a:ext cx="4526280" cy="2286000"/>
          </a:xfrm>
          <a:prstGeom prst="rect">
            <a:avLst/>
          </a:prstGeom>
          <a:noFill/>
          <a:ln/>
        </p:spPr>
        <p:txBody>
          <a:bodyPr wrap="square" rtlCol="0" anchor="t"/>
          <a:lstStyle/>
          <a:p>
            <a:pPr algn="l" indent="0" marL="0">
              <a:lnSpc>
                <a:spcPct val="130000"/>
              </a:lnSpc>
              <a:buNone/>
            </a:pPr>
            <a:r>
              <a:rPr lang="en-US" sz="1600" dirty="0">
                <a:solidFill>
                  <a:srgbClr val="AEBACD"/>
                </a:solidFill>
                <a:latin typeface="Plus Jakarta Sans" pitchFamily="34" charset="0"/>
                <a:ea typeface="Plus Jakarta Sans" pitchFamily="34" charset="-122"/>
                <a:cs typeface="Plus Jakarta Sans" pitchFamily="34" charset="-120"/>
              </a:rPr>
              <a:t>The instructions: how the agent should operate — its ground rules, conventions, and the judgment calls it should make on its own.</a:t>
            </a:r>
            <a:endParaRPr lang="en-US" sz="1600" dirty="0"/>
          </a:p>
        </p:txBody>
      </p:sp>
      <p:sp>
        <p:nvSpPr>
          <p:cNvPr id="16" name="Shape 12"/>
          <p:cNvSpPr/>
          <p:nvPr/>
        </p:nvSpPr>
        <p:spPr>
          <a:xfrm>
            <a:off x="457200" y="6446520"/>
            <a:ext cx="11277295" cy="0"/>
          </a:xfrm>
          <a:prstGeom prst="line">
            <a:avLst/>
          </a:prstGeom>
          <a:noFill/>
          <a:ln w="9525">
            <a:solidFill>
              <a:srgbClr val="D5DDEA"/>
            </a:solidFill>
            <a:prstDash val="solid"/>
          </a:ln>
        </p:spPr>
      </p:sp>
      <p:sp>
        <p:nvSpPr>
          <p:cNvPr id="17" name="Text 13"/>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25 / 35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WHAT ARE AI AGENTS</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THE HOOK</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0A1628"/>
                </a:solidFill>
                <a:latin typeface="Oswald" pitchFamily="34" charset="0"/>
                <a:ea typeface="Oswald" pitchFamily="34" charset="-122"/>
                <a:cs typeface="Oswald" pitchFamily="34" charset="-120"/>
              </a:rPr>
              <a:t>Wait — What's a .md File?</a:t>
            </a:r>
            <a:endParaRPr lang="en-US" sz="3400" dirty="0"/>
          </a:p>
        </p:txBody>
      </p:sp>
      <p:sp>
        <p:nvSpPr>
          <p:cNvPr id="5" name="Shape 3"/>
          <p:cNvSpPr/>
          <p:nvPr/>
        </p:nvSpPr>
        <p:spPr>
          <a:xfrm>
            <a:off x="1371600" y="1965960"/>
            <a:ext cx="1920240" cy="365760"/>
          </a:xfrm>
          <a:prstGeom prst="rect">
            <a:avLst/>
          </a:prstGeom>
          <a:solidFill>
            <a:srgbClr val="0066FF"/>
          </a:solidFill>
          <a:ln/>
        </p:spPr>
      </p:sp>
      <p:sp>
        <p:nvSpPr>
          <p:cNvPr id="6" name="Shape 4"/>
          <p:cNvSpPr/>
          <p:nvPr/>
        </p:nvSpPr>
        <p:spPr>
          <a:xfrm>
            <a:off x="822960" y="2240280"/>
            <a:ext cx="3108960" cy="2606040"/>
          </a:xfrm>
          <a:prstGeom prst="roundRect">
            <a:avLst>
              <a:gd name="adj" fmla="val 4211"/>
            </a:avLst>
          </a:prstGeom>
          <a:solidFill>
            <a:srgbClr val="0A1628"/>
          </a:solidFill>
          <a:ln/>
        </p:spPr>
      </p:sp>
      <p:sp>
        <p:nvSpPr>
          <p:cNvPr id="7" name="Text 5"/>
          <p:cNvSpPr/>
          <p:nvPr/>
        </p:nvSpPr>
        <p:spPr>
          <a:xfrm>
            <a:off x="822960" y="2240280"/>
            <a:ext cx="3108960" cy="2606040"/>
          </a:xfrm>
          <a:prstGeom prst="rect">
            <a:avLst/>
          </a:prstGeom>
          <a:noFill/>
          <a:ln/>
        </p:spPr>
        <p:txBody>
          <a:bodyPr wrap="square" lIns="0" tIns="0" rIns="0" bIns="0" rtlCol="0" anchor="ctr"/>
          <a:lstStyle/>
          <a:p>
            <a:pPr algn="ctr" indent="0" marL="0">
              <a:buNone/>
            </a:pPr>
            <a:r>
              <a:rPr lang="en-US" sz="7000" b="1" dirty="0">
                <a:solidFill>
                  <a:srgbClr val="D5DDEA"/>
                </a:solidFill>
                <a:latin typeface="Oswald" pitchFamily="34" charset="0"/>
                <a:ea typeface="Oswald" pitchFamily="34" charset="-122"/>
                <a:cs typeface="Oswald" pitchFamily="34" charset="-120"/>
              </a:rPr>
              <a:t>.md</a:t>
            </a:r>
            <a:endParaRPr lang="en-US" sz="7000" dirty="0"/>
          </a:p>
        </p:txBody>
      </p:sp>
      <p:sp>
        <p:nvSpPr>
          <p:cNvPr id="8" name="Shape 6"/>
          <p:cNvSpPr/>
          <p:nvPr/>
        </p:nvSpPr>
        <p:spPr>
          <a:xfrm>
            <a:off x="3520440" y="1874520"/>
            <a:ext cx="777240" cy="777240"/>
          </a:xfrm>
          <a:prstGeom prst="ellipse">
            <a:avLst/>
          </a:prstGeom>
          <a:solidFill>
            <a:srgbClr val="0066FF"/>
          </a:solidFill>
          <a:ln/>
        </p:spPr>
      </p:sp>
      <p:pic>
        <p:nvPicPr>
          <p:cNvPr id="9" name="Image 0" descr="icons/fileCode-white.png">    </p:cNvPr>
          <p:cNvPicPr>
            <a:picLocks noChangeAspect="1"/>
          </p:cNvPicPr>
          <p:nvPr/>
        </p:nvPicPr>
        <p:blipFill>
          <a:blip r:embed="rId1"/>
          <a:stretch>
            <a:fillRect/>
          </a:stretch>
        </p:blipFill>
        <p:spPr>
          <a:xfrm>
            <a:off x="3712464" y="2066544"/>
            <a:ext cx="393192" cy="393192"/>
          </a:xfrm>
          <a:prstGeom prst="rect">
            <a:avLst/>
          </a:prstGeom>
        </p:spPr>
      </p:pic>
      <p:sp>
        <p:nvSpPr>
          <p:cNvPr id="10" name="Text 7"/>
          <p:cNvSpPr/>
          <p:nvPr/>
        </p:nvSpPr>
        <p:spPr>
          <a:xfrm>
            <a:off x="4434840" y="2514600"/>
            <a:ext cx="6858000" cy="2103120"/>
          </a:xfrm>
          <a:prstGeom prst="rect">
            <a:avLst/>
          </a:prstGeom>
          <a:noFill/>
          <a:ln/>
        </p:spPr>
        <p:txBody>
          <a:bodyPr wrap="square" rtlCol="0" anchor="t"/>
          <a:lstStyle/>
          <a:p>
            <a:pPr algn="l" indent="0" marL="0">
              <a:lnSpc>
                <a:spcPct val="130000"/>
              </a:lnSpc>
              <a:buNone/>
            </a:pPr>
            <a:r>
              <a:rPr lang="en-US" sz="2000" dirty="0">
                <a:solidFill>
                  <a:srgbClr val="3D4759"/>
                </a:solidFill>
                <a:latin typeface="Plus Jakarta Sans" pitchFamily="34" charset="0"/>
                <a:ea typeface="Plus Jakarta Sans" pitchFamily="34" charset="-122"/>
                <a:cs typeface="Plus Jakarta Sans" pitchFamily="34" charset="-120"/>
              </a:rPr>
              <a:t>You'll see this file extension everywhere in agent building — in SKILL.md, CLAUDE.md, and most of what an agent reads to know how to behave. Let's demystify it, quickly, before it becomes a distraction.</a:t>
            </a:r>
            <a:endParaRPr lang="en-US" sz="2000" dirty="0"/>
          </a:p>
        </p:txBody>
      </p:sp>
      <p:sp>
        <p:nvSpPr>
          <p:cNvPr id="11" name="Shape 8"/>
          <p:cNvSpPr/>
          <p:nvPr/>
        </p:nvSpPr>
        <p:spPr>
          <a:xfrm>
            <a:off x="457200" y="6446520"/>
            <a:ext cx="11277295" cy="0"/>
          </a:xfrm>
          <a:prstGeom prst="line">
            <a:avLst/>
          </a:prstGeom>
          <a:noFill/>
          <a:ln w="9525">
            <a:solidFill>
              <a:srgbClr val="D5DDEA"/>
            </a:solidFill>
            <a:prstDash val="solid"/>
          </a:ln>
        </p:spPr>
      </p:sp>
      <p:sp>
        <p:nvSpPr>
          <p:cNvPr id="12" name="Text 9"/>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26 / 35</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WHAT ARE AI AGENTS</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SYNTAX</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0A1628"/>
                </a:solidFill>
                <a:latin typeface="Oswald" pitchFamily="34" charset="0"/>
                <a:ea typeface="Oswald" pitchFamily="34" charset="-122"/>
                <a:cs typeface="Oswald" pitchFamily="34" charset="-120"/>
              </a:rPr>
              <a:t>Markdown: AI's Favorite Language</a:t>
            </a:r>
            <a:endParaRPr lang="en-US" sz="3400" dirty="0"/>
          </a:p>
        </p:txBody>
      </p:sp>
      <p:sp>
        <p:nvSpPr>
          <p:cNvPr id="5" name="Text 3"/>
          <p:cNvSpPr/>
          <p:nvPr/>
        </p:nvSpPr>
        <p:spPr>
          <a:xfrm>
            <a:off x="457200" y="1783080"/>
            <a:ext cx="11277295" cy="502920"/>
          </a:xfrm>
          <a:prstGeom prst="rect">
            <a:avLst/>
          </a:prstGeom>
          <a:noFill/>
          <a:ln/>
        </p:spPr>
        <p:txBody>
          <a:bodyPr wrap="square" rtlCol="0" anchor="t"/>
          <a:lstStyle/>
          <a:p>
            <a:pPr algn="l" indent="0" marL="0">
              <a:buNone/>
            </a:pPr>
            <a:r>
              <a:rPr lang="en-US" sz="1600" dirty="0">
                <a:solidFill>
                  <a:srgbClr val="3D4759"/>
                </a:solidFill>
                <a:latin typeface="Plus Jakarta Sans" pitchFamily="34" charset="0"/>
                <a:ea typeface="Plus Jakarta Sans" pitchFamily="34" charset="-122"/>
                <a:cs typeface="Plus Jakarta Sans" pitchFamily="34" charset="-120"/>
              </a:rPr>
              <a:t>It looks intimidating the first time you see it, but it's just structured headings — the same outline logic you already use.</a:t>
            </a:r>
            <a:endParaRPr lang="en-US" sz="1600" dirty="0"/>
          </a:p>
        </p:txBody>
      </p:sp>
      <p:sp>
        <p:nvSpPr>
          <p:cNvPr id="6" name="Shape 4"/>
          <p:cNvSpPr/>
          <p:nvPr/>
        </p:nvSpPr>
        <p:spPr>
          <a:xfrm>
            <a:off x="640080" y="2423160"/>
            <a:ext cx="6126480" cy="3520440"/>
          </a:xfrm>
          <a:prstGeom prst="roundRect">
            <a:avLst>
              <a:gd name="adj" fmla="val 2078"/>
            </a:avLst>
          </a:prstGeom>
          <a:solidFill>
            <a:srgbClr val="0A1628"/>
          </a:solidFill>
          <a:ln/>
        </p:spPr>
      </p:sp>
      <p:sp>
        <p:nvSpPr>
          <p:cNvPr id="7" name="Shape 5"/>
          <p:cNvSpPr/>
          <p:nvPr/>
        </p:nvSpPr>
        <p:spPr>
          <a:xfrm>
            <a:off x="914400" y="2679192"/>
            <a:ext cx="146304" cy="146304"/>
          </a:xfrm>
          <a:prstGeom prst="ellipse">
            <a:avLst/>
          </a:prstGeom>
          <a:solidFill>
            <a:srgbClr val="0066FF"/>
          </a:solidFill>
          <a:ln/>
        </p:spPr>
      </p:sp>
      <p:sp>
        <p:nvSpPr>
          <p:cNvPr id="8" name="Shape 6"/>
          <p:cNvSpPr/>
          <p:nvPr/>
        </p:nvSpPr>
        <p:spPr>
          <a:xfrm>
            <a:off x="1207008" y="2679192"/>
            <a:ext cx="146304" cy="146304"/>
          </a:xfrm>
          <a:prstGeom prst="ellipse">
            <a:avLst/>
          </a:prstGeom>
          <a:solidFill>
            <a:srgbClr val="D5DDEA"/>
          </a:solidFill>
          <a:ln/>
        </p:spPr>
      </p:sp>
      <p:sp>
        <p:nvSpPr>
          <p:cNvPr id="9" name="Shape 7"/>
          <p:cNvSpPr/>
          <p:nvPr/>
        </p:nvSpPr>
        <p:spPr>
          <a:xfrm>
            <a:off x="1499616" y="2679192"/>
            <a:ext cx="146304" cy="146304"/>
          </a:xfrm>
          <a:prstGeom prst="ellipse">
            <a:avLst/>
          </a:prstGeom>
          <a:solidFill>
            <a:srgbClr val="3D4759"/>
          </a:solidFill>
          <a:ln/>
        </p:spPr>
      </p:sp>
      <p:sp>
        <p:nvSpPr>
          <p:cNvPr id="10" name="Text 8"/>
          <p:cNvSpPr/>
          <p:nvPr/>
        </p:nvSpPr>
        <p:spPr>
          <a:xfrm>
            <a:off x="1005840" y="3200400"/>
            <a:ext cx="5394960" cy="685800"/>
          </a:xfrm>
          <a:prstGeom prst="rect">
            <a:avLst/>
          </a:prstGeom>
          <a:noFill/>
          <a:ln/>
        </p:spPr>
        <p:txBody>
          <a:bodyPr wrap="square" rtlCol="0" anchor="ctr"/>
          <a:lstStyle/>
          <a:p>
            <a:pPr algn="l" indent="0" marL="0">
              <a:buNone/>
            </a:pPr>
            <a:r>
              <a:rPr lang="en-US" sz="2600" dirty="0">
                <a:solidFill>
                  <a:srgbClr val="D5DDEA"/>
                </a:solidFill>
                <a:latin typeface="Courier New" pitchFamily="34" charset="0"/>
                <a:ea typeface="Courier New" pitchFamily="34" charset="-122"/>
                <a:cs typeface="Courier New" pitchFamily="34" charset="-120"/>
              </a:rPr>
              <a:t># Title</a:t>
            </a:r>
            <a:endParaRPr lang="en-US" sz="2600" dirty="0"/>
          </a:p>
        </p:txBody>
      </p:sp>
      <p:sp>
        <p:nvSpPr>
          <p:cNvPr id="11" name="Text 9"/>
          <p:cNvSpPr/>
          <p:nvPr/>
        </p:nvSpPr>
        <p:spPr>
          <a:xfrm>
            <a:off x="1005840" y="4023360"/>
            <a:ext cx="5394960" cy="640080"/>
          </a:xfrm>
          <a:prstGeom prst="rect">
            <a:avLst/>
          </a:prstGeom>
          <a:noFill/>
          <a:ln/>
        </p:spPr>
        <p:txBody>
          <a:bodyPr wrap="square" rtlCol="0" anchor="ctr"/>
          <a:lstStyle/>
          <a:p>
            <a:pPr algn="l" indent="0" marL="0">
              <a:buNone/>
            </a:pPr>
            <a:r>
              <a:rPr lang="en-US" sz="2100" dirty="0">
                <a:solidFill>
                  <a:srgbClr val="FFFFFF"/>
                </a:solidFill>
                <a:latin typeface="Courier New" pitchFamily="34" charset="0"/>
                <a:ea typeface="Courier New" pitchFamily="34" charset="-122"/>
                <a:cs typeface="Courier New" pitchFamily="34" charset="-120"/>
              </a:rPr>
              <a:t>## Subtitle</a:t>
            </a:r>
            <a:endParaRPr lang="en-US" sz="2100" dirty="0"/>
          </a:p>
        </p:txBody>
      </p:sp>
      <p:sp>
        <p:nvSpPr>
          <p:cNvPr id="12" name="Text 10"/>
          <p:cNvSpPr/>
          <p:nvPr/>
        </p:nvSpPr>
        <p:spPr>
          <a:xfrm>
            <a:off x="1005840" y="4754880"/>
            <a:ext cx="5394960" cy="640080"/>
          </a:xfrm>
          <a:prstGeom prst="rect">
            <a:avLst/>
          </a:prstGeom>
          <a:noFill/>
          <a:ln/>
        </p:spPr>
        <p:txBody>
          <a:bodyPr wrap="square" rtlCol="0" anchor="ctr"/>
          <a:lstStyle/>
          <a:p>
            <a:pPr algn="l" indent="0" marL="0">
              <a:buNone/>
            </a:pPr>
            <a:r>
              <a:rPr lang="en-US" sz="1700" dirty="0">
                <a:solidFill>
                  <a:srgbClr val="AEBACD"/>
                </a:solidFill>
                <a:latin typeface="Courier New" pitchFamily="34" charset="0"/>
                <a:ea typeface="Courier New" pitchFamily="34" charset="-122"/>
                <a:cs typeface="Courier New" pitchFamily="34" charset="-120"/>
              </a:rPr>
              <a:t>### Section</a:t>
            </a:r>
            <a:endParaRPr lang="en-US" sz="1700" dirty="0"/>
          </a:p>
        </p:txBody>
      </p:sp>
      <p:pic>
        <p:nvPicPr>
          <p:cNvPr id="13" name="Image 0" descr="icons/code-blue.png">    </p:cNvPr>
          <p:cNvPicPr>
            <a:picLocks noChangeAspect="1"/>
          </p:cNvPicPr>
          <p:nvPr/>
        </p:nvPicPr>
        <p:blipFill>
          <a:blip r:embed="rId1"/>
          <a:stretch>
            <a:fillRect/>
          </a:stretch>
        </p:blipFill>
        <p:spPr>
          <a:xfrm>
            <a:off x="7269480" y="2423160"/>
            <a:ext cx="365760" cy="365760"/>
          </a:xfrm>
          <a:prstGeom prst="rect">
            <a:avLst/>
          </a:prstGeom>
        </p:spPr>
      </p:pic>
      <p:sp>
        <p:nvSpPr>
          <p:cNvPr id="14" name="Text 11"/>
          <p:cNvSpPr/>
          <p:nvPr/>
        </p:nvSpPr>
        <p:spPr>
          <a:xfrm>
            <a:off x="7772400" y="2423160"/>
            <a:ext cx="3200400" cy="365760"/>
          </a:xfrm>
          <a:prstGeom prst="rect">
            <a:avLst/>
          </a:prstGeom>
          <a:noFill/>
          <a:ln/>
        </p:spPr>
        <p:txBody>
          <a:bodyPr wrap="square" lIns="0" tIns="0" rIns="0" bIns="0" rtlCol="0" anchor="ctr"/>
          <a:lstStyle/>
          <a:p>
            <a:pPr algn="l" indent="0" marL="0">
              <a:buNone/>
            </a:pPr>
            <a:r>
              <a:rPr lang="en-US" sz="1300" b="1" spc="200" kern="0" dirty="0">
                <a:solidFill>
                  <a:srgbClr val="3D4759"/>
                </a:solidFill>
                <a:latin typeface="Oswald" pitchFamily="34" charset="0"/>
                <a:ea typeface="Oswald" pitchFamily="34" charset="-122"/>
                <a:cs typeface="Oswald" pitchFamily="34" charset="-120"/>
              </a:rPr>
              <a:t>SYNTAX MAP</a:t>
            </a:r>
            <a:endParaRPr lang="en-US" sz="1300" dirty="0"/>
          </a:p>
        </p:txBody>
      </p:sp>
      <p:sp>
        <p:nvSpPr>
          <p:cNvPr id="15" name="Shape 12"/>
          <p:cNvSpPr/>
          <p:nvPr/>
        </p:nvSpPr>
        <p:spPr>
          <a:xfrm>
            <a:off x="7269480" y="3108960"/>
            <a:ext cx="329184" cy="329184"/>
          </a:xfrm>
          <a:prstGeom prst="ellipse">
            <a:avLst/>
          </a:prstGeom>
          <a:solidFill>
            <a:srgbClr val="D5DDEA"/>
          </a:solidFill>
          <a:ln/>
        </p:spPr>
      </p:sp>
      <p:sp>
        <p:nvSpPr>
          <p:cNvPr id="16" name="Text 13"/>
          <p:cNvSpPr/>
          <p:nvPr/>
        </p:nvSpPr>
        <p:spPr>
          <a:xfrm>
            <a:off x="7269480" y="3108960"/>
            <a:ext cx="329184" cy="329184"/>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17" name="Text 14"/>
          <p:cNvSpPr/>
          <p:nvPr/>
        </p:nvSpPr>
        <p:spPr>
          <a:xfrm>
            <a:off x="7772400" y="3054096"/>
            <a:ext cx="3383280" cy="457200"/>
          </a:xfrm>
          <a:prstGeom prst="rect">
            <a:avLst/>
          </a:prstGeom>
          <a:noFill/>
          <a:ln/>
        </p:spPr>
        <p:txBody>
          <a:bodyPr wrap="square" rtlCol="0" anchor="ctr"/>
          <a:lstStyle/>
          <a:p>
            <a:pPr algn="l" indent="0" marL="0">
              <a:buNone/>
            </a:pPr>
            <a:r>
              <a:rPr lang="en-US" sz="1500" dirty="0">
                <a:solidFill>
                  <a:srgbClr val="0A1628"/>
                </a:solidFill>
                <a:latin typeface="Plus Jakarta Sans" pitchFamily="34" charset="0"/>
                <a:ea typeface="Plus Jakarta Sans" pitchFamily="34" charset="-122"/>
                <a:cs typeface="Plus Jakarta Sans" pitchFamily="34" charset="-120"/>
              </a:rPr>
              <a:t>→  Heading 1 (H1)</a:t>
            </a:r>
            <a:endParaRPr lang="en-US" sz="1500" dirty="0"/>
          </a:p>
        </p:txBody>
      </p:sp>
      <p:sp>
        <p:nvSpPr>
          <p:cNvPr id="18" name="Shape 15"/>
          <p:cNvSpPr/>
          <p:nvPr/>
        </p:nvSpPr>
        <p:spPr>
          <a:xfrm>
            <a:off x="7269480" y="3977640"/>
            <a:ext cx="329184" cy="329184"/>
          </a:xfrm>
          <a:prstGeom prst="ellipse">
            <a:avLst/>
          </a:prstGeom>
          <a:solidFill>
            <a:srgbClr val="0066FF"/>
          </a:solidFill>
          <a:ln/>
        </p:spPr>
      </p:sp>
      <p:sp>
        <p:nvSpPr>
          <p:cNvPr id="19" name="Text 16"/>
          <p:cNvSpPr/>
          <p:nvPr/>
        </p:nvSpPr>
        <p:spPr>
          <a:xfrm>
            <a:off x="7269480" y="3977640"/>
            <a:ext cx="329184" cy="329184"/>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20" name="Text 17"/>
          <p:cNvSpPr/>
          <p:nvPr/>
        </p:nvSpPr>
        <p:spPr>
          <a:xfrm>
            <a:off x="7772400" y="3922776"/>
            <a:ext cx="3383280" cy="457200"/>
          </a:xfrm>
          <a:prstGeom prst="rect">
            <a:avLst/>
          </a:prstGeom>
          <a:noFill/>
          <a:ln/>
        </p:spPr>
        <p:txBody>
          <a:bodyPr wrap="square" rtlCol="0" anchor="ctr"/>
          <a:lstStyle/>
          <a:p>
            <a:pPr algn="l" indent="0" marL="0">
              <a:buNone/>
            </a:pPr>
            <a:r>
              <a:rPr lang="en-US" sz="1500" dirty="0">
                <a:solidFill>
                  <a:srgbClr val="0A1628"/>
                </a:solidFill>
                <a:latin typeface="Plus Jakarta Sans" pitchFamily="34" charset="0"/>
                <a:ea typeface="Plus Jakarta Sans" pitchFamily="34" charset="-122"/>
                <a:cs typeface="Plus Jakarta Sans" pitchFamily="34" charset="-120"/>
              </a:rPr>
              <a:t>→  Heading 2 (H2)</a:t>
            </a:r>
            <a:endParaRPr lang="en-US" sz="1500" dirty="0"/>
          </a:p>
        </p:txBody>
      </p:sp>
      <p:sp>
        <p:nvSpPr>
          <p:cNvPr id="21" name="Shape 18"/>
          <p:cNvSpPr/>
          <p:nvPr/>
        </p:nvSpPr>
        <p:spPr>
          <a:xfrm>
            <a:off x="7269480" y="4846320"/>
            <a:ext cx="329184" cy="329184"/>
          </a:xfrm>
          <a:prstGeom prst="ellipse">
            <a:avLst/>
          </a:prstGeom>
          <a:solidFill>
            <a:srgbClr val="3D4759"/>
          </a:solidFill>
          <a:ln/>
        </p:spPr>
      </p:sp>
      <p:sp>
        <p:nvSpPr>
          <p:cNvPr id="22" name="Text 19"/>
          <p:cNvSpPr/>
          <p:nvPr/>
        </p:nvSpPr>
        <p:spPr>
          <a:xfrm>
            <a:off x="7269480" y="4846320"/>
            <a:ext cx="329184" cy="329184"/>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23" name="Text 20"/>
          <p:cNvSpPr/>
          <p:nvPr/>
        </p:nvSpPr>
        <p:spPr>
          <a:xfrm>
            <a:off x="7772400" y="4791456"/>
            <a:ext cx="3383280" cy="457200"/>
          </a:xfrm>
          <a:prstGeom prst="rect">
            <a:avLst/>
          </a:prstGeom>
          <a:noFill/>
          <a:ln/>
        </p:spPr>
        <p:txBody>
          <a:bodyPr wrap="square" rtlCol="0" anchor="ctr"/>
          <a:lstStyle/>
          <a:p>
            <a:pPr algn="l" indent="0" marL="0">
              <a:buNone/>
            </a:pPr>
            <a:r>
              <a:rPr lang="en-US" sz="1500" dirty="0">
                <a:solidFill>
                  <a:srgbClr val="0A1628"/>
                </a:solidFill>
                <a:latin typeface="Plus Jakarta Sans" pitchFamily="34" charset="0"/>
                <a:ea typeface="Plus Jakarta Sans" pitchFamily="34" charset="-122"/>
                <a:cs typeface="Plus Jakarta Sans" pitchFamily="34" charset="-120"/>
              </a:rPr>
              <a:t>→  Heading 3 (H3)</a:t>
            </a:r>
            <a:endParaRPr lang="en-US" sz="1500" dirty="0"/>
          </a:p>
        </p:txBody>
      </p:sp>
      <p:sp>
        <p:nvSpPr>
          <p:cNvPr id="24" name="Shape 21"/>
          <p:cNvSpPr/>
          <p:nvPr/>
        </p:nvSpPr>
        <p:spPr>
          <a:xfrm>
            <a:off x="457200" y="6446520"/>
            <a:ext cx="11277295" cy="0"/>
          </a:xfrm>
          <a:prstGeom prst="line">
            <a:avLst/>
          </a:prstGeom>
          <a:noFill/>
          <a:ln w="9525">
            <a:solidFill>
              <a:srgbClr val="D5DDEA"/>
            </a:solidFill>
            <a:prstDash val="solid"/>
          </a:ln>
        </p:spPr>
      </p:sp>
      <p:sp>
        <p:nvSpPr>
          <p:cNvPr id="25" name="Text 22"/>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27 / 35</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WHAT ARE AI AGENTS</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COMPATIBILITY</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000" b="1" dirty="0">
                <a:solidFill>
                  <a:srgbClr val="0A1628"/>
                </a:solidFill>
                <a:latin typeface="Oswald" pitchFamily="34" charset="0"/>
                <a:ea typeface="Oswald" pitchFamily="34" charset="-122"/>
                <a:cs typeface="Oswald" pitchFamily="34" charset="-120"/>
              </a:rPr>
              <a:t>Which Format Works Best — GPT, Claude, Gemini?</a:t>
            </a:r>
            <a:endParaRPr lang="en-US" sz="3000" dirty="0"/>
          </a:p>
        </p:txBody>
      </p:sp>
      <p:sp>
        <p:nvSpPr>
          <p:cNvPr id="5" name="Shape 3"/>
          <p:cNvSpPr/>
          <p:nvPr/>
        </p:nvSpPr>
        <p:spPr>
          <a:xfrm>
            <a:off x="731520" y="2286000"/>
            <a:ext cx="3410712" cy="3108960"/>
          </a:xfrm>
          <a:prstGeom prst="roundRect">
            <a:avLst>
              <a:gd name="adj" fmla="val 2941"/>
            </a:avLst>
          </a:prstGeom>
          <a:solidFill>
            <a:srgbClr val="0A1628"/>
          </a:solidFill>
          <a:ln/>
        </p:spPr>
      </p:sp>
      <p:sp>
        <p:nvSpPr>
          <p:cNvPr id="6" name="Shape 4"/>
          <p:cNvSpPr/>
          <p:nvPr/>
        </p:nvSpPr>
        <p:spPr>
          <a:xfrm>
            <a:off x="2071116" y="2651760"/>
            <a:ext cx="731520" cy="731520"/>
          </a:xfrm>
          <a:prstGeom prst="ellipse">
            <a:avLst/>
          </a:prstGeom>
          <a:solidFill>
            <a:srgbClr val="0066FF"/>
          </a:solidFill>
          <a:ln/>
        </p:spPr>
      </p:sp>
      <p:pic>
        <p:nvPicPr>
          <p:cNvPr id="7" name="Image 0" descr="icons/comments-white.png">    </p:cNvPr>
          <p:cNvPicPr>
            <a:picLocks noChangeAspect="1"/>
          </p:cNvPicPr>
          <p:nvPr/>
        </p:nvPicPr>
        <p:blipFill>
          <a:blip r:embed="rId1"/>
          <a:stretch>
            <a:fillRect/>
          </a:stretch>
        </p:blipFill>
        <p:spPr>
          <a:xfrm>
            <a:off x="2235708" y="2816352"/>
            <a:ext cx="402336" cy="402336"/>
          </a:xfrm>
          <a:prstGeom prst="rect">
            <a:avLst/>
          </a:prstGeom>
        </p:spPr>
      </p:pic>
      <p:sp>
        <p:nvSpPr>
          <p:cNvPr id="8" name="Text 5"/>
          <p:cNvSpPr/>
          <p:nvPr/>
        </p:nvSpPr>
        <p:spPr>
          <a:xfrm>
            <a:off x="914400" y="3566160"/>
            <a:ext cx="3044952" cy="502920"/>
          </a:xfrm>
          <a:prstGeom prst="rect">
            <a:avLst/>
          </a:prstGeom>
          <a:noFill/>
          <a:ln/>
        </p:spPr>
        <p:txBody>
          <a:bodyPr wrap="square" rtlCol="0" anchor="ctr"/>
          <a:lstStyle/>
          <a:p>
            <a:pPr algn="ctr" indent="0" marL="0">
              <a:buNone/>
            </a:pPr>
            <a:r>
              <a:rPr lang="en-US" sz="2400" b="1" dirty="0">
                <a:solidFill>
                  <a:srgbClr val="FFFFFF"/>
                </a:solidFill>
                <a:latin typeface="Oswald" pitchFamily="34" charset="0"/>
                <a:ea typeface="Oswald" pitchFamily="34" charset="-122"/>
                <a:cs typeface="Oswald" pitchFamily="34" charset="-120"/>
              </a:rPr>
              <a:t>GPT</a:t>
            </a:r>
            <a:endParaRPr lang="en-US" sz="2400" dirty="0"/>
          </a:p>
        </p:txBody>
      </p:sp>
      <p:sp>
        <p:nvSpPr>
          <p:cNvPr id="9" name="Text 6"/>
          <p:cNvSpPr/>
          <p:nvPr/>
        </p:nvSpPr>
        <p:spPr>
          <a:xfrm>
            <a:off x="1005840" y="4114800"/>
            <a:ext cx="2862072" cy="1097280"/>
          </a:xfrm>
          <a:prstGeom prst="rect">
            <a:avLst/>
          </a:prstGeom>
          <a:noFill/>
          <a:ln/>
        </p:spPr>
        <p:txBody>
          <a:bodyPr wrap="square" rtlCol="0" anchor="t"/>
          <a:lstStyle/>
          <a:p>
            <a:pPr algn="l" indent="0" marL="0">
              <a:lnSpc>
                <a:spcPct val="125000"/>
              </a:lnSpc>
              <a:buNone/>
            </a:pPr>
            <a:r>
              <a:rPr lang="en-US" sz="1400" dirty="0">
                <a:solidFill>
                  <a:srgbClr val="AEBACD"/>
                </a:solidFill>
                <a:latin typeface="Plus Jakarta Sans" pitchFamily="34" charset="0"/>
                <a:ea typeface="Plus Jakarta Sans" pitchFamily="34" charset="-122"/>
                <a:cs typeface="Plus Jakarta Sans" pitchFamily="34" charset="-120"/>
              </a:rPr>
              <a:t>Reads Markdown natively in its own chat interface and tool outputs.</a:t>
            </a:r>
            <a:endParaRPr lang="en-US" sz="1400" dirty="0"/>
          </a:p>
        </p:txBody>
      </p:sp>
      <p:sp>
        <p:nvSpPr>
          <p:cNvPr id="10" name="Shape 7"/>
          <p:cNvSpPr/>
          <p:nvPr/>
        </p:nvSpPr>
        <p:spPr>
          <a:xfrm>
            <a:off x="4389120" y="2286000"/>
            <a:ext cx="3410712" cy="3108960"/>
          </a:xfrm>
          <a:prstGeom prst="roundRect">
            <a:avLst>
              <a:gd name="adj" fmla="val 2941"/>
            </a:avLst>
          </a:prstGeom>
          <a:solidFill>
            <a:srgbClr val="0A1628"/>
          </a:solidFill>
          <a:ln/>
        </p:spPr>
      </p:sp>
      <p:sp>
        <p:nvSpPr>
          <p:cNvPr id="11" name="Shape 8"/>
          <p:cNvSpPr/>
          <p:nvPr/>
        </p:nvSpPr>
        <p:spPr>
          <a:xfrm>
            <a:off x="5728716" y="2651760"/>
            <a:ext cx="731520" cy="731520"/>
          </a:xfrm>
          <a:prstGeom prst="ellipse">
            <a:avLst/>
          </a:prstGeom>
          <a:solidFill>
            <a:srgbClr val="0066FF"/>
          </a:solidFill>
          <a:ln/>
        </p:spPr>
      </p:sp>
      <p:pic>
        <p:nvPicPr>
          <p:cNvPr id="12" name="Image 1" descr="icons/comments-white.png">    </p:cNvPr>
          <p:cNvPicPr>
            <a:picLocks noChangeAspect="1"/>
          </p:cNvPicPr>
          <p:nvPr/>
        </p:nvPicPr>
        <p:blipFill>
          <a:blip r:embed="rId2"/>
          <a:stretch>
            <a:fillRect/>
          </a:stretch>
        </p:blipFill>
        <p:spPr>
          <a:xfrm>
            <a:off x="5893308" y="2816352"/>
            <a:ext cx="402336" cy="402336"/>
          </a:xfrm>
          <a:prstGeom prst="rect">
            <a:avLst/>
          </a:prstGeom>
        </p:spPr>
      </p:pic>
      <p:sp>
        <p:nvSpPr>
          <p:cNvPr id="13" name="Text 9"/>
          <p:cNvSpPr/>
          <p:nvPr/>
        </p:nvSpPr>
        <p:spPr>
          <a:xfrm>
            <a:off x="4572000" y="3566160"/>
            <a:ext cx="3044952" cy="502920"/>
          </a:xfrm>
          <a:prstGeom prst="rect">
            <a:avLst/>
          </a:prstGeom>
          <a:noFill/>
          <a:ln/>
        </p:spPr>
        <p:txBody>
          <a:bodyPr wrap="square" rtlCol="0" anchor="ctr"/>
          <a:lstStyle/>
          <a:p>
            <a:pPr algn="ctr" indent="0" marL="0">
              <a:buNone/>
            </a:pPr>
            <a:r>
              <a:rPr lang="en-US" sz="2400" b="1" dirty="0">
                <a:solidFill>
                  <a:srgbClr val="FFFFFF"/>
                </a:solidFill>
                <a:latin typeface="Oswald" pitchFamily="34" charset="0"/>
                <a:ea typeface="Oswald" pitchFamily="34" charset="-122"/>
                <a:cs typeface="Oswald" pitchFamily="34" charset="-120"/>
              </a:rPr>
              <a:t>Claude</a:t>
            </a:r>
            <a:endParaRPr lang="en-US" sz="2400" dirty="0"/>
          </a:p>
        </p:txBody>
      </p:sp>
      <p:sp>
        <p:nvSpPr>
          <p:cNvPr id="14" name="Text 10"/>
          <p:cNvSpPr/>
          <p:nvPr/>
        </p:nvSpPr>
        <p:spPr>
          <a:xfrm>
            <a:off x="4663440" y="4114800"/>
            <a:ext cx="2862072" cy="1097280"/>
          </a:xfrm>
          <a:prstGeom prst="rect">
            <a:avLst/>
          </a:prstGeom>
          <a:noFill/>
          <a:ln/>
        </p:spPr>
        <p:txBody>
          <a:bodyPr wrap="square" rtlCol="0" anchor="t"/>
          <a:lstStyle/>
          <a:p>
            <a:pPr algn="l" indent="0" marL="0">
              <a:lnSpc>
                <a:spcPct val="125000"/>
              </a:lnSpc>
              <a:buNone/>
            </a:pPr>
            <a:r>
              <a:rPr lang="en-US" sz="1400" dirty="0">
                <a:solidFill>
                  <a:srgbClr val="AEBACD"/>
                </a:solidFill>
                <a:latin typeface="Plus Jakarta Sans" pitchFamily="34" charset="0"/>
                <a:ea typeface="Plus Jakarta Sans" pitchFamily="34" charset="-122"/>
                <a:cs typeface="Plus Jakarta Sans" pitchFamily="34" charset="-120"/>
              </a:rPr>
              <a:t>Trained heavily on Markdown-structured docs — a native fit for CLAUDE.md and SKILL.md.</a:t>
            </a:r>
            <a:endParaRPr lang="en-US" sz="1400" dirty="0"/>
          </a:p>
        </p:txBody>
      </p:sp>
      <p:sp>
        <p:nvSpPr>
          <p:cNvPr id="15" name="Shape 11"/>
          <p:cNvSpPr/>
          <p:nvPr/>
        </p:nvSpPr>
        <p:spPr>
          <a:xfrm>
            <a:off x="8046720" y="2286000"/>
            <a:ext cx="3410712" cy="3108960"/>
          </a:xfrm>
          <a:prstGeom prst="roundRect">
            <a:avLst>
              <a:gd name="adj" fmla="val 2941"/>
            </a:avLst>
          </a:prstGeom>
          <a:solidFill>
            <a:srgbClr val="0A1628"/>
          </a:solidFill>
          <a:ln/>
        </p:spPr>
      </p:sp>
      <p:sp>
        <p:nvSpPr>
          <p:cNvPr id="16" name="Shape 12"/>
          <p:cNvSpPr/>
          <p:nvPr/>
        </p:nvSpPr>
        <p:spPr>
          <a:xfrm>
            <a:off x="9386316" y="2651760"/>
            <a:ext cx="731520" cy="731520"/>
          </a:xfrm>
          <a:prstGeom prst="ellipse">
            <a:avLst/>
          </a:prstGeom>
          <a:solidFill>
            <a:srgbClr val="0066FF"/>
          </a:solidFill>
          <a:ln/>
        </p:spPr>
      </p:sp>
      <p:pic>
        <p:nvPicPr>
          <p:cNvPr id="17" name="Image 2" descr="icons/comments-white.png">    </p:cNvPr>
          <p:cNvPicPr>
            <a:picLocks noChangeAspect="1"/>
          </p:cNvPicPr>
          <p:nvPr/>
        </p:nvPicPr>
        <p:blipFill>
          <a:blip r:embed="rId3"/>
          <a:stretch>
            <a:fillRect/>
          </a:stretch>
        </p:blipFill>
        <p:spPr>
          <a:xfrm>
            <a:off x="9550908" y="2816352"/>
            <a:ext cx="402336" cy="402336"/>
          </a:xfrm>
          <a:prstGeom prst="rect">
            <a:avLst/>
          </a:prstGeom>
        </p:spPr>
      </p:pic>
      <p:sp>
        <p:nvSpPr>
          <p:cNvPr id="18" name="Text 13"/>
          <p:cNvSpPr/>
          <p:nvPr/>
        </p:nvSpPr>
        <p:spPr>
          <a:xfrm>
            <a:off x="8229600" y="3566160"/>
            <a:ext cx="3044952" cy="502920"/>
          </a:xfrm>
          <a:prstGeom prst="rect">
            <a:avLst/>
          </a:prstGeom>
          <a:noFill/>
          <a:ln/>
        </p:spPr>
        <p:txBody>
          <a:bodyPr wrap="square" rtlCol="0" anchor="ctr"/>
          <a:lstStyle/>
          <a:p>
            <a:pPr algn="ctr" indent="0" marL="0">
              <a:buNone/>
            </a:pPr>
            <a:r>
              <a:rPr lang="en-US" sz="2400" b="1" dirty="0">
                <a:solidFill>
                  <a:srgbClr val="FFFFFF"/>
                </a:solidFill>
                <a:latin typeface="Oswald" pitchFamily="34" charset="0"/>
                <a:ea typeface="Oswald" pitchFamily="34" charset="-122"/>
                <a:cs typeface="Oswald" pitchFamily="34" charset="-120"/>
              </a:rPr>
              <a:t>Gemini</a:t>
            </a:r>
            <a:endParaRPr lang="en-US" sz="2400" dirty="0"/>
          </a:p>
        </p:txBody>
      </p:sp>
      <p:sp>
        <p:nvSpPr>
          <p:cNvPr id="19" name="Text 14"/>
          <p:cNvSpPr/>
          <p:nvPr/>
        </p:nvSpPr>
        <p:spPr>
          <a:xfrm>
            <a:off x="8321040" y="4114800"/>
            <a:ext cx="2862072" cy="1097280"/>
          </a:xfrm>
          <a:prstGeom prst="rect">
            <a:avLst/>
          </a:prstGeom>
          <a:noFill/>
          <a:ln/>
        </p:spPr>
        <p:txBody>
          <a:bodyPr wrap="square" rtlCol="0" anchor="t"/>
          <a:lstStyle/>
          <a:p>
            <a:pPr algn="l" indent="0" marL="0">
              <a:lnSpc>
                <a:spcPct val="125000"/>
              </a:lnSpc>
              <a:buNone/>
            </a:pPr>
            <a:r>
              <a:rPr lang="en-US" sz="1400" dirty="0">
                <a:solidFill>
                  <a:srgbClr val="AEBACD"/>
                </a:solidFill>
                <a:latin typeface="Plus Jakarta Sans" pitchFamily="34" charset="0"/>
                <a:ea typeface="Plus Jakarta Sans" pitchFamily="34" charset="-122"/>
                <a:cs typeface="Plus Jakarta Sans" pitchFamily="34" charset="-120"/>
              </a:rPr>
              <a:t>Also parses Markdown cleanly across chat and API responses.</a:t>
            </a:r>
            <a:endParaRPr lang="en-US" sz="1400" dirty="0"/>
          </a:p>
        </p:txBody>
      </p:sp>
      <p:sp>
        <p:nvSpPr>
          <p:cNvPr id="20" name="Text 15"/>
          <p:cNvSpPr/>
          <p:nvPr/>
        </p:nvSpPr>
        <p:spPr>
          <a:xfrm>
            <a:off x="731520" y="5623560"/>
            <a:ext cx="10515600" cy="457200"/>
          </a:xfrm>
          <a:prstGeom prst="rect">
            <a:avLst/>
          </a:prstGeom>
          <a:noFill/>
          <a:ln/>
        </p:spPr>
        <p:txBody>
          <a:bodyPr wrap="square" rtlCol="0" anchor="t"/>
          <a:lstStyle/>
          <a:p>
            <a:pPr algn="l" indent="0" marL="0">
              <a:buNone/>
            </a:pPr>
            <a:r>
              <a:rPr lang="en-US" sz="1500" i="1" dirty="0">
                <a:solidFill>
                  <a:srgbClr val="0066FF"/>
                </a:solidFill>
                <a:latin typeface="Plus Jakarta Sans" pitchFamily="34" charset="0"/>
                <a:ea typeface="Plus Jakarta Sans" pitchFamily="34" charset="-122"/>
                <a:cs typeface="Plus Jakarta Sans" pitchFamily="34" charset="-120"/>
              </a:rPr>
              <a:t>Markdown remains the most universally understood format across every major model — that's the honest answer, not a ranking.</a:t>
            </a:r>
            <a:endParaRPr lang="en-US" sz="1500" dirty="0"/>
          </a:p>
        </p:txBody>
      </p:sp>
      <p:sp>
        <p:nvSpPr>
          <p:cNvPr id="21" name="Shape 16"/>
          <p:cNvSpPr/>
          <p:nvPr/>
        </p:nvSpPr>
        <p:spPr>
          <a:xfrm>
            <a:off x="457200" y="6446520"/>
            <a:ext cx="11277295" cy="0"/>
          </a:xfrm>
          <a:prstGeom prst="line">
            <a:avLst/>
          </a:prstGeom>
          <a:noFill/>
          <a:ln w="9525">
            <a:solidFill>
              <a:srgbClr val="D5DDEA"/>
            </a:solidFill>
            <a:prstDash val="solid"/>
          </a:ln>
        </p:spPr>
      </p:sp>
      <p:sp>
        <p:nvSpPr>
          <p:cNvPr id="22" name="Text 17"/>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28 / 35</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CONTEXT &amp; TOKENS</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DEFINITION</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0A1628"/>
                </a:solidFill>
                <a:latin typeface="Oswald" pitchFamily="34" charset="0"/>
                <a:ea typeface="Oswald" pitchFamily="34" charset="-122"/>
                <a:cs typeface="Oswald" pitchFamily="34" charset="-120"/>
              </a:rPr>
              <a:t>Quick Primer: What Is a Token?</a:t>
            </a:r>
            <a:endParaRPr lang="en-US" sz="3400" dirty="0"/>
          </a:p>
        </p:txBody>
      </p:sp>
      <p:pic>
        <p:nvPicPr>
          <p:cNvPr id="5" name="Image 0" descr="icons/puzzlePiece-blue.png">    </p:cNvPr>
          <p:cNvPicPr>
            <a:picLocks noChangeAspect="1"/>
          </p:cNvPicPr>
          <p:nvPr/>
        </p:nvPicPr>
        <p:blipFill>
          <a:blip r:embed="rId1"/>
          <a:stretch>
            <a:fillRect/>
          </a:stretch>
        </p:blipFill>
        <p:spPr>
          <a:xfrm>
            <a:off x="457200" y="1965960"/>
            <a:ext cx="548640" cy="548640"/>
          </a:xfrm>
          <a:prstGeom prst="rect">
            <a:avLst/>
          </a:prstGeom>
        </p:spPr>
      </p:pic>
      <p:sp>
        <p:nvSpPr>
          <p:cNvPr id="6" name="Text 3"/>
          <p:cNvSpPr/>
          <p:nvPr/>
        </p:nvSpPr>
        <p:spPr>
          <a:xfrm>
            <a:off x="457200" y="2743200"/>
            <a:ext cx="5212080" cy="2011680"/>
          </a:xfrm>
          <a:prstGeom prst="rect">
            <a:avLst/>
          </a:prstGeom>
          <a:noFill/>
          <a:ln/>
        </p:spPr>
        <p:txBody>
          <a:bodyPr wrap="square" rtlCol="0" anchor="t"/>
          <a:lstStyle/>
          <a:p>
            <a:pPr algn="l" indent="0" marL="0">
              <a:lnSpc>
                <a:spcPts val="2500"/>
              </a:lnSpc>
              <a:buNone/>
            </a:pPr>
            <a:r>
              <a:rPr lang="en-US" sz="1700" dirty="0">
                <a:solidFill>
                  <a:srgbClr val="0A1628"/>
                </a:solidFill>
                <a:latin typeface="Plus Jakarta Sans" pitchFamily="34" charset="0"/>
                <a:ea typeface="Plus Jakarta Sans" pitchFamily="34" charset="-122"/>
                <a:cs typeface="Plus Jakarta Sans" pitchFamily="34" charset="-120"/>
              </a:rPr>
              <a:t>Tokens are the small pieces of text an AI processes instead of whole words or sentences. Every prompt, document, code file, and response is converted into tokens before the model reads or writes.</a:t>
            </a:r>
            <a:endParaRPr lang="en-US" sz="1700" dirty="0"/>
          </a:p>
        </p:txBody>
      </p:sp>
      <p:sp>
        <p:nvSpPr>
          <p:cNvPr id="7" name="Text 4"/>
          <p:cNvSpPr/>
          <p:nvPr/>
        </p:nvSpPr>
        <p:spPr>
          <a:xfrm>
            <a:off x="457200" y="4892040"/>
            <a:ext cx="5212080" cy="731520"/>
          </a:xfrm>
          <a:prstGeom prst="rect">
            <a:avLst/>
          </a:prstGeom>
          <a:noFill/>
          <a:ln/>
        </p:spPr>
        <p:txBody>
          <a:bodyPr wrap="square" lIns="0" tIns="0" rIns="0" bIns="0" rtlCol="0" anchor="t"/>
          <a:lstStyle/>
          <a:p>
            <a:pPr algn="l" indent="0" marL="0">
              <a:buNone/>
            </a:pPr>
            <a:r>
              <a:rPr lang="en-US" sz="1500" i="1" dirty="0">
                <a:solidFill>
                  <a:srgbClr val="3D4759"/>
                </a:solidFill>
                <a:latin typeface="Plus Jakarta Sans" pitchFamily="34" charset="0"/>
                <a:ea typeface="Plus Jakarta Sans" pitchFamily="34" charset="-122"/>
                <a:cs typeface="Plus Jakarta Sans" pitchFamily="34" charset="-120"/>
              </a:rPr>
              <a:t>The only thing that matters downstream: tokens are why context windows have a limit at all.</a:t>
            </a:r>
            <a:endParaRPr lang="en-US" sz="1500" dirty="0"/>
          </a:p>
        </p:txBody>
      </p:sp>
      <p:sp>
        <p:nvSpPr>
          <p:cNvPr id="8" name="Shape 5"/>
          <p:cNvSpPr/>
          <p:nvPr/>
        </p:nvSpPr>
        <p:spPr>
          <a:xfrm>
            <a:off x="6309360" y="2011680"/>
            <a:ext cx="5394960" cy="868680"/>
          </a:xfrm>
          <a:prstGeom prst="roundRect">
            <a:avLst>
              <a:gd name="adj" fmla="val 10526"/>
            </a:avLst>
          </a:prstGeom>
          <a:solidFill>
            <a:srgbClr val="0A1628"/>
          </a:solidFill>
          <a:ln/>
        </p:spPr>
      </p:sp>
      <p:sp>
        <p:nvSpPr>
          <p:cNvPr id="9" name="Text 6"/>
          <p:cNvSpPr/>
          <p:nvPr/>
        </p:nvSpPr>
        <p:spPr>
          <a:xfrm>
            <a:off x="6492240" y="2011680"/>
            <a:ext cx="5029200" cy="868680"/>
          </a:xfrm>
          <a:prstGeom prst="rect">
            <a:avLst/>
          </a:prstGeom>
          <a:noFill/>
          <a:ln/>
        </p:spPr>
        <p:txBody>
          <a:bodyPr wrap="square" lIns="0" tIns="0" rIns="0" bIns="0" rtlCol="0" anchor="ctr"/>
          <a:lstStyle/>
          <a:p>
            <a:pPr algn="ctr" indent="0" marL="0">
              <a:buNone/>
            </a:pPr>
            <a:r>
              <a:rPr lang="en-US" sz="1800" i="1" dirty="0">
                <a:solidFill>
                  <a:srgbClr val="FFFFFF"/>
                </a:solidFill>
                <a:latin typeface="Plus Jakarta Sans" pitchFamily="34" charset="0"/>
                <a:ea typeface="Plus Jakarta Sans" pitchFamily="34" charset="-122"/>
                <a:cs typeface="Plus Jakarta Sans" pitchFamily="34" charset="-120"/>
              </a:rPr>
              <a:t>"AI Agent Building 101"</a:t>
            </a:r>
            <a:endParaRPr lang="en-US" sz="1800" dirty="0"/>
          </a:p>
        </p:txBody>
      </p:sp>
      <p:sp>
        <p:nvSpPr>
          <p:cNvPr id="10" name="Text 7"/>
          <p:cNvSpPr/>
          <p:nvPr/>
        </p:nvSpPr>
        <p:spPr>
          <a:xfrm>
            <a:off x="6309360" y="3017520"/>
            <a:ext cx="5394960" cy="365760"/>
          </a:xfrm>
          <a:prstGeom prst="rect">
            <a:avLst/>
          </a:prstGeom>
          <a:noFill/>
          <a:ln/>
        </p:spPr>
        <p:txBody>
          <a:bodyPr wrap="square" lIns="0" tIns="0" rIns="0" bIns="0" rtlCol="0" anchor="ctr"/>
          <a:lstStyle/>
          <a:p>
            <a:pPr algn="ctr" indent="0" marL="0">
              <a:buNone/>
            </a:pPr>
            <a:r>
              <a:rPr lang="en-US" sz="1300" dirty="0">
                <a:solidFill>
                  <a:srgbClr val="3D4759"/>
                </a:solidFill>
                <a:latin typeface="Plus Jakarta Sans" pitchFamily="34" charset="0"/>
                <a:ea typeface="Plus Jakarta Sans" pitchFamily="34" charset="-122"/>
                <a:cs typeface="Plus Jakarta Sans" pitchFamily="34" charset="-120"/>
              </a:rPr>
              <a:t>splits into tokens</a:t>
            </a:r>
            <a:endParaRPr lang="en-US" sz="1300" dirty="0"/>
          </a:p>
        </p:txBody>
      </p:sp>
      <p:pic>
        <p:nvPicPr>
          <p:cNvPr id="11" name="Image 1" descr="icons/arrowRight-slate.png">    </p:cNvPr>
          <p:cNvPicPr>
            <a:picLocks noChangeAspect="1"/>
          </p:cNvPicPr>
          <p:nvPr/>
        </p:nvPicPr>
        <p:blipFill>
          <a:blip r:embed="rId2"/>
          <a:stretch>
            <a:fillRect/>
          </a:stretch>
        </p:blipFill>
        <p:spPr>
          <a:xfrm>
            <a:off x="8842248" y="3401568"/>
            <a:ext cx="329184" cy="329184"/>
          </a:xfrm>
          <a:prstGeom prst="rect">
            <a:avLst/>
          </a:prstGeom>
        </p:spPr>
      </p:pic>
      <p:sp>
        <p:nvSpPr>
          <p:cNvPr id="12" name="Shape 8"/>
          <p:cNvSpPr/>
          <p:nvPr/>
        </p:nvSpPr>
        <p:spPr>
          <a:xfrm>
            <a:off x="6309360" y="3931920"/>
            <a:ext cx="969264" cy="777240"/>
          </a:xfrm>
          <a:prstGeom prst="roundRect">
            <a:avLst>
              <a:gd name="adj" fmla="val 9412"/>
            </a:avLst>
          </a:prstGeom>
          <a:solidFill>
            <a:srgbClr val="0066FF"/>
          </a:solidFill>
          <a:ln/>
        </p:spPr>
      </p:sp>
      <p:sp>
        <p:nvSpPr>
          <p:cNvPr id="13" name="Text 9"/>
          <p:cNvSpPr/>
          <p:nvPr/>
        </p:nvSpPr>
        <p:spPr>
          <a:xfrm>
            <a:off x="6309360" y="3931920"/>
            <a:ext cx="969264" cy="777240"/>
          </a:xfrm>
          <a:prstGeom prst="rect">
            <a:avLst/>
          </a:prstGeom>
          <a:noFill/>
          <a:ln/>
        </p:spPr>
        <p:txBody>
          <a:bodyPr wrap="square" lIns="0" tIns="0" rIns="0" bIns="0" rtlCol="0" anchor="ctr"/>
          <a:lstStyle/>
          <a:p>
            <a:pPr algn="ctr" indent="0" marL="0">
              <a:buNone/>
            </a:pPr>
            <a:r>
              <a:rPr lang="en-US" sz="1400" dirty="0">
                <a:solidFill>
                  <a:srgbClr val="FFFFFF"/>
                </a:solidFill>
                <a:latin typeface="Plus Jakarta Sans" pitchFamily="34" charset="0"/>
                <a:ea typeface="Plus Jakarta Sans" pitchFamily="34" charset="-122"/>
                <a:cs typeface="Plus Jakarta Sans" pitchFamily="34" charset="-120"/>
              </a:rPr>
              <a:t>AI</a:t>
            </a:r>
            <a:endParaRPr lang="en-US" sz="1400" dirty="0"/>
          </a:p>
        </p:txBody>
      </p:sp>
      <p:sp>
        <p:nvSpPr>
          <p:cNvPr id="14" name="Shape 10"/>
          <p:cNvSpPr/>
          <p:nvPr/>
        </p:nvSpPr>
        <p:spPr>
          <a:xfrm>
            <a:off x="7415784" y="3931920"/>
            <a:ext cx="969264" cy="777240"/>
          </a:xfrm>
          <a:prstGeom prst="roundRect">
            <a:avLst>
              <a:gd name="adj" fmla="val 9412"/>
            </a:avLst>
          </a:prstGeom>
          <a:solidFill>
            <a:srgbClr val="0A1628"/>
          </a:solidFill>
          <a:ln/>
        </p:spPr>
      </p:sp>
      <p:sp>
        <p:nvSpPr>
          <p:cNvPr id="15" name="Text 11"/>
          <p:cNvSpPr/>
          <p:nvPr/>
        </p:nvSpPr>
        <p:spPr>
          <a:xfrm>
            <a:off x="7415784" y="3931920"/>
            <a:ext cx="969264" cy="777240"/>
          </a:xfrm>
          <a:prstGeom prst="rect">
            <a:avLst/>
          </a:prstGeom>
          <a:noFill/>
          <a:ln/>
        </p:spPr>
        <p:txBody>
          <a:bodyPr wrap="square" lIns="0" tIns="0" rIns="0" bIns="0" rtlCol="0" anchor="ctr"/>
          <a:lstStyle/>
          <a:p>
            <a:pPr algn="ctr" indent="0" marL="0">
              <a:buNone/>
            </a:pPr>
            <a:r>
              <a:rPr lang="en-US" sz="1400" dirty="0">
                <a:solidFill>
                  <a:srgbClr val="FFFFFF"/>
                </a:solidFill>
                <a:latin typeface="Plus Jakarta Sans" pitchFamily="34" charset="0"/>
                <a:ea typeface="Plus Jakarta Sans" pitchFamily="34" charset="-122"/>
                <a:cs typeface="Plus Jakarta Sans" pitchFamily="34" charset="-120"/>
              </a:rPr>
              <a:t>Agent</a:t>
            </a:r>
            <a:endParaRPr lang="en-US" sz="1400" dirty="0"/>
          </a:p>
        </p:txBody>
      </p:sp>
      <p:sp>
        <p:nvSpPr>
          <p:cNvPr id="16" name="Shape 12"/>
          <p:cNvSpPr/>
          <p:nvPr/>
        </p:nvSpPr>
        <p:spPr>
          <a:xfrm>
            <a:off x="8522208" y="3931920"/>
            <a:ext cx="969264" cy="777240"/>
          </a:xfrm>
          <a:prstGeom prst="roundRect">
            <a:avLst>
              <a:gd name="adj" fmla="val 9412"/>
            </a:avLst>
          </a:prstGeom>
          <a:solidFill>
            <a:srgbClr val="3D4759"/>
          </a:solidFill>
          <a:ln/>
        </p:spPr>
      </p:sp>
      <p:sp>
        <p:nvSpPr>
          <p:cNvPr id="17" name="Text 13"/>
          <p:cNvSpPr/>
          <p:nvPr/>
        </p:nvSpPr>
        <p:spPr>
          <a:xfrm>
            <a:off x="8522208" y="3931920"/>
            <a:ext cx="969264" cy="777240"/>
          </a:xfrm>
          <a:prstGeom prst="rect">
            <a:avLst/>
          </a:prstGeom>
          <a:noFill/>
          <a:ln/>
        </p:spPr>
        <p:txBody>
          <a:bodyPr wrap="square" lIns="0" tIns="0" rIns="0" bIns="0" rtlCol="0" anchor="ctr"/>
          <a:lstStyle/>
          <a:p>
            <a:pPr algn="ctr" indent="0" marL="0">
              <a:buNone/>
            </a:pPr>
            <a:r>
              <a:rPr lang="en-US" sz="1400" dirty="0">
                <a:solidFill>
                  <a:srgbClr val="FFFFFF"/>
                </a:solidFill>
                <a:latin typeface="Plus Jakarta Sans" pitchFamily="34" charset="0"/>
                <a:ea typeface="Plus Jakarta Sans" pitchFamily="34" charset="-122"/>
                <a:cs typeface="Plus Jakarta Sans" pitchFamily="34" charset="-120"/>
              </a:rPr>
              <a:t>Build</a:t>
            </a:r>
            <a:endParaRPr lang="en-US" sz="1400" dirty="0"/>
          </a:p>
        </p:txBody>
      </p:sp>
      <p:sp>
        <p:nvSpPr>
          <p:cNvPr id="18" name="Shape 14"/>
          <p:cNvSpPr/>
          <p:nvPr/>
        </p:nvSpPr>
        <p:spPr>
          <a:xfrm>
            <a:off x="9628632" y="3931920"/>
            <a:ext cx="969264" cy="777240"/>
          </a:xfrm>
          <a:prstGeom prst="roundRect">
            <a:avLst>
              <a:gd name="adj" fmla="val 9412"/>
            </a:avLst>
          </a:prstGeom>
          <a:solidFill>
            <a:srgbClr val="0066FF"/>
          </a:solidFill>
          <a:ln/>
        </p:spPr>
      </p:sp>
      <p:sp>
        <p:nvSpPr>
          <p:cNvPr id="19" name="Text 15"/>
          <p:cNvSpPr/>
          <p:nvPr/>
        </p:nvSpPr>
        <p:spPr>
          <a:xfrm>
            <a:off x="9628632" y="3931920"/>
            <a:ext cx="969264" cy="777240"/>
          </a:xfrm>
          <a:prstGeom prst="rect">
            <a:avLst/>
          </a:prstGeom>
          <a:noFill/>
          <a:ln/>
        </p:spPr>
        <p:txBody>
          <a:bodyPr wrap="square" lIns="0" tIns="0" rIns="0" bIns="0" rtlCol="0" anchor="ctr"/>
          <a:lstStyle/>
          <a:p>
            <a:pPr algn="ctr" indent="0" marL="0">
              <a:buNone/>
            </a:pPr>
            <a:r>
              <a:rPr lang="en-US" sz="1400" dirty="0">
                <a:solidFill>
                  <a:srgbClr val="FFFFFF"/>
                </a:solidFill>
                <a:latin typeface="Plus Jakarta Sans" pitchFamily="34" charset="0"/>
                <a:ea typeface="Plus Jakarta Sans" pitchFamily="34" charset="-122"/>
                <a:cs typeface="Plus Jakarta Sans" pitchFamily="34" charset="-120"/>
              </a:rPr>
              <a:t>ing</a:t>
            </a:r>
            <a:endParaRPr lang="en-US" sz="1400" dirty="0"/>
          </a:p>
        </p:txBody>
      </p:sp>
      <p:sp>
        <p:nvSpPr>
          <p:cNvPr id="20" name="Shape 16"/>
          <p:cNvSpPr/>
          <p:nvPr/>
        </p:nvSpPr>
        <p:spPr>
          <a:xfrm>
            <a:off x="10735056" y="3931920"/>
            <a:ext cx="969264" cy="777240"/>
          </a:xfrm>
          <a:prstGeom prst="roundRect">
            <a:avLst>
              <a:gd name="adj" fmla="val 9412"/>
            </a:avLst>
          </a:prstGeom>
          <a:solidFill>
            <a:srgbClr val="0A1628"/>
          </a:solidFill>
          <a:ln/>
        </p:spPr>
      </p:sp>
      <p:sp>
        <p:nvSpPr>
          <p:cNvPr id="21" name="Text 17"/>
          <p:cNvSpPr/>
          <p:nvPr/>
        </p:nvSpPr>
        <p:spPr>
          <a:xfrm>
            <a:off x="10735056" y="3931920"/>
            <a:ext cx="969264" cy="777240"/>
          </a:xfrm>
          <a:prstGeom prst="rect">
            <a:avLst/>
          </a:prstGeom>
          <a:noFill/>
          <a:ln/>
        </p:spPr>
        <p:txBody>
          <a:bodyPr wrap="square" lIns="0" tIns="0" rIns="0" bIns="0" rtlCol="0" anchor="ctr"/>
          <a:lstStyle/>
          <a:p>
            <a:pPr algn="ctr" indent="0" marL="0">
              <a:buNone/>
            </a:pPr>
            <a:r>
              <a:rPr lang="en-US" sz="1400" dirty="0">
                <a:solidFill>
                  <a:srgbClr val="FFFFFF"/>
                </a:solidFill>
                <a:latin typeface="Plus Jakarta Sans" pitchFamily="34" charset="0"/>
                <a:ea typeface="Plus Jakarta Sans" pitchFamily="34" charset="-122"/>
                <a:cs typeface="Plus Jakarta Sans" pitchFamily="34" charset="-120"/>
              </a:rPr>
              <a:t>101</a:t>
            </a:r>
            <a:endParaRPr lang="en-US" sz="1400" dirty="0"/>
          </a:p>
        </p:txBody>
      </p:sp>
      <p:sp>
        <p:nvSpPr>
          <p:cNvPr id="22" name="Text 18"/>
          <p:cNvSpPr/>
          <p:nvPr/>
        </p:nvSpPr>
        <p:spPr>
          <a:xfrm>
            <a:off x="6309360" y="4892040"/>
            <a:ext cx="5394960" cy="365760"/>
          </a:xfrm>
          <a:prstGeom prst="rect">
            <a:avLst/>
          </a:prstGeom>
          <a:noFill/>
          <a:ln/>
        </p:spPr>
        <p:txBody>
          <a:bodyPr wrap="square" lIns="0" tIns="0" rIns="0" bIns="0" rtlCol="0" anchor="t"/>
          <a:lstStyle/>
          <a:p>
            <a:pPr algn="ctr" indent="0" marL="0">
              <a:buNone/>
            </a:pPr>
            <a:r>
              <a:rPr lang="en-US" sz="1200" i="1" dirty="0">
                <a:solidFill>
                  <a:srgbClr val="3D4759"/>
                </a:solidFill>
                <a:latin typeface="Plus Jakarta Sans" pitchFamily="34" charset="0"/>
                <a:ea typeface="Plus Jakarta Sans" pitchFamily="34" charset="-122"/>
                <a:cs typeface="Plus Jakarta Sans" pitchFamily="34" charset="-120"/>
              </a:rPr>
              <a:t>Each colored chip represents one token</a:t>
            </a:r>
            <a:endParaRPr lang="en-US" sz="1200" dirty="0"/>
          </a:p>
        </p:txBody>
      </p:sp>
      <p:sp>
        <p:nvSpPr>
          <p:cNvPr id="23" name="Shape 19"/>
          <p:cNvSpPr/>
          <p:nvPr/>
        </p:nvSpPr>
        <p:spPr>
          <a:xfrm>
            <a:off x="457200" y="6446520"/>
            <a:ext cx="11277295" cy="0"/>
          </a:xfrm>
          <a:prstGeom prst="line">
            <a:avLst/>
          </a:prstGeom>
          <a:noFill/>
          <a:ln w="9525">
            <a:solidFill>
              <a:srgbClr val="D5DDEA"/>
            </a:solidFill>
            <a:prstDash val="solid"/>
          </a:ln>
        </p:spPr>
      </p:sp>
      <p:sp>
        <p:nvSpPr>
          <p:cNvPr id="24" name="Text 20"/>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29 / 35</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CONTEXT &amp; TOKENS</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SCALE</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0A1628"/>
                </a:solidFill>
                <a:latin typeface="Oswald" pitchFamily="34" charset="0"/>
                <a:ea typeface="Oswald" pitchFamily="34" charset="-122"/>
                <a:cs typeface="Oswald" pitchFamily="34" charset="-120"/>
              </a:rPr>
              <a:t>Token Usage Varies by Task</a:t>
            </a:r>
            <a:endParaRPr lang="en-US" sz="3400" dirty="0"/>
          </a:p>
        </p:txBody>
      </p:sp>
      <p:pic>
        <p:nvPicPr>
          <p:cNvPr id="5" name="Image 0" descr="icons/chartLine-blue.png">    </p:cNvPr>
          <p:cNvPicPr>
            <a:picLocks noChangeAspect="1"/>
          </p:cNvPicPr>
          <p:nvPr/>
        </p:nvPicPr>
        <p:blipFill>
          <a:blip r:embed="rId1"/>
          <a:stretch>
            <a:fillRect/>
          </a:stretch>
        </p:blipFill>
        <p:spPr>
          <a:xfrm>
            <a:off x="457200" y="1965960"/>
            <a:ext cx="457200" cy="457200"/>
          </a:xfrm>
          <a:prstGeom prst="rect">
            <a:avLst/>
          </a:prstGeom>
        </p:spPr>
      </p:pic>
      <p:sp>
        <p:nvSpPr>
          <p:cNvPr id="6" name="Text 3"/>
          <p:cNvSpPr/>
          <p:nvPr/>
        </p:nvSpPr>
        <p:spPr>
          <a:xfrm>
            <a:off x="457200" y="2743200"/>
            <a:ext cx="1554480" cy="502920"/>
          </a:xfrm>
          <a:prstGeom prst="rect">
            <a:avLst/>
          </a:prstGeom>
          <a:noFill/>
          <a:ln/>
        </p:spPr>
        <p:txBody>
          <a:bodyPr wrap="square" lIns="0" tIns="0" rIns="0" bIns="0" rtlCol="0" anchor="ctr"/>
          <a:lstStyle/>
          <a:p>
            <a:pPr algn="l" indent="0" marL="0">
              <a:buNone/>
            </a:pPr>
            <a:r>
              <a:rPr lang="en-US" sz="1400" dirty="0">
                <a:solidFill>
                  <a:srgbClr val="0A1628"/>
                </a:solidFill>
                <a:latin typeface="Plus Jakarta Sans" pitchFamily="34" charset="0"/>
                <a:ea typeface="Plus Jakarta Sans" pitchFamily="34" charset="-122"/>
                <a:cs typeface="Plus Jakarta Sans" pitchFamily="34" charset="-120"/>
              </a:rPr>
              <a:t>Short Prompt</a:t>
            </a:r>
            <a:endParaRPr lang="en-US" sz="1400" dirty="0"/>
          </a:p>
        </p:txBody>
      </p:sp>
      <p:sp>
        <p:nvSpPr>
          <p:cNvPr id="7" name="Shape 4"/>
          <p:cNvSpPr/>
          <p:nvPr/>
        </p:nvSpPr>
        <p:spPr>
          <a:xfrm>
            <a:off x="2103120" y="2743200"/>
            <a:ext cx="6949440" cy="502920"/>
          </a:xfrm>
          <a:prstGeom prst="roundRect">
            <a:avLst>
              <a:gd name="adj" fmla="val 10909"/>
            </a:avLst>
          </a:prstGeom>
          <a:solidFill>
            <a:srgbClr val="3D4759">
              <a:alpha val="12000"/>
            </a:srgbClr>
          </a:solidFill>
          <a:ln/>
        </p:spPr>
      </p:sp>
      <p:sp>
        <p:nvSpPr>
          <p:cNvPr id="8" name="Shape 5"/>
          <p:cNvSpPr/>
          <p:nvPr/>
        </p:nvSpPr>
        <p:spPr>
          <a:xfrm>
            <a:off x="2103120" y="2743200"/>
            <a:ext cx="1463040" cy="502920"/>
          </a:xfrm>
          <a:prstGeom prst="roundRect">
            <a:avLst>
              <a:gd name="adj" fmla="val 10909"/>
            </a:avLst>
          </a:prstGeom>
          <a:solidFill>
            <a:srgbClr val="0066FF">
              <a:alpha val="25000"/>
            </a:srgbClr>
          </a:solidFill>
          <a:ln/>
        </p:spPr>
      </p:sp>
      <p:sp>
        <p:nvSpPr>
          <p:cNvPr id="9" name="Text 6"/>
          <p:cNvSpPr/>
          <p:nvPr/>
        </p:nvSpPr>
        <p:spPr>
          <a:xfrm>
            <a:off x="457200" y="3538728"/>
            <a:ext cx="1554480" cy="502920"/>
          </a:xfrm>
          <a:prstGeom prst="rect">
            <a:avLst/>
          </a:prstGeom>
          <a:noFill/>
          <a:ln/>
        </p:spPr>
        <p:txBody>
          <a:bodyPr wrap="square" lIns="0" tIns="0" rIns="0" bIns="0" rtlCol="0" anchor="ctr"/>
          <a:lstStyle/>
          <a:p>
            <a:pPr algn="l" indent="0" marL="0">
              <a:buNone/>
            </a:pPr>
            <a:r>
              <a:rPr lang="en-US" sz="1400" dirty="0">
                <a:solidFill>
                  <a:srgbClr val="0A1628"/>
                </a:solidFill>
                <a:latin typeface="Plus Jakarta Sans" pitchFamily="34" charset="0"/>
                <a:ea typeface="Plus Jakarta Sans" pitchFamily="34" charset="-122"/>
                <a:cs typeface="Plus Jakarta Sans" pitchFamily="34" charset="-120"/>
              </a:rPr>
              <a:t>Email Draft</a:t>
            </a:r>
            <a:endParaRPr lang="en-US" sz="1400" dirty="0"/>
          </a:p>
        </p:txBody>
      </p:sp>
      <p:sp>
        <p:nvSpPr>
          <p:cNvPr id="10" name="Shape 7"/>
          <p:cNvSpPr/>
          <p:nvPr/>
        </p:nvSpPr>
        <p:spPr>
          <a:xfrm>
            <a:off x="2103120" y="3538728"/>
            <a:ext cx="6949440" cy="502920"/>
          </a:xfrm>
          <a:prstGeom prst="roundRect">
            <a:avLst>
              <a:gd name="adj" fmla="val 10909"/>
            </a:avLst>
          </a:prstGeom>
          <a:solidFill>
            <a:srgbClr val="3D4759">
              <a:alpha val="12000"/>
            </a:srgbClr>
          </a:solidFill>
          <a:ln/>
        </p:spPr>
      </p:sp>
      <p:sp>
        <p:nvSpPr>
          <p:cNvPr id="11" name="Shape 8"/>
          <p:cNvSpPr/>
          <p:nvPr/>
        </p:nvSpPr>
        <p:spPr>
          <a:xfrm>
            <a:off x="2103120" y="3538728"/>
            <a:ext cx="3108960" cy="502920"/>
          </a:xfrm>
          <a:prstGeom prst="roundRect">
            <a:avLst>
              <a:gd name="adj" fmla="val 10909"/>
            </a:avLst>
          </a:prstGeom>
          <a:solidFill>
            <a:srgbClr val="0066FF">
              <a:alpha val="45000"/>
            </a:srgbClr>
          </a:solidFill>
          <a:ln/>
        </p:spPr>
      </p:sp>
      <p:sp>
        <p:nvSpPr>
          <p:cNvPr id="12" name="Text 9"/>
          <p:cNvSpPr/>
          <p:nvPr/>
        </p:nvSpPr>
        <p:spPr>
          <a:xfrm>
            <a:off x="457200" y="4334256"/>
            <a:ext cx="1554480" cy="502920"/>
          </a:xfrm>
          <a:prstGeom prst="rect">
            <a:avLst/>
          </a:prstGeom>
          <a:noFill/>
          <a:ln/>
        </p:spPr>
        <p:txBody>
          <a:bodyPr wrap="square" lIns="0" tIns="0" rIns="0" bIns="0" rtlCol="0" anchor="ctr"/>
          <a:lstStyle/>
          <a:p>
            <a:pPr algn="l" indent="0" marL="0">
              <a:buNone/>
            </a:pPr>
            <a:r>
              <a:rPr lang="en-US" sz="1400" dirty="0">
                <a:solidFill>
                  <a:srgbClr val="0A1628"/>
                </a:solidFill>
                <a:latin typeface="Plus Jakarta Sans" pitchFamily="34" charset="0"/>
                <a:ea typeface="Plus Jakarta Sans" pitchFamily="34" charset="-122"/>
                <a:cs typeface="Plus Jakarta Sans" pitchFamily="34" charset="-120"/>
              </a:rPr>
              <a:t>Code File</a:t>
            </a:r>
            <a:endParaRPr lang="en-US" sz="1400" dirty="0"/>
          </a:p>
        </p:txBody>
      </p:sp>
      <p:sp>
        <p:nvSpPr>
          <p:cNvPr id="13" name="Shape 10"/>
          <p:cNvSpPr/>
          <p:nvPr/>
        </p:nvSpPr>
        <p:spPr>
          <a:xfrm>
            <a:off x="2103120" y="4334256"/>
            <a:ext cx="6949440" cy="502920"/>
          </a:xfrm>
          <a:prstGeom prst="roundRect">
            <a:avLst>
              <a:gd name="adj" fmla="val 10909"/>
            </a:avLst>
          </a:prstGeom>
          <a:solidFill>
            <a:srgbClr val="3D4759">
              <a:alpha val="12000"/>
            </a:srgbClr>
          </a:solidFill>
          <a:ln/>
        </p:spPr>
      </p:sp>
      <p:sp>
        <p:nvSpPr>
          <p:cNvPr id="14" name="Shape 11"/>
          <p:cNvSpPr/>
          <p:nvPr/>
        </p:nvSpPr>
        <p:spPr>
          <a:xfrm>
            <a:off x="2103120" y="4334256"/>
            <a:ext cx="4937760" cy="502920"/>
          </a:xfrm>
          <a:prstGeom prst="roundRect">
            <a:avLst>
              <a:gd name="adj" fmla="val 10909"/>
            </a:avLst>
          </a:prstGeom>
          <a:solidFill>
            <a:srgbClr val="0066FF">
              <a:alpha val="70000"/>
            </a:srgbClr>
          </a:solidFill>
          <a:ln/>
        </p:spPr>
      </p:sp>
      <p:sp>
        <p:nvSpPr>
          <p:cNvPr id="15" name="Text 12"/>
          <p:cNvSpPr/>
          <p:nvPr/>
        </p:nvSpPr>
        <p:spPr>
          <a:xfrm>
            <a:off x="457200" y="5129784"/>
            <a:ext cx="1554480" cy="502920"/>
          </a:xfrm>
          <a:prstGeom prst="rect">
            <a:avLst/>
          </a:prstGeom>
          <a:noFill/>
          <a:ln/>
        </p:spPr>
        <p:txBody>
          <a:bodyPr wrap="square" lIns="0" tIns="0" rIns="0" bIns="0" rtlCol="0" anchor="ctr"/>
          <a:lstStyle/>
          <a:p>
            <a:pPr algn="l" indent="0" marL="0">
              <a:buNone/>
            </a:pPr>
            <a:r>
              <a:rPr lang="en-US" sz="1400" dirty="0">
                <a:solidFill>
                  <a:srgbClr val="0A1628"/>
                </a:solidFill>
                <a:latin typeface="Plus Jakarta Sans" pitchFamily="34" charset="0"/>
                <a:ea typeface="Plus Jakarta Sans" pitchFamily="34" charset="-122"/>
                <a:cs typeface="Plus Jakarta Sans" pitchFamily="34" charset="-120"/>
              </a:rPr>
              <a:t>Full Document</a:t>
            </a:r>
            <a:endParaRPr lang="en-US" sz="1400" dirty="0"/>
          </a:p>
        </p:txBody>
      </p:sp>
      <p:sp>
        <p:nvSpPr>
          <p:cNvPr id="16" name="Shape 13"/>
          <p:cNvSpPr/>
          <p:nvPr/>
        </p:nvSpPr>
        <p:spPr>
          <a:xfrm>
            <a:off x="2103120" y="5129784"/>
            <a:ext cx="6949440" cy="502920"/>
          </a:xfrm>
          <a:prstGeom prst="roundRect">
            <a:avLst>
              <a:gd name="adj" fmla="val 10909"/>
            </a:avLst>
          </a:prstGeom>
          <a:solidFill>
            <a:srgbClr val="3D4759">
              <a:alpha val="12000"/>
            </a:srgbClr>
          </a:solidFill>
          <a:ln/>
        </p:spPr>
      </p:sp>
      <p:sp>
        <p:nvSpPr>
          <p:cNvPr id="17" name="Shape 14"/>
          <p:cNvSpPr/>
          <p:nvPr/>
        </p:nvSpPr>
        <p:spPr>
          <a:xfrm>
            <a:off x="2103120" y="5129784"/>
            <a:ext cx="6949440" cy="502920"/>
          </a:xfrm>
          <a:prstGeom prst="roundRect">
            <a:avLst>
              <a:gd name="adj" fmla="val 10909"/>
            </a:avLst>
          </a:prstGeom>
          <a:solidFill>
            <a:srgbClr val="0066FF"/>
          </a:solidFill>
          <a:ln/>
        </p:spPr>
      </p:sp>
      <p:sp>
        <p:nvSpPr>
          <p:cNvPr id="18" name="Text 15"/>
          <p:cNvSpPr/>
          <p:nvPr/>
        </p:nvSpPr>
        <p:spPr>
          <a:xfrm>
            <a:off x="457200" y="6062472"/>
            <a:ext cx="8595360" cy="365760"/>
          </a:xfrm>
          <a:prstGeom prst="rect">
            <a:avLst/>
          </a:prstGeom>
          <a:noFill/>
          <a:ln/>
        </p:spPr>
        <p:txBody>
          <a:bodyPr wrap="square" lIns="0" tIns="0" rIns="0" bIns="0" rtlCol="0" anchor="t"/>
          <a:lstStyle/>
          <a:p>
            <a:pPr algn="l" indent="0" marL="0">
              <a:buNone/>
            </a:pPr>
            <a:r>
              <a:rPr lang="en-US" sz="1200" i="1" dirty="0">
                <a:solidFill>
                  <a:srgbClr val="3D4759"/>
                </a:solidFill>
                <a:latin typeface="Plus Jakarta Sans" pitchFamily="34" charset="0"/>
                <a:ea typeface="Plus Jakarta Sans" pitchFamily="34" charset="-122"/>
                <a:cs typeface="Plus Jakarta Sans" pitchFamily="34" charset="-120"/>
              </a:rPr>
              <a:t>Illustrative comparison only — actual token counts vary by content and model tokenizer.</a:t>
            </a:r>
            <a:endParaRPr lang="en-US" sz="1200" dirty="0"/>
          </a:p>
        </p:txBody>
      </p:sp>
      <p:sp>
        <p:nvSpPr>
          <p:cNvPr id="19" name="Shape 16"/>
          <p:cNvSpPr/>
          <p:nvPr/>
        </p:nvSpPr>
        <p:spPr>
          <a:xfrm>
            <a:off x="9235440" y="1965960"/>
            <a:ext cx="36576" cy="3931920"/>
          </a:xfrm>
          <a:prstGeom prst="rect">
            <a:avLst/>
          </a:prstGeom>
          <a:solidFill>
            <a:srgbClr val="D5DDEA"/>
          </a:solidFill>
          <a:ln/>
        </p:spPr>
      </p:sp>
      <p:sp>
        <p:nvSpPr>
          <p:cNvPr id="20" name="Text 17"/>
          <p:cNvSpPr/>
          <p:nvPr/>
        </p:nvSpPr>
        <p:spPr>
          <a:xfrm>
            <a:off x="9464040" y="2011680"/>
            <a:ext cx="2286000" cy="274320"/>
          </a:xfrm>
          <a:prstGeom prst="rect">
            <a:avLst/>
          </a:prstGeom>
          <a:noFill/>
          <a:ln/>
        </p:spPr>
        <p:txBody>
          <a:bodyPr wrap="square" lIns="0" tIns="0" rIns="0" bIns="0" rtlCol="0" anchor="ctr"/>
          <a:lstStyle/>
          <a:p>
            <a:pPr algn="l" indent="0" marL="0">
              <a:buNone/>
            </a:pPr>
            <a:r>
              <a:rPr lang="en-US" sz="1300" b="1" spc="100" kern="0" dirty="0">
                <a:solidFill>
                  <a:srgbClr val="0066FF"/>
                </a:solidFill>
                <a:latin typeface="Oswald" pitchFamily="34" charset="0"/>
                <a:ea typeface="Oswald" pitchFamily="34" charset="-122"/>
                <a:cs typeface="Oswald" pitchFamily="34" charset="-120"/>
              </a:rPr>
              <a:t>KEY TAKEAWAYS</a:t>
            </a:r>
            <a:endParaRPr lang="en-US" sz="1300" dirty="0"/>
          </a:p>
        </p:txBody>
      </p:sp>
      <p:sp>
        <p:nvSpPr>
          <p:cNvPr id="21" name="Shape 18"/>
          <p:cNvSpPr/>
          <p:nvPr/>
        </p:nvSpPr>
        <p:spPr>
          <a:xfrm>
            <a:off x="9464040" y="2596896"/>
            <a:ext cx="128016" cy="128016"/>
          </a:xfrm>
          <a:prstGeom prst="rect">
            <a:avLst/>
          </a:prstGeom>
          <a:solidFill>
            <a:srgbClr val="0066FF"/>
          </a:solidFill>
          <a:ln/>
        </p:spPr>
      </p:sp>
      <p:sp>
        <p:nvSpPr>
          <p:cNvPr id="22" name="Text 19"/>
          <p:cNvSpPr/>
          <p:nvPr/>
        </p:nvSpPr>
        <p:spPr>
          <a:xfrm>
            <a:off x="9738360" y="2514600"/>
            <a:ext cx="2011680" cy="685800"/>
          </a:xfrm>
          <a:prstGeom prst="rect">
            <a:avLst/>
          </a:prstGeom>
          <a:noFill/>
          <a:ln/>
        </p:spPr>
        <p:txBody>
          <a:bodyPr wrap="square" lIns="0" tIns="0" rIns="0" bIns="0" rtlCol="0" anchor="t"/>
          <a:lstStyle/>
          <a:p>
            <a:pPr algn="l" indent="0" marL="0">
              <a:lnSpc>
                <a:spcPts val="1900"/>
              </a:lnSpc>
              <a:buNone/>
            </a:pPr>
            <a:r>
              <a:rPr lang="en-US" sz="1400" dirty="0">
                <a:solidFill>
                  <a:srgbClr val="0A1628"/>
                </a:solidFill>
                <a:latin typeface="Plus Jakarta Sans" pitchFamily="34" charset="0"/>
                <a:ea typeface="Plus Jakarta Sans" pitchFamily="34" charset="-122"/>
                <a:cs typeface="Plus Jakarta Sans" pitchFamily="34" charset="-120"/>
              </a:rPr>
              <a:t>Short answers cost little.</a:t>
            </a:r>
            <a:endParaRPr lang="en-US" sz="1400" dirty="0"/>
          </a:p>
        </p:txBody>
      </p:sp>
      <p:sp>
        <p:nvSpPr>
          <p:cNvPr id="23" name="Shape 20"/>
          <p:cNvSpPr/>
          <p:nvPr/>
        </p:nvSpPr>
        <p:spPr>
          <a:xfrm>
            <a:off x="9464040" y="3465576"/>
            <a:ext cx="128016" cy="128016"/>
          </a:xfrm>
          <a:prstGeom prst="rect">
            <a:avLst/>
          </a:prstGeom>
          <a:solidFill>
            <a:srgbClr val="0066FF"/>
          </a:solidFill>
          <a:ln/>
        </p:spPr>
      </p:sp>
      <p:sp>
        <p:nvSpPr>
          <p:cNvPr id="24" name="Text 21"/>
          <p:cNvSpPr/>
          <p:nvPr/>
        </p:nvSpPr>
        <p:spPr>
          <a:xfrm>
            <a:off x="9738360" y="3383280"/>
            <a:ext cx="2011680" cy="685800"/>
          </a:xfrm>
          <a:prstGeom prst="rect">
            <a:avLst/>
          </a:prstGeom>
          <a:noFill/>
          <a:ln/>
        </p:spPr>
        <p:txBody>
          <a:bodyPr wrap="square" lIns="0" tIns="0" rIns="0" bIns="0" rtlCol="0" anchor="t"/>
          <a:lstStyle/>
          <a:p>
            <a:pPr algn="l" indent="0" marL="0">
              <a:lnSpc>
                <a:spcPts val="1900"/>
              </a:lnSpc>
              <a:buNone/>
            </a:pPr>
            <a:r>
              <a:rPr lang="en-US" sz="1400" dirty="0">
                <a:solidFill>
                  <a:srgbClr val="0A1628"/>
                </a:solidFill>
                <a:latin typeface="Plus Jakarta Sans" pitchFamily="34" charset="0"/>
                <a:ea typeface="Plus Jakarta Sans" pitchFamily="34" charset="-122"/>
                <a:cs typeface="Plus Jakarta Sans" pitchFamily="34" charset="-120"/>
              </a:rPr>
              <a:t>Long documents and code cost the most.</a:t>
            </a:r>
            <a:endParaRPr lang="en-US" sz="1400" dirty="0"/>
          </a:p>
        </p:txBody>
      </p:sp>
      <p:sp>
        <p:nvSpPr>
          <p:cNvPr id="25" name="Shape 22"/>
          <p:cNvSpPr/>
          <p:nvPr/>
        </p:nvSpPr>
        <p:spPr>
          <a:xfrm>
            <a:off x="9464040" y="4334256"/>
            <a:ext cx="128016" cy="128016"/>
          </a:xfrm>
          <a:prstGeom prst="rect">
            <a:avLst/>
          </a:prstGeom>
          <a:solidFill>
            <a:srgbClr val="0066FF"/>
          </a:solidFill>
          <a:ln/>
        </p:spPr>
      </p:sp>
      <p:sp>
        <p:nvSpPr>
          <p:cNvPr id="26" name="Text 23"/>
          <p:cNvSpPr/>
          <p:nvPr/>
        </p:nvSpPr>
        <p:spPr>
          <a:xfrm>
            <a:off x="9738360" y="4251960"/>
            <a:ext cx="2011680" cy="685800"/>
          </a:xfrm>
          <a:prstGeom prst="rect">
            <a:avLst/>
          </a:prstGeom>
          <a:noFill/>
          <a:ln/>
        </p:spPr>
        <p:txBody>
          <a:bodyPr wrap="square" lIns="0" tIns="0" rIns="0" bIns="0" rtlCol="0" anchor="t"/>
          <a:lstStyle/>
          <a:p>
            <a:pPr algn="l" indent="0" marL="0">
              <a:lnSpc>
                <a:spcPts val="1900"/>
              </a:lnSpc>
              <a:buNone/>
            </a:pPr>
            <a:r>
              <a:rPr lang="en-US" sz="1400" dirty="0">
                <a:solidFill>
                  <a:srgbClr val="0A1628"/>
                </a:solidFill>
                <a:latin typeface="Plus Jakarta Sans" pitchFamily="34" charset="0"/>
                <a:ea typeface="Plus Jakarta Sans" pitchFamily="34" charset="-122"/>
                <a:cs typeface="Plus Jakarta Sans" pitchFamily="34" charset="-120"/>
              </a:rPr>
              <a:t>Bigger tasks need bigger context windows.</a:t>
            </a:r>
            <a:endParaRPr lang="en-US" sz="1400" dirty="0"/>
          </a:p>
        </p:txBody>
      </p:sp>
      <p:sp>
        <p:nvSpPr>
          <p:cNvPr id="27" name="Shape 24"/>
          <p:cNvSpPr/>
          <p:nvPr/>
        </p:nvSpPr>
        <p:spPr>
          <a:xfrm>
            <a:off x="457200" y="6446520"/>
            <a:ext cx="11277295" cy="0"/>
          </a:xfrm>
          <a:prstGeom prst="line">
            <a:avLst/>
          </a:prstGeom>
          <a:noFill/>
          <a:ln w="9525">
            <a:solidFill>
              <a:srgbClr val="D5DDEA"/>
            </a:solidFill>
            <a:prstDash val="solid"/>
          </a:ln>
        </p:spPr>
      </p:sp>
      <p:sp>
        <p:nvSpPr>
          <p:cNvPr id="28" name="Text 25"/>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30 / 35</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CONTEXT &amp; TOKENS</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THE NUMBERS</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000" b="1" dirty="0">
                <a:solidFill>
                  <a:srgbClr val="0A1628"/>
                </a:solidFill>
                <a:latin typeface="Oswald" pitchFamily="34" charset="0"/>
                <a:ea typeface="Oswald" pitchFamily="34" charset="-122"/>
                <a:cs typeface="Oswald" pitchFamily="34" charset="-120"/>
              </a:rPr>
              <a:t>Context Windows: Claude App vs. Claude Code</a:t>
            </a:r>
            <a:endParaRPr lang="en-US" sz="3000" dirty="0"/>
          </a:p>
        </p:txBody>
      </p:sp>
      <p:sp>
        <p:nvSpPr>
          <p:cNvPr id="5" name="Shape 3"/>
          <p:cNvSpPr/>
          <p:nvPr/>
        </p:nvSpPr>
        <p:spPr>
          <a:xfrm>
            <a:off x="700888" y="2148840"/>
            <a:ext cx="5212080" cy="3246120"/>
          </a:xfrm>
          <a:prstGeom prst="roundRect">
            <a:avLst>
              <a:gd name="adj" fmla="val 3380"/>
            </a:avLst>
          </a:prstGeom>
          <a:solidFill>
            <a:srgbClr val="FFFFFF"/>
          </a:solidFill>
          <a:ln w="12700">
            <a:solidFill>
              <a:srgbClr val="D5DDEA"/>
            </a:solidFill>
            <a:prstDash val="solid"/>
          </a:ln>
        </p:spPr>
      </p:sp>
      <p:sp>
        <p:nvSpPr>
          <p:cNvPr id="6" name="Shape 4"/>
          <p:cNvSpPr/>
          <p:nvPr/>
        </p:nvSpPr>
        <p:spPr>
          <a:xfrm>
            <a:off x="700888" y="2148840"/>
            <a:ext cx="5212080" cy="109728"/>
          </a:xfrm>
          <a:prstGeom prst="rect">
            <a:avLst/>
          </a:prstGeom>
          <a:solidFill>
            <a:srgbClr val="0066FF"/>
          </a:solidFill>
          <a:ln/>
        </p:spPr>
      </p:sp>
      <p:pic>
        <p:nvPicPr>
          <p:cNvPr id="7" name="Image 0" descr="icons/windowMaximize-navy.png">    </p:cNvPr>
          <p:cNvPicPr>
            <a:picLocks noChangeAspect="1"/>
          </p:cNvPicPr>
          <p:nvPr/>
        </p:nvPicPr>
        <p:blipFill>
          <a:blip r:embed="rId1"/>
          <a:stretch>
            <a:fillRect/>
          </a:stretch>
        </p:blipFill>
        <p:spPr>
          <a:xfrm>
            <a:off x="1066648" y="2560320"/>
            <a:ext cx="502920" cy="502920"/>
          </a:xfrm>
          <a:prstGeom prst="rect">
            <a:avLst/>
          </a:prstGeom>
        </p:spPr>
      </p:pic>
      <p:sp>
        <p:nvSpPr>
          <p:cNvPr id="8" name="Text 5"/>
          <p:cNvSpPr/>
          <p:nvPr/>
        </p:nvSpPr>
        <p:spPr>
          <a:xfrm>
            <a:off x="700888" y="3200400"/>
            <a:ext cx="5212080" cy="1234440"/>
          </a:xfrm>
          <a:prstGeom prst="rect">
            <a:avLst/>
          </a:prstGeom>
          <a:noFill/>
          <a:ln/>
        </p:spPr>
        <p:txBody>
          <a:bodyPr wrap="square" lIns="0" tIns="0" rIns="0" bIns="0" rtlCol="0" anchor="ctr"/>
          <a:lstStyle/>
          <a:p>
            <a:pPr algn="ctr" indent="0" marL="0">
              <a:buNone/>
            </a:pPr>
            <a:r>
              <a:rPr lang="en-US" sz="7200" b="1" dirty="0">
                <a:solidFill>
                  <a:srgbClr val="0066FF"/>
                </a:solidFill>
                <a:latin typeface="Oswald" pitchFamily="34" charset="0"/>
                <a:ea typeface="Oswald" pitchFamily="34" charset="-122"/>
                <a:cs typeface="Oswald" pitchFamily="34" charset="-120"/>
              </a:rPr>
              <a:t>200K</a:t>
            </a:r>
            <a:endParaRPr lang="en-US" sz="7200" dirty="0"/>
          </a:p>
        </p:txBody>
      </p:sp>
      <p:sp>
        <p:nvSpPr>
          <p:cNvPr id="9" name="Text 6"/>
          <p:cNvSpPr/>
          <p:nvPr/>
        </p:nvSpPr>
        <p:spPr>
          <a:xfrm>
            <a:off x="700888" y="4297680"/>
            <a:ext cx="5212080" cy="365760"/>
          </a:xfrm>
          <a:prstGeom prst="rect">
            <a:avLst/>
          </a:prstGeom>
          <a:noFill/>
          <a:ln/>
        </p:spPr>
        <p:txBody>
          <a:bodyPr wrap="square" lIns="0" tIns="0" rIns="0" bIns="0" rtlCol="0" anchor="ctr"/>
          <a:lstStyle/>
          <a:p>
            <a:pPr algn="ctr" indent="0" marL="0">
              <a:buNone/>
            </a:pPr>
            <a:r>
              <a:rPr lang="en-US" sz="1600" dirty="0">
                <a:solidFill>
                  <a:srgbClr val="3D4759"/>
                </a:solidFill>
                <a:latin typeface="Plus Jakarta Sans" pitchFamily="34" charset="0"/>
                <a:ea typeface="Plus Jakarta Sans" pitchFamily="34" charset="-122"/>
                <a:cs typeface="Plus Jakarta Sans" pitchFamily="34" charset="-120"/>
              </a:rPr>
              <a:t>tokens</a:t>
            </a:r>
            <a:endParaRPr lang="en-US" sz="1600" dirty="0"/>
          </a:p>
        </p:txBody>
      </p:sp>
      <p:sp>
        <p:nvSpPr>
          <p:cNvPr id="10" name="Text 7"/>
          <p:cNvSpPr/>
          <p:nvPr/>
        </p:nvSpPr>
        <p:spPr>
          <a:xfrm>
            <a:off x="975208" y="4754880"/>
            <a:ext cx="4663440" cy="365760"/>
          </a:xfrm>
          <a:prstGeom prst="rect">
            <a:avLst/>
          </a:prstGeom>
          <a:noFill/>
          <a:ln/>
        </p:spPr>
        <p:txBody>
          <a:bodyPr wrap="square" lIns="0" tIns="0" rIns="0" bIns="0" rtlCol="0" anchor="ctr"/>
          <a:lstStyle/>
          <a:p>
            <a:pPr algn="ctr" indent="0" marL="0">
              <a:buNone/>
            </a:pPr>
            <a:r>
              <a:rPr lang="en-US" sz="1900" b="1" dirty="0">
                <a:solidFill>
                  <a:srgbClr val="0A1628"/>
                </a:solidFill>
                <a:latin typeface="Oswald" pitchFamily="34" charset="0"/>
                <a:ea typeface="Oswald" pitchFamily="34" charset="-122"/>
                <a:cs typeface="Oswald" pitchFamily="34" charset="-120"/>
              </a:rPr>
              <a:t>Claude App / Browser</a:t>
            </a:r>
            <a:endParaRPr lang="en-US" sz="1900" dirty="0"/>
          </a:p>
        </p:txBody>
      </p:sp>
      <p:sp>
        <p:nvSpPr>
          <p:cNvPr id="11" name="Text 8"/>
          <p:cNvSpPr/>
          <p:nvPr/>
        </p:nvSpPr>
        <p:spPr>
          <a:xfrm>
            <a:off x="975208" y="5074920"/>
            <a:ext cx="4663440" cy="274320"/>
          </a:xfrm>
          <a:prstGeom prst="rect">
            <a:avLst/>
          </a:prstGeom>
          <a:noFill/>
          <a:ln/>
        </p:spPr>
        <p:txBody>
          <a:bodyPr wrap="square" lIns="0" tIns="0" rIns="0" bIns="0" rtlCol="0" anchor="ctr"/>
          <a:lstStyle/>
          <a:p>
            <a:pPr algn="ctr" indent="0" marL="0">
              <a:buNone/>
            </a:pPr>
            <a:r>
              <a:rPr lang="en-US" sz="1300" dirty="0">
                <a:solidFill>
                  <a:srgbClr val="3D4759"/>
                </a:solidFill>
                <a:latin typeface="Plus Jakarta Sans" pitchFamily="34" charset="0"/>
                <a:ea typeface="Plus Jakarta Sans" pitchFamily="34" charset="-122"/>
                <a:cs typeface="Plus Jakarta Sans" pitchFamily="34" charset="-120"/>
              </a:rPr>
              <a:t>Per conversation</a:t>
            </a:r>
            <a:endParaRPr lang="en-US" sz="1300" dirty="0"/>
          </a:p>
        </p:txBody>
      </p:sp>
      <p:sp>
        <p:nvSpPr>
          <p:cNvPr id="12" name="Shape 9"/>
          <p:cNvSpPr/>
          <p:nvPr/>
        </p:nvSpPr>
        <p:spPr>
          <a:xfrm>
            <a:off x="6278728" y="2148840"/>
            <a:ext cx="5212080" cy="3246120"/>
          </a:xfrm>
          <a:prstGeom prst="roundRect">
            <a:avLst>
              <a:gd name="adj" fmla="val 3380"/>
            </a:avLst>
          </a:prstGeom>
          <a:solidFill>
            <a:srgbClr val="0A1628"/>
          </a:solidFill>
          <a:ln w="12700">
            <a:solidFill>
              <a:srgbClr val="0A1628"/>
            </a:solidFill>
            <a:prstDash val="solid"/>
          </a:ln>
        </p:spPr>
      </p:sp>
      <p:sp>
        <p:nvSpPr>
          <p:cNvPr id="13" name="Shape 10"/>
          <p:cNvSpPr/>
          <p:nvPr/>
        </p:nvSpPr>
        <p:spPr>
          <a:xfrm>
            <a:off x="6278728" y="2148840"/>
            <a:ext cx="5212080" cy="109728"/>
          </a:xfrm>
          <a:prstGeom prst="rect">
            <a:avLst/>
          </a:prstGeom>
          <a:solidFill>
            <a:srgbClr val="0066FF"/>
          </a:solidFill>
          <a:ln/>
        </p:spPr>
      </p:sp>
      <p:pic>
        <p:nvPicPr>
          <p:cNvPr id="14" name="Image 1" descr="icons/database-white.png">    </p:cNvPr>
          <p:cNvPicPr>
            <a:picLocks noChangeAspect="1"/>
          </p:cNvPicPr>
          <p:nvPr/>
        </p:nvPicPr>
        <p:blipFill>
          <a:blip r:embed="rId2"/>
          <a:stretch>
            <a:fillRect/>
          </a:stretch>
        </p:blipFill>
        <p:spPr>
          <a:xfrm>
            <a:off x="6644488" y="2560320"/>
            <a:ext cx="502920" cy="502920"/>
          </a:xfrm>
          <a:prstGeom prst="rect">
            <a:avLst/>
          </a:prstGeom>
        </p:spPr>
      </p:pic>
      <p:sp>
        <p:nvSpPr>
          <p:cNvPr id="15" name="Text 11"/>
          <p:cNvSpPr/>
          <p:nvPr/>
        </p:nvSpPr>
        <p:spPr>
          <a:xfrm>
            <a:off x="6278728" y="3200400"/>
            <a:ext cx="5212080" cy="1234440"/>
          </a:xfrm>
          <a:prstGeom prst="rect">
            <a:avLst/>
          </a:prstGeom>
          <a:noFill/>
          <a:ln/>
        </p:spPr>
        <p:txBody>
          <a:bodyPr wrap="square" lIns="0" tIns="0" rIns="0" bIns="0" rtlCol="0" anchor="ctr"/>
          <a:lstStyle/>
          <a:p>
            <a:pPr algn="ctr" indent="0" marL="0">
              <a:buNone/>
            </a:pPr>
            <a:r>
              <a:rPr lang="en-US" sz="7200" b="1" dirty="0">
                <a:solidFill>
                  <a:srgbClr val="0066FF"/>
                </a:solidFill>
                <a:latin typeface="Oswald" pitchFamily="34" charset="0"/>
                <a:ea typeface="Oswald" pitchFamily="34" charset="-122"/>
                <a:cs typeface="Oswald" pitchFamily="34" charset="-120"/>
              </a:rPr>
              <a:t>1M</a:t>
            </a:r>
            <a:endParaRPr lang="en-US" sz="7200" dirty="0"/>
          </a:p>
        </p:txBody>
      </p:sp>
      <p:sp>
        <p:nvSpPr>
          <p:cNvPr id="16" name="Text 12"/>
          <p:cNvSpPr/>
          <p:nvPr/>
        </p:nvSpPr>
        <p:spPr>
          <a:xfrm>
            <a:off x="6278728" y="4297680"/>
            <a:ext cx="5212080" cy="365760"/>
          </a:xfrm>
          <a:prstGeom prst="rect">
            <a:avLst/>
          </a:prstGeom>
          <a:noFill/>
          <a:ln/>
        </p:spPr>
        <p:txBody>
          <a:bodyPr wrap="square" lIns="0" tIns="0" rIns="0" bIns="0" rtlCol="0" anchor="ctr"/>
          <a:lstStyle/>
          <a:p>
            <a:pPr algn="ctr" indent="0" marL="0">
              <a:buNone/>
            </a:pPr>
            <a:r>
              <a:rPr lang="en-US" sz="1600" dirty="0">
                <a:solidFill>
                  <a:srgbClr val="AEBACD"/>
                </a:solidFill>
                <a:latin typeface="Plus Jakarta Sans" pitchFamily="34" charset="0"/>
                <a:ea typeface="Plus Jakarta Sans" pitchFamily="34" charset="-122"/>
                <a:cs typeface="Plus Jakarta Sans" pitchFamily="34" charset="-120"/>
              </a:rPr>
              <a:t>tokens</a:t>
            </a:r>
            <a:endParaRPr lang="en-US" sz="1600" dirty="0"/>
          </a:p>
        </p:txBody>
      </p:sp>
      <p:sp>
        <p:nvSpPr>
          <p:cNvPr id="17" name="Text 13"/>
          <p:cNvSpPr/>
          <p:nvPr/>
        </p:nvSpPr>
        <p:spPr>
          <a:xfrm>
            <a:off x="6553048" y="4754880"/>
            <a:ext cx="4663440" cy="365760"/>
          </a:xfrm>
          <a:prstGeom prst="rect">
            <a:avLst/>
          </a:prstGeom>
          <a:noFill/>
          <a:ln/>
        </p:spPr>
        <p:txBody>
          <a:bodyPr wrap="square" lIns="0" tIns="0" rIns="0" bIns="0" rtlCol="0" anchor="ctr"/>
          <a:lstStyle/>
          <a:p>
            <a:pPr algn="ctr" indent="0" marL="0">
              <a:buNone/>
            </a:pPr>
            <a:r>
              <a:rPr lang="en-US" sz="1900" b="1" dirty="0">
                <a:solidFill>
                  <a:srgbClr val="FFFFFF"/>
                </a:solidFill>
                <a:latin typeface="Oswald" pitchFamily="34" charset="0"/>
                <a:ea typeface="Oswald" pitchFamily="34" charset="-122"/>
                <a:cs typeface="Oswald" pitchFamily="34" charset="-120"/>
              </a:rPr>
              <a:t>Claude Code</a:t>
            </a:r>
            <a:endParaRPr lang="en-US" sz="1900" dirty="0"/>
          </a:p>
        </p:txBody>
      </p:sp>
      <p:sp>
        <p:nvSpPr>
          <p:cNvPr id="18" name="Text 14"/>
          <p:cNvSpPr/>
          <p:nvPr/>
        </p:nvSpPr>
        <p:spPr>
          <a:xfrm>
            <a:off x="6553048" y="5074920"/>
            <a:ext cx="4663440" cy="274320"/>
          </a:xfrm>
          <a:prstGeom prst="rect">
            <a:avLst/>
          </a:prstGeom>
          <a:noFill/>
          <a:ln/>
        </p:spPr>
        <p:txBody>
          <a:bodyPr wrap="square" lIns="0" tIns="0" rIns="0" bIns="0" rtlCol="0" anchor="ctr"/>
          <a:lstStyle/>
          <a:p>
            <a:pPr algn="ctr" indent="0" marL="0">
              <a:buNone/>
            </a:pPr>
            <a:r>
              <a:rPr lang="en-US" sz="1300" dirty="0">
                <a:solidFill>
                  <a:srgbClr val="AEBACD"/>
                </a:solidFill>
                <a:latin typeface="Plus Jakarta Sans" pitchFamily="34" charset="0"/>
                <a:ea typeface="Plus Jakarta Sans" pitchFamily="34" charset="-122"/>
                <a:cs typeface="Plus Jakarta Sans" pitchFamily="34" charset="-120"/>
              </a:rPr>
              <a:t>Per conversation (1,000K)</a:t>
            </a:r>
            <a:endParaRPr lang="en-US" sz="1300" dirty="0"/>
          </a:p>
        </p:txBody>
      </p:sp>
      <p:sp>
        <p:nvSpPr>
          <p:cNvPr id="19" name="Text 15"/>
          <p:cNvSpPr/>
          <p:nvPr/>
        </p:nvSpPr>
        <p:spPr>
          <a:xfrm>
            <a:off x="457200" y="5623560"/>
            <a:ext cx="11277295" cy="365760"/>
          </a:xfrm>
          <a:prstGeom prst="rect">
            <a:avLst/>
          </a:prstGeom>
          <a:noFill/>
          <a:ln/>
        </p:spPr>
        <p:txBody>
          <a:bodyPr wrap="square" lIns="0" tIns="0" rIns="0" bIns="0" rtlCol="0" anchor="t"/>
          <a:lstStyle/>
          <a:p>
            <a:pPr algn="l" indent="0" marL="0">
              <a:buNone/>
            </a:pPr>
            <a:r>
              <a:rPr lang="en-US" sz="1200" i="1" dirty="0">
                <a:solidFill>
                  <a:srgbClr val="3D4759"/>
                </a:solidFill>
                <a:latin typeface="Plus Jakarta Sans" pitchFamily="34" charset="0"/>
                <a:ea typeface="Plus Jakarta Sans" pitchFamily="34" charset="-122"/>
                <a:cs typeface="Plus Jakarta Sans" pitchFamily="34" charset="-120"/>
              </a:rPr>
              <a:t>Figures reflect Anthropic's published context limits at time of writing — confirm current limits before presenting.</a:t>
            </a:r>
            <a:endParaRPr lang="en-US" sz="1200" dirty="0"/>
          </a:p>
        </p:txBody>
      </p:sp>
      <p:sp>
        <p:nvSpPr>
          <p:cNvPr id="20" name="Shape 16"/>
          <p:cNvSpPr/>
          <p:nvPr/>
        </p:nvSpPr>
        <p:spPr>
          <a:xfrm>
            <a:off x="457200" y="6446520"/>
            <a:ext cx="11277295" cy="0"/>
          </a:xfrm>
          <a:prstGeom prst="line">
            <a:avLst/>
          </a:prstGeom>
          <a:noFill/>
          <a:ln w="9525">
            <a:solidFill>
              <a:srgbClr val="D5DDEA"/>
            </a:solidFill>
            <a:prstDash val="solid"/>
          </a:ln>
        </p:spPr>
      </p:sp>
      <p:sp>
        <p:nvSpPr>
          <p:cNvPr id="21" name="Text 17"/>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31 / 35</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CONTEXT &amp; TOKENS</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WHY IT MATTERS</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0A1628"/>
                </a:solidFill>
                <a:latin typeface="Oswald" pitchFamily="34" charset="0"/>
                <a:ea typeface="Oswald" pitchFamily="34" charset="-122"/>
                <a:cs typeface="Oswald" pitchFamily="34" charset="-120"/>
              </a:rPr>
              <a:t>That's a Lot of Context to Work With</a:t>
            </a:r>
            <a:endParaRPr lang="en-US" sz="3400" dirty="0"/>
          </a:p>
        </p:txBody>
      </p:sp>
      <p:pic>
        <p:nvPicPr>
          <p:cNvPr id="5" name="Image 0" descr="icons/layerGroup-blue.png">    </p:cNvPr>
          <p:cNvPicPr>
            <a:picLocks noChangeAspect="1"/>
          </p:cNvPicPr>
          <p:nvPr/>
        </p:nvPicPr>
        <p:blipFill>
          <a:blip r:embed="rId1"/>
          <a:stretch>
            <a:fillRect/>
          </a:stretch>
        </p:blipFill>
        <p:spPr>
          <a:xfrm>
            <a:off x="457200" y="2103120"/>
            <a:ext cx="594360" cy="594360"/>
          </a:xfrm>
          <a:prstGeom prst="rect">
            <a:avLst/>
          </a:prstGeom>
        </p:spPr>
      </p:pic>
      <p:sp>
        <p:nvSpPr>
          <p:cNvPr id="6" name="Text 3"/>
          <p:cNvSpPr/>
          <p:nvPr/>
        </p:nvSpPr>
        <p:spPr>
          <a:xfrm>
            <a:off x="457200" y="2971800"/>
            <a:ext cx="6126480" cy="2011680"/>
          </a:xfrm>
          <a:prstGeom prst="rect">
            <a:avLst/>
          </a:prstGeom>
          <a:noFill/>
          <a:ln/>
        </p:spPr>
        <p:txBody>
          <a:bodyPr wrap="square" rtlCol="0" anchor="t"/>
          <a:lstStyle/>
          <a:p>
            <a:pPr algn="l" indent="0" marL="0">
              <a:lnSpc>
                <a:spcPts val="3000"/>
              </a:lnSpc>
              <a:buNone/>
            </a:pPr>
            <a:r>
              <a:rPr lang="en-US" sz="2200" dirty="0">
                <a:solidFill>
                  <a:srgbClr val="0A1628"/>
                </a:solidFill>
                <a:latin typeface="Plus Jakarta Sans" pitchFamily="34" charset="0"/>
                <a:ea typeface="Plus Jakarta Sans" pitchFamily="34" charset="-122"/>
                <a:cs typeface="Plus Jakarta Sans" pitchFamily="34" charset="-120"/>
              </a:rPr>
              <a:t>As project managers and business analysts, that's an enormous amount of context and information we can hand to an agent.</a:t>
            </a:r>
            <a:endParaRPr lang="en-US" sz="2200" dirty="0"/>
          </a:p>
        </p:txBody>
      </p:sp>
      <p:sp>
        <p:nvSpPr>
          <p:cNvPr id="7" name="Shape 4"/>
          <p:cNvSpPr/>
          <p:nvPr/>
        </p:nvSpPr>
        <p:spPr>
          <a:xfrm>
            <a:off x="8503920" y="4160520"/>
            <a:ext cx="2377440" cy="1691640"/>
          </a:xfrm>
          <a:prstGeom prst="roundRect">
            <a:avLst>
              <a:gd name="adj" fmla="val 5405"/>
            </a:avLst>
          </a:prstGeom>
          <a:solidFill>
            <a:srgbClr val="3D4759">
              <a:alpha val="70000"/>
            </a:srgbClr>
          </a:solidFill>
          <a:ln w="25400">
            <a:solidFill>
              <a:srgbClr val="F4F7FC"/>
            </a:solidFill>
            <a:prstDash val="solid"/>
          </a:ln>
        </p:spPr>
      </p:sp>
      <p:sp>
        <p:nvSpPr>
          <p:cNvPr id="8" name="Shape 5"/>
          <p:cNvSpPr/>
          <p:nvPr/>
        </p:nvSpPr>
        <p:spPr>
          <a:xfrm>
            <a:off x="8275320" y="3840480"/>
            <a:ext cx="2377440" cy="1691640"/>
          </a:xfrm>
          <a:prstGeom prst="roundRect">
            <a:avLst>
              <a:gd name="adj" fmla="val 5405"/>
            </a:avLst>
          </a:prstGeom>
          <a:solidFill>
            <a:srgbClr val="D5DDEA">
              <a:alpha val="90000"/>
            </a:srgbClr>
          </a:solidFill>
          <a:ln w="25400">
            <a:solidFill>
              <a:srgbClr val="F4F7FC"/>
            </a:solidFill>
            <a:prstDash val="solid"/>
          </a:ln>
        </p:spPr>
      </p:sp>
      <p:sp>
        <p:nvSpPr>
          <p:cNvPr id="9" name="Shape 6"/>
          <p:cNvSpPr/>
          <p:nvPr/>
        </p:nvSpPr>
        <p:spPr>
          <a:xfrm>
            <a:off x="8046720" y="3520440"/>
            <a:ext cx="2377440" cy="1691640"/>
          </a:xfrm>
          <a:prstGeom prst="roundRect">
            <a:avLst>
              <a:gd name="adj" fmla="val 5405"/>
            </a:avLst>
          </a:prstGeom>
          <a:solidFill>
            <a:srgbClr val="0066FF">
              <a:alpha val="90000"/>
            </a:srgbClr>
          </a:solidFill>
          <a:ln w="25400">
            <a:solidFill>
              <a:srgbClr val="F4F7FC"/>
            </a:solidFill>
            <a:prstDash val="solid"/>
          </a:ln>
        </p:spPr>
      </p:sp>
      <p:sp>
        <p:nvSpPr>
          <p:cNvPr id="10" name="Shape 7"/>
          <p:cNvSpPr/>
          <p:nvPr/>
        </p:nvSpPr>
        <p:spPr>
          <a:xfrm>
            <a:off x="7863840" y="3200400"/>
            <a:ext cx="2377440" cy="1691640"/>
          </a:xfrm>
          <a:prstGeom prst="roundRect">
            <a:avLst>
              <a:gd name="adj" fmla="val 5405"/>
            </a:avLst>
          </a:prstGeom>
          <a:solidFill>
            <a:srgbClr val="0A1628"/>
          </a:solidFill>
          <a:ln w="25400">
            <a:solidFill>
              <a:srgbClr val="F4F7FC"/>
            </a:solidFill>
            <a:prstDash val="solid"/>
          </a:ln>
        </p:spPr>
      </p:sp>
      <p:sp>
        <p:nvSpPr>
          <p:cNvPr id="11" name="Shape 8"/>
          <p:cNvSpPr/>
          <p:nvPr/>
        </p:nvSpPr>
        <p:spPr>
          <a:xfrm>
            <a:off x="8138160" y="3520440"/>
            <a:ext cx="1828800" cy="91440"/>
          </a:xfrm>
          <a:prstGeom prst="rect">
            <a:avLst/>
          </a:prstGeom>
          <a:solidFill>
            <a:srgbClr val="FFFFFF"/>
          </a:solidFill>
          <a:ln/>
        </p:spPr>
      </p:sp>
      <p:sp>
        <p:nvSpPr>
          <p:cNvPr id="12" name="Shape 9"/>
          <p:cNvSpPr/>
          <p:nvPr/>
        </p:nvSpPr>
        <p:spPr>
          <a:xfrm>
            <a:off x="8138160" y="3813048"/>
            <a:ext cx="1828800" cy="91440"/>
          </a:xfrm>
          <a:prstGeom prst="rect">
            <a:avLst/>
          </a:prstGeom>
          <a:solidFill>
            <a:srgbClr val="FFFFFF"/>
          </a:solidFill>
          <a:ln/>
        </p:spPr>
      </p:sp>
      <p:sp>
        <p:nvSpPr>
          <p:cNvPr id="13" name="Shape 10"/>
          <p:cNvSpPr/>
          <p:nvPr/>
        </p:nvSpPr>
        <p:spPr>
          <a:xfrm>
            <a:off x="8138160" y="4105656"/>
            <a:ext cx="1828800" cy="91440"/>
          </a:xfrm>
          <a:prstGeom prst="rect">
            <a:avLst/>
          </a:prstGeom>
          <a:solidFill>
            <a:srgbClr val="FFFFFF"/>
          </a:solidFill>
          <a:ln/>
        </p:spPr>
      </p:sp>
      <p:sp>
        <p:nvSpPr>
          <p:cNvPr id="14" name="Shape 11"/>
          <p:cNvSpPr/>
          <p:nvPr/>
        </p:nvSpPr>
        <p:spPr>
          <a:xfrm>
            <a:off x="8138160" y="4398264"/>
            <a:ext cx="1097280" cy="91440"/>
          </a:xfrm>
          <a:prstGeom prst="rect">
            <a:avLst/>
          </a:prstGeom>
          <a:solidFill>
            <a:srgbClr val="FFFFFF"/>
          </a:solidFill>
          <a:ln/>
        </p:spPr>
      </p:sp>
      <p:sp>
        <p:nvSpPr>
          <p:cNvPr id="15" name="Shape 12"/>
          <p:cNvSpPr/>
          <p:nvPr/>
        </p:nvSpPr>
        <p:spPr>
          <a:xfrm>
            <a:off x="457200" y="6446520"/>
            <a:ext cx="11277295" cy="0"/>
          </a:xfrm>
          <a:prstGeom prst="line">
            <a:avLst/>
          </a:prstGeom>
          <a:noFill/>
          <a:ln w="9525">
            <a:solidFill>
              <a:srgbClr val="D5DDEA"/>
            </a:solidFill>
            <a:prstDash val="solid"/>
          </a:ln>
        </p:spPr>
      </p:sp>
      <p:sp>
        <p:nvSpPr>
          <p:cNvPr id="16" name="Text 13"/>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32 / 35</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CONTEXT &amp; TOKENS</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THE TOOL</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0A1628"/>
                </a:solidFill>
                <a:latin typeface="Oswald" pitchFamily="34" charset="0"/>
                <a:ea typeface="Oswald" pitchFamily="34" charset="-122"/>
                <a:cs typeface="Oswald" pitchFamily="34" charset="-120"/>
              </a:rPr>
              <a:t>Why We Build in Claude Code</a:t>
            </a:r>
            <a:endParaRPr lang="en-US" sz="3400" dirty="0"/>
          </a:p>
        </p:txBody>
      </p:sp>
      <p:sp>
        <p:nvSpPr>
          <p:cNvPr id="5" name="Shape 3"/>
          <p:cNvSpPr/>
          <p:nvPr/>
        </p:nvSpPr>
        <p:spPr>
          <a:xfrm>
            <a:off x="457200" y="2103120"/>
            <a:ext cx="11277295" cy="1737360"/>
          </a:xfrm>
          <a:prstGeom prst="roundRect">
            <a:avLst>
              <a:gd name="adj" fmla="val 5263"/>
            </a:avLst>
          </a:prstGeom>
          <a:solidFill>
            <a:srgbClr val="FFFFFF"/>
          </a:solidFill>
          <a:ln w="12700">
            <a:solidFill>
              <a:srgbClr val="D5DDEA"/>
            </a:solidFill>
            <a:prstDash val="solid"/>
          </a:ln>
        </p:spPr>
      </p:sp>
      <p:sp>
        <p:nvSpPr>
          <p:cNvPr id="6" name="Shape 4"/>
          <p:cNvSpPr/>
          <p:nvPr/>
        </p:nvSpPr>
        <p:spPr>
          <a:xfrm>
            <a:off x="822960" y="2537460"/>
            <a:ext cx="868680" cy="868680"/>
          </a:xfrm>
          <a:prstGeom prst="roundRect">
            <a:avLst>
              <a:gd name="adj" fmla="val 15789"/>
            </a:avLst>
          </a:prstGeom>
          <a:solidFill>
            <a:srgbClr val="0066FF"/>
          </a:solidFill>
          <a:ln/>
        </p:spPr>
      </p:sp>
      <p:pic>
        <p:nvPicPr>
          <p:cNvPr id="7" name="Image 0" descr="icons/windowMaximize-white.png">    </p:cNvPr>
          <p:cNvPicPr>
            <a:picLocks noChangeAspect="1"/>
          </p:cNvPicPr>
          <p:nvPr/>
        </p:nvPicPr>
        <p:blipFill>
          <a:blip r:embed="rId1"/>
          <a:stretch>
            <a:fillRect/>
          </a:stretch>
        </p:blipFill>
        <p:spPr>
          <a:xfrm>
            <a:off x="1001268" y="2715768"/>
            <a:ext cx="512064" cy="512064"/>
          </a:xfrm>
          <a:prstGeom prst="rect">
            <a:avLst/>
          </a:prstGeom>
        </p:spPr>
      </p:pic>
      <p:sp>
        <p:nvSpPr>
          <p:cNvPr id="8" name="Text 5"/>
          <p:cNvSpPr/>
          <p:nvPr/>
        </p:nvSpPr>
        <p:spPr>
          <a:xfrm>
            <a:off x="2148840" y="2395728"/>
            <a:ext cx="9128455" cy="457200"/>
          </a:xfrm>
          <a:prstGeom prst="rect">
            <a:avLst/>
          </a:prstGeom>
          <a:noFill/>
          <a:ln/>
        </p:spPr>
        <p:txBody>
          <a:bodyPr wrap="square" lIns="0" tIns="0" rIns="0" bIns="0" rtlCol="0" anchor="ctr"/>
          <a:lstStyle/>
          <a:p>
            <a:pPr algn="l" indent="0" marL="0">
              <a:buNone/>
            </a:pPr>
            <a:r>
              <a:rPr lang="en-US" sz="2200" b="1" dirty="0">
                <a:solidFill>
                  <a:srgbClr val="0A1628"/>
                </a:solidFill>
                <a:latin typeface="Oswald" pitchFamily="34" charset="0"/>
                <a:ea typeface="Oswald" pitchFamily="34" charset="-122"/>
                <a:cs typeface="Oswald" pitchFamily="34" charset="-120"/>
              </a:rPr>
              <a:t>A 1-Million-Token Context Window</a:t>
            </a:r>
            <a:endParaRPr lang="en-US" sz="2200" dirty="0"/>
          </a:p>
        </p:txBody>
      </p:sp>
      <p:sp>
        <p:nvSpPr>
          <p:cNvPr id="9" name="Text 6"/>
          <p:cNvSpPr/>
          <p:nvPr/>
        </p:nvSpPr>
        <p:spPr>
          <a:xfrm>
            <a:off x="2148840" y="2880360"/>
            <a:ext cx="9128455" cy="822960"/>
          </a:xfrm>
          <a:prstGeom prst="rect">
            <a:avLst/>
          </a:prstGeom>
          <a:noFill/>
          <a:ln/>
        </p:spPr>
        <p:txBody>
          <a:bodyPr wrap="square" lIns="0" tIns="0" rIns="0" bIns="0" rtlCol="0" anchor="t"/>
          <a:lstStyle/>
          <a:p>
            <a:pPr algn="l" indent="0" marL="0">
              <a:lnSpc>
                <a:spcPts val="2100"/>
              </a:lnSpc>
              <a:buNone/>
            </a:pPr>
            <a:r>
              <a:rPr lang="en-US" sz="1600" dirty="0">
                <a:solidFill>
                  <a:srgbClr val="3D4759"/>
                </a:solidFill>
                <a:latin typeface="Plus Jakarta Sans" pitchFamily="34" charset="0"/>
                <a:ea typeface="Plus Jakarta Sans" pitchFamily="34" charset="-122"/>
                <a:cs typeface="Plus Jakarta Sans" pitchFamily="34" charset="-120"/>
              </a:rPr>
              <a:t>Enough room to hold an entire project's worth of files, conversation, and instructions in a single working session.</a:t>
            </a:r>
            <a:endParaRPr lang="en-US" sz="1600" dirty="0"/>
          </a:p>
        </p:txBody>
      </p:sp>
      <p:sp>
        <p:nvSpPr>
          <p:cNvPr id="10" name="Shape 7"/>
          <p:cNvSpPr/>
          <p:nvPr/>
        </p:nvSpPr>
        <p:spPr>
          <a:xfrm>
            <a:off x="457200" y="4160520"/>
            <a:ext cx="11277295" cy="1737360"/>
          </a:xfrm>
          <a:prstGeom prst="roundRect">
            <a:avLst>
              <a:gd name="adj" fmla="val 5263"/>
            </a:avLst>
          </a:prstGeom>
          <a:solidFill>
            <a:srgbClr val="FFFFFF"/>
          </a:solidFill>
          <a:ln w="12700">
            <a:solidFill>
              <a:srgbClr val="D5DDEA"/>
            </a:solidFill>
            <a:prstDash val="solid"/>
          </a:ln>
        </p:spPr>
      </p:sp>
      <p:sp>
        <p:nvSpPr>
          <p:cNvPr id="11" name="Shape 8"/>
          <p:cNvSpPr/>
          <p:nvPr/>
        </p:nvSpPr>
        <p:spPr>
          <a:xfrm>
            <a:off x="822960" y="4594860"/>
            <a:ext cx="868680" cy="868680"/>
          </a:xfrm>
          <a:prstGeom prst="roundRect">
            <a:avLst>
              <a:gd name="adj" fmla="val 15789"/>
            </a:avLst>
          </a:prstGeom>
          <a:solidFill>
            <a:srgbClr val="0066FF"/>
          </a:solidFill>
          <a:ln/>
        </p:spPr>
      </p:sp>
      <p:pic>
        <p:nvPicPr>
          <p:cNvPr id="12" name="Image 1" descr="icons/eye-white.png">    </p:cNvPr>
          <p:cNvPicPr>
            <a:picLocks noChangeAspect="1"/>
          </p:cNvPicPr>
          <p:nvPr/>
        </p:nvPicPr>
        <p:blipFill>
          <a:blip r:embed="rId2"/>
          <a:stretch>
            <a:fillRect/>
          </a:stretch>
        </p:blipFill>
        <p:spPr>
          <a:xfrm>
            <a:off x="1001268" y="4773168"/>
            <a:ext cx="512064" cy="512064"/>
          </a:xfrm>
          <a:prstGeom prst="rect">
            <a:avLst/>
          </a:prstGeom>
        </p:spPr>
      </p:pic>
      <p:sp>
        <p:nvSpPr>
          <p:cNvPr id="13" name="Text 9"/>
          <p:cNvSpPr/>
          <p:nvPr/>
        </p:nvSpPr>
        <p:spPr>
          <a:xfrm>
            <a:off x="2148840" y="4453128"/>
            <a:ext cx="9128455" cy="457200"/>
          </a:xfrm>
          <a:prstGeom prst="rect">
            <a:avLst/>
          </a:prstGeom>
          <a:noFill/>
          <a:ln/>
        </p:spPr>
        <p:txBody>
          <a:bodyPr wrap="square" lIns="0" tIns="0" rIns="0" bIns="0" rtlCol="0" anchor="ctr"/>
          <a:lstStyle/>
          <a:p>
            <a:pPr algn="l" indent="0" marL="0">
              <a:buNone/>
            </a:pPr>
            <a:r>
              <a:rPr lang="en-US" sz="2200" b="1" dirty="0">
                <a:solidFill>
                  <a:srgbClr val="0A1628"/>
                </a:solidFill>
                <a:latin typeface="Oswald" pitchFamily="34" charset="0"/>
                <a:ea typeface="Oswald" pitchFamily="34" charset="-122"/>
                <a:cs typeface="Oswald" pitchFamily="34" charset="-120"/>
              </a:rPr>
              <a:t>Full Visibility, Right Beside You</a:t>
            </a:r>
            <a:endParaRPr lang="en-US" sz="2200" dirty="0"/>
          </a:p>
        </p:txBody>
      </p:sp>
      <p:sp>
        <p:nvSpPr>
          <p:cNvPr id="14" name="Text 10"/>
          <p:cNvSpPr/>
          <p:nvPr/>
        </p:nvSpPr>
        <p:spPr>
          <a:xfrm>
            <a:off x="2148840" y="4937760"/>
            <a:ext cx="9128455" cy="822960"/>
          </a:xfrm>
          <a:prstGeom prst="rect">
            <a:avLst/>
          </a:prstGeom>
          <a:noFill/>
          <a:ln/>
        </p:spPr>
        <p:txBody>
          <a:bodyPr wrap="square" lIns="0" tIns="0" rIns="0" bIns="0" rtlCol="0" anchor="t"/>
          <a:lstStyle/>
          <a:p>
            <a:pPr algn="l" indent="0" marL="0">
              <a:lnSpc>
                <a:spcPts val="2100"/>
              </a:lnSpc>
              <a:buNone/>
            </a:pPr>
            <a:r>
              <a:rPr lang="en-US" sz="1600" dirty="0">
                <a:solidFill>
                  <a:srgbClr val="3D4759"/>
                </a:solidFill>
                <a:latin typeface="Plus Jakarta Sans" pitchFamily="34" charset="0"/>
                <a:ea typeface="Plus Jakarta Sans" pitchFamily="34" charset="-122"/>
                <a:cs typeface="Plus Jakarta Sans" pitchFamily="34" charset="-120"/>
              </a:rPr>
              <a:t>Every file and folder is visible as you work — you watch the agent read, reason, and write in real time, nothing hidden.</a:t>
            </a:r>
            <a:endParaRPr lang="en-US" sz="1600" dirty="0"/>
          </a:p>
        </p:txBody>
      </p:sp>
      <p:sp>
        <p:nvSpPr>
          <p:cNvPr id="15" name="Shape 11"/>
          <p:cNvSpPr/>
          <p:nvPr/>
        </p:nvSpPr>
        <p:spPr>
          <a:xfrm>
            <a:off x="457200" y="6446520"/>
            <a:ext cx="11277295" cy="0"/>
          </a:xfrm>
          <a:prstGeom prst="line">
            <a:avLst/>
          </a:prstGeom>
          <a:noFill/>
          <a:ln w="9525">
            <a:solidFill>
              <a:srgbClr val="D5DDEA"/>
            </a:solidFill>
            <a:prstDash val="solid"/>
          </a:ln>
        </p:spPr>
      </p:sp>
      <p:sp>
        <p:nvSpPr>
          <p:cNvPr id="16" name="Text 12"/>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33 / 35</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LIVE DEMO</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3D4759"/>
                </a:solidFill>
                <a:latin typeface="Plus Jakarta Sans" pitchFamily="34" charset="0"/>
                <a:ea typeface="Plus Jakarta Sans" pitchFamily="34" charset="-122"/>
                <a:cs typeface="Plus Jakarta Sans" pitchFamily="34" charset="-120"/>
              </a:rPr>
              <a:t>LIVE DEMO STARTS HERE</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0A1628"/>
                </a:solidFill>
                <a:latin typeface="Oswald" pitchFamily="34" charset="0"/>
                <a:ea typeface="Oswald" pitchFamily="34" charset="-122"/>
                <a:cs typeface="Oswald" pitchFamily="34" charset="-120"/>
              </a:rPr>
              <a:t>Anatomy of a Proper Agent</a:t>
            </a:r>
            <a:endParaRPr lang="en-US" sz="3400" dirty="0"/>
          </a:p>
        </p:txBody>
      </p:sp>
      <p:sp>
        <p:nvSpPr>
          <p:cNvPr id="5" name="Text 3"/>
          <p:cNvSpPr/>
          <p:nvPr/>
        </p:nvSpPr>
        <p:spPr>
          <a:xfrm>
            <a:off x="457200" y="1783080"/>
            <a:ext cx="11277295" cy="365760"/>
          </a:xfrm>
          <a:prstGeom prst="rect">
            <a:avLst/>
          </a:prstGeom>
          <a:noFill/>
          <a:ln/>
        </p:spPr>
        <p:txBody>
          <a:bodyPr wrap="square" lIns="0" tIns="0" rIns="0" bIns="0" rtlCol="0" anchor="t"/>
          <a:lstStyle/>
          <a:p>
            <a:pPr algn="l" indent="0" marL="0">
              <a:buNone/>
            </a:pPr>
            <a:r>
              <a:rPr lang="en-US" sz="1500" dirty="0">
                <a:solidFill>
                  <a:srgbClr val="3D4759"/>
                </a:solidFill>
                <a:latin typeface="Plus Jakarta Sans" pitchFamily="34" charset="0"/>
                <a:ea typeface="Plus Jakarta Sans" pitchFamily="34" charset="-122"/>
                <a:cs typeface="Plus Jakarta Sans" pitchFamily="34" charset="-120"/>
              </a:rPr>
              <a:t>Let's apply everything we just learned, at a high level — then build one live.</a:t>
            </a:r>
            <a:endParaRPr lang="en-US" sz="1500" dirty="0"/>
          </a:p>
        </p:txBody>
      </p:sp>
      <p:sp>
        <p:nvSpPr>
          <p:cNvPr id="6" name="Shape 4"/>
          <p:cNvSpPr/>
          <p:nvPr/>
        </p:nvSpPr>
        <p:spPr>
          <a:xfrm>
            <a:off x="998068" y="2514600"/>
            <a:ext cx="1783080" cy="1783080"/>
          </a:xfrm>
          <a:prstGeom prst="roundRect">
            <a:avLst>
              <a:gd name="adj" fmla="val 5128"/>
            </a:avLst>
          </a:prstGeom>
          <a:solidFill>
            <a:srgbClr val="0A1628"/>
          </a:solidFill>
          <a:ln/>
        </p:spPr>
      </p:sp>
      <p:sp>
        <p:nvSpPr>
          <p:cNvPr id="7" name="Shape 5"/>
          <p:cNvSpPr/>
          <p:nvPr/>
        </p:nvSpPr>
        <p:spPr>
          <a:xfrm>
            <a:off x="851764" y="2368296"/>
            <a:ext cx="384048" cy="384048"/>
          </a:xfrm>
          <a:prstGeom prst="ellipse">
            <a:avLst/>
          </a:prstGeom>
          <a:solidFill>
            <a:srgbClr val="D5DDEA"/>
          </a:solidFill>
          <a:ln w="25400">
            <a:solidFill>
              <a:srgbClr val="F4F7FC"/>
            </a:solidFill>
            <a:prstDash val="solid"/>
          </a:ln>
        </p:spPr>
      </p:sp>
      <p:sp>
        <p:nvSpPr>
          <p:cNvPr id="8" name="Text 6"/>
          <p:cNvSpPr/>
          <p:nvPr/>
        </p:nvSpPr>
        <p:spPr>
          <a:xfrm>
            <a:off x="851764" y="2368296"/>
            <a:ext cx="384048" cy="384048"/>
          </a:xfrm>
          <a:prstGeom prst="rect">
            <a:avLst/>
          </a:prstGeom>
          <a:noFill/>
          <a:ln/>
        </p:spPr>
        <p:txBody>
          <a:bodyPr wrap="square" lIns="0" tIns="0" rIns="0" bIns="0" rtlCol="0" anchor="ctr"/>
          <a:lstStyle/>
          <a:p>
            <a:pPr algn="ctr" indent="0" marL="0">
              <a:buNone/>
            </a:pPr>
            <a:r>
              <a:rPr lang="en-US" sz="1300" b="1" dirty="0">
                <a:solidFill>
                  <a:srgbClr val="0A1628"/>
                </a:solidFill>
                <a:latin typeface="Oswald" pitchFamily="34" charset="0"/>
                <a:ea typeface="Oswald" pitchFamily="34" charset="-122"/>
                <a:cs typeface="Oswald" pitchFamily="34" charset="-120"/>
              </a:rPr>
              <a:t>1</a:t>
            </a:r>
            <a:endParaRPr lang="en-US" sz="1300" dirty="0"/>
          </a:p>
        </p:txBody>
      </p:sp>
      <p:pic>
        <p:nvPicPr>
          <p:cNvPr id="9" name="Image 0" descr="icons/folderOpen-white.png">    </p:cNvPr>
          <p:cNvPicPr>
            <a:picLocks noChangeAspect="1"/>
          </p:cNvPicPr>
          <p:nvPr/>
        </p:nvPicPr>
        <p:blipFill>
          <a:blip r:embed="rId1"/>
          <a:stretch>
            <a:fillRect/>
          </a:stretch>
        </p:blipFill>
        <p:spPr>
          <a:xfrm>
            <a:off x="1633576" y="2788920"/>
            <a:ext cx="512064" cy="512064"/>
          </a:xfrm>
          <a:prstGeom prst="rect">
            <a:avLst/>
          </a:prstGeom>
        </p:spPr>
      </p:pic>
      <p:sp>
        <p:nvSpPr>
          <p:cNvPr id="10" name="Text 7"/>
          <p:cNvSpPr/>
          <p:nvPr/>
        </p:nvSpPr>
        <p:spPr>
          <a:xfrm>
            <a:off x="1089508" y="3429000"/>
            <a:ext cx="1600200" cy="777240"/>
          </a:xfrm>
          <a:prstGeom prst="rect">
            <a:avLst/>
          </a:prstGeom>
          <a:noFill/>
          <a:ln/>
        </p:spPr>
        <p:txBody>
          <a:bodyPr wrap="square" lIns="0" tIns="0" rIns="0" bIns="0" rtlCol="0" anchor="t"/>
          <a:lstStyle/>
          <a:p>
            <a:pPr algn="ctr" indent="0" marL="0">
              <a:buNone/>
            </a:pPr>
            <a:r>
              <a:rPr lang="en-US" sz="1300" dirty="0">
                <a:solidFill>
                  <a:srgbClr val="FFFFFF"/>
                </a:solidFill>
                <a:latin typeface="Plus Jakarta Sans" pitchFamily="34" charset="0"/>
                <a:ea typeface="Plus Jakarta Sans" pitchFamily="34" charset="-122"/>
                <a:cs typeface="Plus Jakarta Sans" pitchFamily="34" charset="-120"/>
              </a:rPr>
              <a:t>Project Folder</a:t>
            </a:r>
            <a:endParaRPr lang="en-US" sz="1300" dirty="0"/>
          </a:p>
        </p:txBody>
      </p:sp>
      <p:pic>
        <p:nvPicPr>
          <p:cNvPr id="11" name="Image 1" descr="icons/arrowRight-slate.png">    </p:cNvPr>
          <p:cNvPicPr>
            <a:picLocks noChangeAspect="1"/>
          </p:cNvPicPr>
          <p:nvPr/>
        </p:nvPicPr>
        <p:blipFill>
          <a:blip r:embed="rId2"/>
          <a:stretch>
            <a:fillRect/>
          </a:stretch>
        </p:blipFill>
        <p:spPr>
          <a:xfrm>
            <a:off x="2804008" y="3268980"/>
            <a:ext cx="274320" cy="274320"/>
          </a:xfrm>
          <a:prstGeom prst="rect">
            <a:avLst/>
          </a:prstGeom>
        </p:spPr>
      </p:pic>
      <p:sp>
        <p:nvSpPr>
          <p:cNvPr id="12" name="Shape 8"/>
          <p:cNvSpPr/>
          <p:nvPr/>
        </p:nvSpPr>
        <p:spPr>
          <a:xfrm>
            <a:off x="3101188" y="2514600"/>
            <a:ext cx="1783080" cy="1783080"/>
          </a:xfrm>
          <a:prstGeom prst="roundRect">
            <a:avLst>
              <a:gd name="adj" fmla="val 5128"/>
            </a:avLst>
          </a:prstGeom>
          <a:solidFill>
            <a:srgbClr val="0A1628"/>
          </a:solidFill>
          <a:ln/>
        </p:spPr>
      </p:sp>
      <p:sp>
        <p:nvSpPr>
          <p:cNvPr id="13" name="Shape 9"/>
          <p:cNvSpPr/>
          <p:nvPr/>
        </p:nvSpPr>
        <p:spPr>
          <a:xfrm>
            <a:off x="2954884" y="2368296"/>
            <a:ext cx="384048" cy="384048"/>
          </a:xfrm>
          <a:prstGeom prst="ellipse">
            <a:avLst/>
          </a:prstGeom>
          <a:solidFill>
            <a:srgbClr val="D5DDEA"/>
          </a:solidFill>
          <a:ln w="25400">
            <a:solidFill>
              <a:srgbClr val="F4F7FC"/>
            </a:solidFill>
            <a:prstDash val="solid"/>
          </a:ln>
        </p:spPr>
      </p:sp>
      <p:sp>
        <p:nvSpPr>
          <p:cNvPr id="14" name="Text 10"/>
          <p:cNvSpPr/>
          <p:nvPr/>
        </p:nvSpPr>
        <p:spPr>
          <a:xfrm>
            <a:off x="2954884" y="2368296"/>
            <a:ext cx="384048" cy="384048"/>
          </a:xfrm>
          <a:prstGeom prst="rect">
            <a:avLst/>
          </a:prstGeom>
          <a:noFill/>
          <a:ln/>
        </p:spPr>
        <p:txBody>
          <a:bodyPr wrap="square" lIns="0" tIns="0" rIns="0" bIns="0" rtlCol="0" anchor="ctr"/>
          <a:lstStyle/>
          <a:p>
            <a:pPr algn="ctr" indent="0" marL="0">
              <a:buNone/>
            </a:pPr>
            <a:r>
              <a:rPr lang="en-US" sz="1300" b="1" dirty="0">
                <a:solidFill>
                  <a:srgbClr val="0A1628"/>
                </a:solidFill>
                <a:latin typeface="Oswald" pitchFamily="34" charset="0"/>
                <a:ea typeface="Oswald" pitchFamily="34" charset="-122"/>
                <a:cs typeface="Oswald" pitchFamily="34" charset="-120"/>
              </a:rPr>
              <a:t>2</a:t>
            </a:r>
            <a:endParaRPr lang="en-US" sz="1300" dirty="0"/>
          </a:p>
        </p:txBody>
      </p:sp>
      <p:pic>
        <p:nvPicPr>
          <p:cNvPr id="15" name="Image 2" descr="icons/book-white.png">    </p:cNvPr>
          <p:cNvPicPr>
            <a:picLocks noChangeAspect="1"/>
          </p:cNvPicPr>
          <p:nvPr/>
        </p:nvPicPr>
        <p:blipFill>
          <a:blip r:embed="rId3"/>
          <a:stretch>
            <a:fillRect/>
          </a:stretch>
        </p:blipFill>
        <p:spPr>
          <a:xfrm>
            <a:off x="3736696" y="2788920"/>
            <a:ext cx="512064" cy="512064"/>
          </a:xfrm>
          <a:prstGeom prst="rect">
            <a:avLst/>
          </a:prstGeom>
        </p:spPr>
      </p:pic>
      <p:sp>
        <p:nvSpPr>
          <p:cNvPr id="16" name="Text 11"/>
          <p:cNvSpPr/>
          <p:nvPr/>
        </p:nvSpPr>
        <p:spPr>
          <a:xfrm>
            <a:off x="3192628" y="3429000"/>
            <a:ext cx="1600200" cy="777240"/>
          </a:xfrm>
          <a:prstGeom prst="rect">
            <a:avLst/>
          </a:prstGeom>
          <a:noFill/>
          <a:ln/>
        </p:spPr>
        <p:txBody>
          <a:bodyPr wrap="square" lIns="0" tIns="0" rIns="0" bIns="0" rtlCol="0" anchor="t"/>
          <a:lstStyle/>
          <a:p>
            <a:pPr algn="ctr" indent="0" marL="0">
              <a:buNone/>
            </a:pPr>
            <a:r>
              <a:rPr lang="en-US" sz="1300" dirty="0">
                <a:solidFill>
                  <a:srgbClr val="FFFFFF"/>
                </a:solidFill>
                <a:latin typeface="Plus Jakarta Sans" pitchFamily="34" charset="0"/>
                <a:ea typeface="Plus Jakarta Sans" pitchFamily="34" charset="-122"/>
                <a:cs typeface="Plus Jakarta Sans" pitchFamily="34" charset="-120"/>
              </a:rPr>
              <a:t>CLAUDE.md</a:t>
            </a:r>
            <a:endParaRPr lang="en-US" sz="1300" dirty="0"/>
          </a:p>
          <a:p>
            <a:pPr algn="ctr" indent="0" marL="0">
              <a:buNone/>
            </a:pPr>
            <a:r>
              <a:rPr lang="en-US" sz="1300" dirty="0">
                <a:solidFill>
                  <a:srgbClr val="FFFFFF"/>
                </a:solidFill>
                <a:latin typeface="Plus Jakarta Sans" pitchFamily="34" charset="0"/>
                <a:ea typeface="Plus Jakarta Sans" pitchFamily="34" charset="-122"/>
                <a:cs typeface="Plus Jakarta Sans" pitchFamily="34" charset="-120"/>
              </a:rPr>
              <a:t>(instructions)</a:t>
            </a:r>
            <a:endParaRPr lang="en-US" sz="1300" dirty="0"/>
          </a:p>
        </p:txBody>
      </p:sp>
      <p:pic>
        <p:nvPicPr>
          <p:cNvPr id="17" name="Image 3" descr="icons/arrowRight-slate.png">    </p:cNvPr>
          <p:cNvPicPr>
            <a:picLocks noChangeAspect="1"/>
          </p:cNvPicPr>
          <p:nvPr/>
        </p:nvPicPr>
        <p:blipFill>
          <a:blip r:embed="rId4"/>
          <a:stretch>
            <a:fillRect/>
          </a:stretch>
        </p:blipFill>
        <p:spPr>
          <a:xfrm>
            <a:off x="4907128" y="3268980"/>
            <a:ext cx="274320" cy="274320"/>
          </a:xfrm>
          <a:prstGeom prst="rect">
            <a:avLst/>
          </a:prstGeom>
        </p:spPr>
      </p:pic>
      <p:sp>
        <p:nvSpPr>
          <p:cNvPr id="18" name="Shape 12"/>
          <p:cNvSpPr/>
          <p:nvPr/>
        </p:nvSpPr>
        <p:spPr>
          <a:xfrm>
            <a:off x="5204308" y="2514600"/>
            <a:ext cx="1783080" cy="1783080"/>
          </a:xfrm>
          <a:prstGeom prst="roundRect">
            <a:avLst>
              <a:gd name="adj" fmla="val 5128"/>
            </a:avLst>
          </a:prstGeom>
          <a:solidFill>
            <a:srgbClr val="0A1628"/>
          </a:solidFill>
          <a:ln/>
        </p:spPr>
      </p:sp>
      <p:sp>
        <p:nvSpPr>
          <p:cNvPr id="19" name="Shape 13"/>
          <p:cNvSpPr/>
          <p:nvPr/>
        </p:nvSpPr>
        <p:spPr>
          <a:xfrm>
            <a:off x="5058004" y="2368296"/>
            <a:ext cx="384048" cy="384048"/>
          </a:xfrm>
          <a:prstGeom prst="ellipse">
            <a:avLst/>
          </a:prstGeom>
          <a:solidFill>
            <a:srgbClr val="D5DDEA"/>
          </a:solidFill>
          <a:ln w="25400">
            <a:solidFill>
              <a:srgbClr val="F4F7FC"/>
            </a:solidFill>
            <a:prstDash val="solid"/>
          </a:ln>
        </p:spPr>
      </p:sp>
      <p:sp>
        <p:nvSpPr>
          <p:cNvPr id="20" name="Text 14"/>
          <p:cNvSpPr/>
          <p:nvPr/>
        </p:nvSpPr>
        <p:spPr>
          <a:xfrm>
            <a:off x="5058004" y="2368296"/>
            <a:ext cx="384048" cy="384048"/>
          </a:xfrm>
          <a:prstGeom prst="rect">
            <a:avLst/>
          </a:prstGeom>
          <a:noFill/>
          <a:ln/>
        </p:spPr>
        <p:txBody>
          <a:bodyPr wrap="square" lIns="0" tIns="0" rIns="0" bIns="0" rtlCol="0" anchor="ctr"/>
          <a:lstStyle/>
          <a:p>
            <a:pPr algn="ctr" indent="0" marL="0">
              <a:buNone/>
            </a:pPr>
            <a:r>
              <a:rPr lang="en-US" sz="1300" b="1" dirty="0">
                <a:solidFill>
                  <a:srgbClr val="0A1628"/>
                </a:solidFill>
                <a:latin typeface="Oswald" pitchFamily="34" charset="0"/>
                <a:ea typeface="Oswald" pitchFamily="34" charset="-122"/>
                <a:cs typeface="Oswald" pitchFamily="34" charset="-120"/>
              </a:rPr>
              <a:t>3</a:t>
            </a:r>
            <a:endParaRPr lang="en-US" sz="1300" dirty="0"/>
          </a:p>
        </p:txBody>
      </p:sp>
      <p:pic>
        <p:nvPicPr>
          <p:cNvPr id="21" name="Image 4" descr="icons/toolbox-white.png">    </p:cNvPr>
          <p:cNvPicPr>
            <a:picLocks noChangeAspect="1"/>
          </p:cNvPicPr>
          <p:nvPr/>
        </p:nvPicPr>
        <p:blipFill>
          <a:blip r:embed="rId5"/>
          <a:stretch>
            <a:fillRect/>
          </a:stretch>
        </p:blipFill>
        <p:spPr>
          <a:xfrm>
            <a:off x="5839816" y="2788920"/>
            <a:ext cx="512064" cy="512064"/>
          </a:xfrm>
          <a:prstGeom prst="rect">
            <a:avLst/>
          </a:prstGeom>
        </p:spPr>
      </p:pic>
      <p:sp>
        <p:nvSpPr>
          <p:cNvPr id="22" name="Text 15"/>
          <p:cNvSpPr/>
          <p:nvPr/>
        </p:nvSpPr>
        <p:spPr>
          <a:xfrm>
            <a:off x="5295748" y="3429000"/>
            <a:ext cx="1600200" cy="777240"/>
          </a:xfrm>
          <a:prstGeom prst="rect">
            <a:avLst/>
          </a:prstGeom>
          <a:noFill/>
          <a:ln/>
        </p:spPr>
        <p:txBody>
          <a:bodyPr wrap="square" lIns="0" tIns="0" rIns="0" bIns="0" rtlCol="0" anchor="t"/>
          <a:lstStyle/>
          <a:p>
            <a:pPr algn="ctr" indent="0" marL="0">
              <a:buNone/>
            </a:pPr>
            <a:r>
              <a:rPr lang="en-US" sz="1300" dirty="0">
                <a:solidFill>
                  <a:srgbClr val="FFFFFF"/>
                </a:solidFill>
                <a:latin typeface="Plus Jakarta Sans" pitchFamily="34" charset="0"/>
                <a:ea typeface="Plus Jakarta Sans" pitchFamily="34" charset="-122"/>
                <a:cs typeface="Plus Jakarta Sans" pitchFamily="34" charset="-120"/>
              </a:rPr>
              <a:t>SKILL.md</a:t>
            </a:r>
            <a:endParaRPr lang="en-US" sz="1300" dirty="0"/>
          </a:p>
          <a:p>
            <a:pPr algn="ctr" indent="0" marL="0">
              <a:buNone/>
            </a:pPr>
            <a:r>
              <a:rPr lang="en-US" sz="1300" dirty="0">
                <a:solidFill>
                  <a:srgbClr val="FFFFFF"/>
                </a:solidFill>
                <a:latin typeface="Plus Jakarta Sans" pitchFamily="34" charset="0"/>
                <a:ea typeface="Plus Jakarta Sans" pitchFamily="34" charset="-122"/>
                <a:cs typeface="Plus Jakarta Sans" pitchFamily="34" charset="-120"/>
              </a:rPr>
              <a:t>(skills)</a:t>
            </a:r>
            <a:endParaRPr lang="en-US" sz="1300" dirty="0"/>
          </a:p>
        </p:txBody>
      </p:sp>
      <p:pic>
        <p:nvPicPr>
          <p:cNvPr id="23" name="Image 5" descr="icons/arrowRight-slate.png">    </p:cNvPr>
          <p:cNvPicPr>
            <a:picLocks noChangeAspect="1"/>
          </p:cNvPicPr>
          <p:nvPr/>
        </p:nvPicPr>
        <p:blipFill>
          <a:blip r:embed="rId6"/>
          <a:stretch>
            <a:fillRect/>
          </a:stretch>
        </p:blipFill>
        <p:spPr>
          <a:xfrm>
            <a:off x="7010248" y="3268980"/>
            <a:ext cx="274320" cy="274320"/>
          </a:xfrm>
          <a:prstGeom prst="rect">
            <a:avLst/>
          </a:prstGeom>
        </p:spPr>
      </p:pic>
      <p:sp>
        <p:nvSpPr>
          <p:cNvPr id="24" name="Shape 16"/>
          <p:cNvSpPr/>
          <p:nvPr/>
        </p:nvSpPr>
        <p:spPr>
          <a:xfrm>
            <a:off x="7307428" y="2514600"/>
            <a:ext cx="1783080" cy="1783080"/>
          </a:xfrm>
          <a:prstGeom prst="roundRect">
            <a:avLst>
              <a:gd name="adj" fmla="val 5128"/>
            </a:avLst>
          </a:prstGeom>
          <a:solidFill>
            <a:srgbClr val="0A1628"/>
          </a:solidFill>
          <a:ln/>
        </p:spPr>
      </p:sp>
      <p:sp>
        <p:nvSpPr>
          <p:cNvPr id="25" name="Shape 17"/>
          <p:cNvSpPr/>
          <p:nvPr/>
        </p:nvSpPr>
        <p:spPr>
          <a:xfrm>
            <a:off x="7161124" y="2368296"/>
            <a:ext cx="384048" cy="384048"/>
          </a:xfrm>
          <a:prstGeom prst="ellipse">
            <a:avLst/>
          </a:prstGeom>
          <a:solidFill>
            <a:srgbClr val="D5DDEA"/>
          </a:solidFill>
          <a:ln w="25400">
            <a:solidFill>
              <a:srgbClr val="F4F7FC"/>
            </a:solidFill>
            <a:prstDash val="solid"/>
          </a:ln>
        </p:spPr>
      </p:sp>
      <p:sp>
        <p:nvSpPr>
          <p:cNvPr id="26" name="Text 18"/>
          <p:cNvSpPr/>
          <p:nvPr/>
        </p:nvSpPr>
        <p:spPr>
          <a:xfrm>
            <a:off x="7161124" y="2368296"/>
            <a:ext cx="384048" cy="384048"/>
          </a:xfrm>
          <a:prstGeom prst="rect">
            <a:avLst/>
          </a:prstGeom>
          <a:noFill/>
          <a:ln/>
        </p:spPr>
        <p:txBody>
          <a:bodyPr wrap="square" lIns="0" tIns="0" rIns="0" bIns="0" rtlCol="0" anchor="ctr"/>
          <a:lstStyle/>
          <a:p>
            <a:pPr algn="ctr" indent="0" marL="0">
              <a:buNone/>
            </a:pPr>
            <a:r>
              <a:rPr lang="en-US" sz="1300" b="1" dirty="0">
                <a:solidFill>
                  <a:srgbClr val="0A1628"/>
                </a:solidFill>
                <a:latin typeface="Oswald" pitchFamily="34" charset="0"/>
                <a:ea typeface="Oswald" pitchFamily="34" charset="-122"/>
                <a:cs typeface="Oswald" pitchFamily="34" charset="-120"/>
              </a:rPr>
              <a:t>4</a:t>
            </a:r>
            <a:endParaRPr lang="en-US" sz="1300" dirty="0"/>
          </a:p>
        </p:txBody>
      </p:sp>
      <p:pic>
        <p:nvPicPr>
          <p:cNvPr id="27" name="Image 6" descr="icons/fileLines-white.png">    </p:cNvPr>
          <p:cNvPicPr>
            <a:picLocks noChangeAspect="1"/>
          </p:cNvPicPr>
          <p:nvPr/>
        </p:nvPicPr>
        <p:blipFill>
          <a:blip r:embed="rId7"/>
          <a:stretch>
            <a:fillRect/>
          </a:stretch>
        </p:blipFill>
        <p:spPr>
          <a:xfrm>
            <a:off x="7942936" y="2788920"/>
            <a:ext cx="512064" cy="512064"/>
          </a:xfrm>
          <a:prstGeom prst="rect">
            <a:avLst/>
          </a:prstGeom>
        </p:spPr>
      </p:pic>
      <p:sp>
        <p:nvSpPr>
          <p:cNvPr id="28" name="Text 19"/>
          <p:cNvSpPr/>
          <p:nvPr/>
        </p:nvSpPr>
        <p:spPr>
          <a:xfrm>
            <a:off x="7398868" y="3429000"/>
            <a:ext cx="1600200" cy="777240"/>
          </a:xfrm>
          <a:prstGeom prst="rect">
            <a:avLst/>
          </a:prstGeom>
          <a:noFill/>
          <a:ln/>
        </p:spPr>
        <p:txBody>
          <a:bodyPr wrap="square" lIns="0" tIns="0" rIns="0" bIns="0" rtlCol="0" anchor="t"/>
          <a:lstStyle/>
          <a:p>
            <a:pPr algn="ctr" indent="0" marL="0">
              <a:buNone/>
            </a:pPr>
            <a:r>
              <a:rPr lang="en-US" sz="1300" dirty="0">
                <a:solidFill>
                  <a:srgbClr val="FFFFFF"/>
                </a:solidFill>
                <a:latin typeface="Plus Jakarta Sans" pitchFamily="34" charset="0"/>
                <a:ea typeface="Plus Jakarta Sans" pitchFamily="34" charset="-122"/>
                <a:cs typeface="Plus Jakarta Sans" pitchFamily="34" charset="-120"/>
              </a:rPr>
              <a:t>Reference Files</a:t>
            </a:r>
            <a:endParaRPr lang="en-US" sz="1300" dirty="0"/>
          </a:p>
        </p:txBody>
      </p:sp>
      <p:pic>
        <p:nvPicPr>
          <p:cNvPr id="29" name="Image 7" descr="icons/arrowRight-slate.png">    </p:cNvPr>
          <p:cNvPicPr>
            <a:picLocks noChangeAspect="1"/>
          </p:cNvPicPr>
          <p:nvPr/>
        </p:nvPicPr>
        <p:blipFill>
          <a:blip r:embed="rId8"/>
          <a:stretch>
            <a:fillRect/>
          </a:stretch>
        </p:blipFill>
        <p:spPr>
          <a:xfrm>
            <a:off x="9113368" y="3268980"/>
            <a:ext cx="274320" cy="274320"/>
          </a:xfrm>
          <a:prstGeom prst="rect">
            <a:avLst/>
          </a:prstGeom>
        </p:spPr>
      </p:pic>
      <p:sp>
        <p:nvSpPr>
          <p:cNvPr id="30" name="Shape 20"/>
          <p:cNvSpPr/>
          <p:nvPr/>
        </p:nvSpPr>
        <p:spPr>
          <a:xfrm>
            <a:off x="9410548" y="2514600"/>
            <a:ext cx="1783080" cy="1783080"/>
          </a:xfrm>
          <a:prstGeom prst="roundRect">
            <a:avLst>
              <a:gd name="adj" fmla="val 5128"/>
            </a:avLst>
          </a:prstGeom>
          <a:solidFill>
            <a:srgbClr val="0066FF"/>
          </a:solidFill>
          <a:ln/>
        </p:spPr>
      </p:sp>
      <p:sp>
        <p:nvSpPr>
          <p:cNvPr id="31" name="Shape 21"/>
          <p:cNvSpPr/>
          <p:nvPr/>
        </p:nvSpPr>
        <p:spPr>
          <a:xfrm>
            <a:off x="9264244" y="2368296"/>
            <a:ext cx="384048" cy="384048"/>
          </a:xfrm>
          <a:prstGeom prst="ellipse">
            <a:avLst/>
          </a:prstGeom>
          <a:solidFill>
            <a:srgbClr val="D5DDEA"/>
          </a:solidFill>
          <a:ln w="25400">
            <a:solidFill>
              <a:srgbClr val="F4F7FC"/>
            </a:solidFill>
            <a:prstDash val="solid"/>
          </a:ln>
        </p:spPr>
      </p:sp>
      <p:sp>
        <p:nvSpPr>
          <p:cNvPr id="32" name="Text 22"/>
          <p:cNvSpPr/>
          <p:nvPr/>
        </p:nvSpPr>
        <p:spPr>
          <a:xfrm>
            <a:off x="9264244" y="2368296"/>
            <a:ext cx="384048" cy="384048"/>
          </a:xfrm>
          <a:prstGeom prst="rect">
            <a:avLst/>
          </a:prstGeom>
          <a:noFill/>
          <a:ln/>
        </p:spPr>
        <p:txBody>
          <a:bodyPr wrap="square" lIns="0" tIns="0" rIns="0" bIns="0" rtlCol="0" anchor="ctr"/>
          <a:lstStyle/>
          <a:p>
            <a:pPr algn="ctr" indent="0" marL="0">
              <a:buNone/>
            </a:pPr>
            <a:r>
              <a:rPr lang="en-US" sz="1300" b="1" dirty="0">
                <a:solidFill>
                  <a:srgbClr val="0A1628"/>
                </a:solidFill>
                <a:latin typeface="Oswald" pitchFamily="34" charset="0"/>
                <a:ea typeface="Oswald" pitchFamily="34" charset="-122"/>
                <a:cs typeface="Oswald" pitchFamily="34" charset="-120"/>
              </a:rPr>
              <a:t>5</a:t>
            </a:r>
            <a:endParaRPr lang="en-US" sz="1300" dirty="0"/>
          </a:p>
        </p:txBody>
      </p:sp>
      <p:pic>
        <p:nvPicPr>
          <p:cNvPr id="33" name="Image 8" descr="icons/checkCircle-navy.png">    </p:cNvPr>
          <p:cNvPicPr>
            <a:picLocks noChangeAspect="1"/>
          </p:cNvPicPr>
          <p:nvPr/>
        </p:nvPicPr>
        <p:blipFill>
          <a:blip r:embed="rId9"/>
          <a:stretch>
            <a:fillRect/>
          </a:stretch>
        </p:blipFill>
        <p:spPr>
          <a:xfrm>
            <a:off x="10046056" y="2788920"/>
            <a:ext cx="512064" cy="512064"/>
          </a:xfrm>
          <a:prstGeom prst="rect">
            <a:avLst/>
          </a:prstGeom>
        </p:spPr>
      </p:pic>
      <p:sp>
        <p:nvSpPr>
          <p:cNvPr id="34" name="Text 23"/>
          <p:cNvSpPr/>
          <p:nvPr/>
        </p:nvSpPr>
        <p:spPr>
          <a:xfrm>
            <a:off x="9501988" y="3429000"/>
            <a:ext cx="1600200" cy="777240"/>
          </a:xfrm>
          <a:prstGeom prst="rect">
            <a:avLst/>
          </a:prstGeom>
          <a:noFill/>
          <a:ln/>
        </p:spPr>
        <p:txBody>
          <a:bodyPr wrap="square" lIns="0" tIns="0" rIns="0" bIns="0" rtlCol="0" anchor="t"/>
          <a:lstStyle/>
          <a:p>
            <a:pPr algn="ctr" indent="0" marL="0">
              <a:buNone/>
            </a:pPr>
            <a:r>
              <a:rPr lang="en-US" sz="1300" dirty="0">
                <a:solidFill>
                  <a:srgbClr val="FFFFFF"/>
                </a:solidFill>
                <a:latin typeface="Plus Jakarta Sans" pitchFamily="34" charset="0"/>
                <a:ea typeface="Plus Jakarta Sans" pitchFamily="34" charset="-122"/>
                <a:cs typeface="Plus Jakarta Sans" pitchFamily="34" charset="-120"/>
              </a:rPr>
              <a:t>Output</a:t>
            </a:r>
            <a:endParaRPr lang="en-US" sz="1300" dirty="0"/>
          </a:p>
        </p:txBody>
      </p:sp>
      <p:sp>
        <p:nvSpPr>
          <p:cNvPr id="35" name="Shape 24"/>
          <p:cNvSpPr/>
          <p:nvPr/>
        </p:nvSpPr>
        <p:spPr>
          <a:xfrm>
            <a:off x="4480560" y="4754880"/>
            <a:ext cx="3246120" cy="502920"/>
          </a:xfrm>
          <a:prstGeom prst="roundRect">
            <a:avLst>
              <a:gd name="adj" fmla="val 50909"/>
            </a:avLst>
          </a:prstGeom>
          <a:solidFill>
            <a:srgbClr val="0A1628"/>
          </a:solidFill>
          <a:ln/>
        </p:spPr>
      </p:sp>
      <p:sp>
        <p:nvSpPr>
          <p:cNvPr id="36" name="Text 25"/>
          <p:cNvSpPr/>
          <p:nvPr/>
        </p:nvSpPr>
        <p:spPr>
          <a:xfrm>
            <a:off x="4480560" y="4754880"/>
            <a:ext cx="3246120" cy="502920"/>
          </a:xfrm>
          <a:prstGeom prst="rect">
            <a:avLst/>
          </a:prstGeom>
          <a:noFill/>
          <a:ln/>
        </p:spPr>
        <p:txBody>
          <a:bodyPr wrap="square" lIns="0" tIns="0" rIns="0" bIns="0" rtlCol="0" anchor="ctr"/>
          <a:lstStyle/>
          <a:p>
            <a:pPr algn="ctr" indent="0" marL="0">
              <a:buNone/>
            </a:pPr>
            <a:r>
              <a:rPr lang="en-US" sz="1400" b="1" spc="100" kern="0" dirty="0">
                <a:solidFill>
                  <a:srgbClr val="FFFFFF"/>
                </a:solidFill>
                <a:latin typeface="Oswald" pitchFamily="34" charset="0"/>
                <a:ea typeface="Oswald" pitchFamily="34" charset="-122"/>
                <a:cs typeface="Oswald" pitchFamily="34" charset="-120"/>
              </a:rPr>
              <a:t>LIVE DEMO STARTS HERE</a:t>
            </a:r>
            <a:endParaRPr lang="en-US" sz="1400" dirty="0"/>
          </a:p>
        </p:txBody>
      </p:sp>
      <p:sp>
        <p:nvSpPr>
          <p:cNvPr id="37" name="Shape 26"/>
          <p:cNvSpPr/>
          <p:nvPr/>
        </p:nvSpPr>
        <p:spPr>
          <a:xfrm>
            <a:off x="457200" y="6446520"/>
            <a:ext cx="11277295" cy="0"/>
          </a:xfrm>
          <a:prstGeom prst="line">
            <a:avLst/>
          </a:prstGeom>
          <a:noFill/>
          <a:ln w="9525">
            <a:solidFill>
              <a:srgbClr val="D5DDEA"/>
            </a:solidFill>
            <a:prstDash val="solid"/>
          </a:ln>
        </p:spPr>
      </p:sp>
      <p:sp>
        <p:nvSpPr>
          <p:cNvPr id="38" name="Text 27"/>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3D4759"/>
                </a:solidFill>
                <a:latin typeface="Plus Jakarta Sans" pitchFamily="34" charset="0"/>
                <a:ea typeface="Plus Jakarta Sans" pitchFamily="34" charset="-122"/>
                <a:cs typeface="Plus Jakarta Sans" pitchFamily="34" charset="-120"/>
              </a:rPr>
              <a:t>34 / 35</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411480"/>
            <a:ext cx="11277295" cy="274320"/>
          </a:xfrm>
          <a:prstGeom prst="rect">
            <a:avLst/>
          </a:prstGeom>
          <a:noFill/>
          <a:ln/>
        </p:spPr>
        <p:txBody>
          <a:bodyPr wrap="square" lIns="0" tIns="0" rIns="0" bIns="0" rtlCol="0" anchor="ctr"/>
          <a:lstStyle/>
          <a:p>
            <a:pPr algn="l" indent="0" marL="0">
              <a:buNone/>
            </a:pPr>
            <a:r>
              <a:rPr lang="en-US" sz="1400" b="1" spc="200" kern="0" dirty="0">
                <a:solidFill>
                  <a:srgbClr val="0066FF"/>
                </a:solidFill>
                <a:latin typeface="Oswald" pitchFamily="34" charset="0"/>
                <a:ea typeface="Oswald" pitchFamily="34" charset="-122"/>
                <a:cs typeface="Oswald" pitchFamily="34" charset="-120"/>
              </a:rPr>
              <a:t>CLOSE</a:t>
            </a:r>
            <a:endParaRPr lang="en-US" sz="1400" dirty="0"/>
          </a:p>
        </p:txBody>
      </p:sp>
      <p:sp>
        <p:nvSpPr>
          <p:cNvPr id="3" name="Text 1"/>
          <p:cNvSpPr/>
          <p:nvPr/>
        </p:nvSpPr>
        <p:spPr>
          <a:xfrm>
            <a:off x="457200" y="704088"/>
            <a:ext cx="11277295" cy="256032"/>
          </a:xfrm>
          <a:prstGeom prst="rect">
            <a:avLst/>
          </a:prstGeom>
          <a:noFill/>
          <a:ln/>
        </p:spPr>
        <p:txBody>
          <a:bodyPr wrap="square" lIns="0" tIns="0" rIns="0" bIns="0" rtlCol="0" anchor="ctr"/>
          <a:lstStyle/>
          <a:p>
            <a:pPr algn="l" indent="0" marL="0">
              <a:buNone/>
            </a:pPr>
            <a:r>
              <a:rPr lang="en-US" sz="1200" dirty="0">
                <a:solidFill>
                  <a:srgbClr val="AEBACD"/>
                </a:solidFill>
                <a:latin typeface="Plus Jakarta Sans" pitchFamily="34" charset="0"/>
                <a:ea typeface="Plus Jakarta Sans" pitchFamily="34" charset="-122"/>
                <a:cs typeface="Plus Jakarta Sans" pitchFamily="34" charset="-120"/>
              </a:rPr>
              <a:t>CLOSE</a:t>
            </a:r>
            <a:endParaRPr lang="en-US" sz="1200" dirty="0"/>
          </a:p>
        </p:txBody>
      </p:sp>
      <p:sp>
        <p:nvSpPr>
          <p:cNvPr id="4" name="Text 2"/>
          <p:cNvSpPr/>
          <p:nvPr/>
        </p:nvSpPr>
        <p:spPr>
          <a:xfrm>
            <a:off x="457200" y="978408"/>
            <a:ext cx="11277295" cy="822960"/>
          </a:xfrm>
          <a:prstGeom prst="rect">
            <a:avLst/>
          </a:prstGeom>
          <a:noFill/>
          <a:ln/>
        </p:spPr>
        <p:txBody>
          <a:bodyPr wrap="square" lIns="0" tIns="0" rIns="0" bIns="0" rtlCol="0" anchor="ctr"/>
          <a:lstStyle/>
          <a:p>
            <a:pPr algn="l" indent="0" marL="0">
              <a:buNone/>
            </a:pPr>
            <a:r>
              <a:rPr lang="en-US" sz="3400" b="1" dirty="0">
                <a:solidFill>
                  <a:srgbClr val="FFFFFF"/>
                </a:solidFill>
                <a:latin typeface="Oswald" pitchFamily="34" charset="0"/>
                <a:ea typeface="Oswald" pitchFamily="34" charset="-122"/>
                <a:cs typeface="Oswald" pitchFamily="34" charset="-120"/>
              </a:rPr>
              <a:t>Thank You</a:t>
            </a:r>
            <a:endParaRPr lang="en-US" sz="3400" dirty="0"/>
          </a:p>
        </p:txBody>
      </p:sp>
      <p:sp>
        <p:nvSpPr>
          <p:cNvPr id="5" name="Shape 3"/>
          <p:cNvSpPr/>
          <p:nvPr/>
        </p:nvSpPr>
        <p:spPr>
          <a:xfrm>
            <a:off x="-1463040" y="-1645920"/>
            <a:ext cx="3840480" cy="3840480"/>
          </a:xfrm>
          <a:prstGeom prst="ellipse">
            <a:avLst/>
          </a:prstGeom>
          <a:solidFill>
            <a:srgbClr val="3D4759">
              <a:alpha val="30000"/>
            </a:srgbClr>
          </a:solidFill>
          <a:ln/>
        </p:spPr>
      </p:sp>
      <p:sp>
        <p:nvSpPr>
          <p:cNvPr id="6" name="Shape 4"/>
          <p:cNvSpPr/>
          <p:nvPr/>
        </p:nvSpPr>
        <p:spPr>
          <a:xfrm>
            <a:off x="10058400" y="4206240"/>
            <a:ext cx="3291840" cy="3291840"/>
          </a:xfrm>
          <a:prstGeom prst="ellipse">
            <a:avLst/>
          </a:prstGeom>
          <a:solidFill>
            <a:srgbClr val="0066FF">
              <a:alpha val="40000"/>
            </a:srgbClr>
          </a:solidFill>
          <a:ln/>
        </p:spPr>
      </p:sp>
      <p:pic>
        <p:nvPicPr>
          <p:cNvPr id="7" name="Image 0" descr="icons/handshake-white.png">    </p:cNvPr>
          <p:cNvPicPr>
            <a:picLocks noChangeAspect="1"/>
          </p:cNvPicPr>
          <p:nvPr/>
        </p:nvPicPr>
        <p:blipFill>
          <a:blip r:embed="rId1"/>
          <a:stretch>
            <a:fillRect/>
          </a:stretch>
        </p:blipFill>
        <p:spPr>
          <a:xfrm>
            <a:off x="5730545" y="1965960"/>
            <a:ext cx="731520" cy="731520"/>
          </a:xfrm>
          <a:prstGeom prst="rect">
            <a:avLst/>
          </a:prstGeom>
        </p:spPr>
      </p:pic>
      <p:sp>
        <p:nvSpPr>
          <p:cNvPr id="8" name="Text 5"/>
          <p:cNvSpPr/>
          <p:nvPr/>
        </p:nvSpPr>
        <p:spPr>
          <a:xfrm>
            <a:off x="457200" y="2788920"/>
            <a:ext cx="11277295" cy="960120"/>
          </a:xfrm>
          <a:prstGeom prst="rect">
            <a:avLst/>
          </a:prstGeom>
          <a:noFill/>
          <a:ln/>
        </p:spPr>
        <p:txBody>
          <a:bodyPr wrap="square" lIns="0" tIns="0" rIns="0" bIns="0" rtlCol="0" anchor="ctr"/>
          <a:lstStyle/>
          <a:p>
            <a:pPr algn="ctr" indent="0" marL="0">
              <a:buNone/>
            </a:pPr>
            <a:r>
              <a:rPr lang="en-US" sz="5600" b="1" dirty="0">
                <a:solidFill>
                  <a:srgbClr val="FFFFFF"/>
                </a:solidFill>
                <a:latin typeface="Oswald" pitchFamily="34" charset="0"/>
                <a:ea typeface="Oswald" pitchFamily="34" charset="-122"/>
                <a:cs typeface="Oswald" pitchFamily="34" charset="-120"/>
              </a:rPr>
              <a:t>Let's Keep Building.</a:t>
            </a:r>
            <a:endParaRPr lang="en-US" sz="5600" dirty="0"/>
          </a:p>
        </p:txBody>
      </p:sp>
      <p:sp>
        <p:nvSpPr>
          <p:cNvPr id="9" name="Text 6"/>
          <p:cNvSpPr/>
          <p:nvPr/>
        </p:nvSpPr>
        <p:spPr>
          <a:xfrm>
            <a:off x="457200" y="3886200"/>
            <a:ext cx="11277295" cy="411480"/>
          </a:xfrm>
          <a:prstGeom prst="rect">
            <a:avLst/>
          </a:prstGeom>
          <a:noFill/>
          <a:ln/>
        </p:spPr>
        <p:txBody>
          <a:bodyPr wrap="square" lIns="0" tIns="0" rIns="0" bIns="0" rtlCol="0" anchor="ctr"/>
          <a:lstStyle/>
          <a:p>
            <a:pPr algn="ctr" indent="0" marL="0">
              <a:buNone/>
            </a:pPr>
            <a:r>
              <a:rPr lang="en-US" sz="1900" dirty="0">
                <a:solidFill>
                  <a:srgbClr val="FFFFFF"/>
                </a:solidFill>
                <a:latin typeface="Plus Jakarta Sans" pitchFamily="34" charset="0"/>
                <a:ea typeface="Plus Jakarta Sans" pitchFamily="34" charset="-122"/>
                <a:cs typeface="Plus Jakarta Sans" pitchFamily="34" charset="-120"/>
              </a:rPr>
              <a:t>Simas Bandzevicius, CSPO®, CSM</a:t>
            </a:r>
            <a:endParaRPr lang="en-US" sz="1900" dirty="0"/>
          </a:p>
        </p:txBody>
      </p:sp>
      <p:sp>
        <p:nvSpPr>
          <p:cNvPr id="10" name="Text 7"/>
          <p:cNvSpPr/>
          <p:nvPr/>
        </p:nvSpPr>
        <p:spPr>
          <a:xfrm>
            <a:off x="457200" y="4315968"/>
            <a:ext cx="11277295" cy="365760"/>
          </a:xfrm>
          <a:prstGeom prst="rect">
            <a:avLst/>
          </a:prstGeom>
          <a:noFill/>
          <a:ln/>
        </p:spPr>
        <p:txBody>
          <a:bodyPr wrap="square" lIns="0" tIns="0" rIns="0" bIns="0" rtlCol="0" anchor="ctr"/>
          <a:lstStyle/>
          <a:p>
            <a:pPr algn="ctr" indent="0" marL="0">
              <a:buNone/>
            </a:pPr>
            <a:r>
              <a:rPr lang="en-US" sz="1500" dirty="0">
                <a:solidFill>
                  <a:srgbClr val="D5DDEA"/>
                </a:solidFill>
                <a:latin typeface="Plus Jakarta Sans" pitchFamily="34" charset="0"/>
                <a:ea typeface="Plus Jakarta Sans" pitchFamily="34" charset="-122"/>
                <a:cs typeface="Plus Jakarta Sans" pitchFamily="34" charset="-120"/>
              </a:rPr>
              <a:t>Scaling This  ·  LearnWithSQL.com</a:t>
            </a:r>
            <a:endParaRPr lang="en-US" sz="1500" dirty="0"/>
          </a:p>
        </p:txBody>
      </p:sp>
      <p:sp>
        <p:nvSpPr>
          <p:cNvPr id="11" name="Text 8"/>
          <p:cNvSpPr/>
          <p:nvPr/>
        </p:nvSpPr>
        <p:spPr>
          <a:xfrm>
            <a:off x="1371600" y="4983480"/>
            <a:ext cx="9448495" cy="457200"/>
          </a:xfrm>
          <a:prstGeom prst="rect">
            <a:avLst/>
          </a:prstGeom>
          <a:noFill/>
          <a:ln/>
        </p:spPr>
        <p:txBody>
          <a:bodyPr wrap="square" lIns="0" tIns="0" rIns="0" bIns="0" rtlCol="0" anchor="ctr"/>
          <a:lstStyle/>
          <a:p>
            <a:pPr algn="ctr" indent="0" marL="0">
              <a:buNone/>
            </a:pPr>
            <a:r>
              <a:rPr lang="en-US" sz="1500" i="1" dirty="0">
                <a:solidFill>
                  <a:srgbClr val="AEBACD"/>
                </a:solidFill>
                <a:latin typeface="Plus Jakarta Sans" pitchFamily="34" charset="0"/>
                <a:ea typeface="Plus Jakarta Sans" pitchFamily="34" charset="-122"/>
                <a:cs typeface="Plus Jakarta Sans" pitchFamily="34" charset="-120"/>
              </a:rPr>
              <a:t>Find me after the talk, or reach out any time — I'll stay until every question is answered.</a:t>
            </a:r>
            <a:endParaRPr lang="en-US" sz="1500" dirty="0"/>
          </a:p>
        </p:txBody>
      </p:sp>
      <p:sp>
        <p:nvSpPr>
          <p:cNvPr id="12" name="Shape 9"/>
          <p:cNvSpPr/>
          <p:nvPr/>
        </p:nvSpPr>
        <p:spPr>
          <a:xfrm>
            <a:off x="457200" y="6446520"/>
            <a:ext cx="11277295" cy="0"/>
          </a:xfrm>
          <a:prstGeom prst="line">
            <a:avLst/>
          </a:prstGeom>
          <a:noFill/>
          <a:ln w="9525">
            <a:solidFill>
              <a:srgbClr val="3D4759"/>
            </a:solidFill>
            <a:prstDash val="solid"/>
          </a:ln>
        </p:spPr>
      </p:sp>
      <p:sp>
        <p:nvSpPr>
          <p:cNvPr id="13" name="Text 10"/>
          <p:cNvSpPr/>
          <p:nvPr/>
        </p:nvSpPr>
        <p:spPr>
          <a:xfrm>
            <a:off x="9905695" y="6492240"/>
            <a:ext cx="1828800" cy="274320"/>
          </a:xfrm>
          <a:prstGeom prst="rect">
            <a:avLst/>
          </a:prstGeom>
          <a:noFill/>
          <a:ln/>
        </p:spPr>
        <p:txBody>
          <a:bodyPr wrap="square" lIns="0" tIns="0" rIns="0" bIns="0" rtlCol="0" anchor="ctr"/>
          <a:lstStyle/>
          <a:p>
            <a:pPr algn="r" indent="0" marL="0">
              <a:buNone/>
            </a:pPr>
            <a:r>
              <a:rPr lang="en-US" sz="1000" dirty="0">
                <a:solidFill>
                  <a:srgbClr val="AEBACD"/>
                </a:solidFill>
                <a:latin typeface="Plus Jakarta Sans" pitchFamily="34" charset="0"/>
                <a:ea typeface="Plus Jakarta Sans" pitchFamily="34" charset="-122"/>
                <a:cs typeface="Plus Jakarta Sans" pitchFamily="34" charset="-120"/>
              </a:rPr>
              <a:t>35 / 35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Agent Building 101: From Concept to Working Prototype (Advanced Edition)</dc:title>
  <dc:subject>Suncoast PMI Chapter — July 14, 2026</dc:subject>
  <dc:creator>Simas Bandzevicius</dc:creator>
  <cp:lastModifiedBy>Simas Bandzevicius</cp:lastModifiedBy>
  <cp:revision>1</cp:revision>
  <dcterms:created xsi:type="dcterms:W3CDTF">2026-07-12T19:52:06Z</dcterms:created>
  <dcterms:modified xsi:type="dcterms:W3CDTF">2026-07-12T19:52:06Z</dcterms:modified>
</cp:coreProperties>
</file>